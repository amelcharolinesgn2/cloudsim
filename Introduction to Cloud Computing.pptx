
<file path=[Content_Types].xml><?xml version="1.0" encoding="utf-8"?>
<Types xmlns="http://schemas.openxmlformats.org/package/2006/content-types">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5"/>
  </p:notesMasterIdLst>
  <p:sldIdLst>
    <p:sldId id="303" r:id="rId2"/>
    <p:sldId id="256" r:id="rId3"/>
    <p:sldId id="258" r:id="rId4"/>
    <p:sldId id="265" r:id="rId5"/>
    <p:sldId id="263" r:id="rId6"/>
    <p:sldId id="267" r:id="rId7"/>
    <p:sldId id="271" r:id="rId8"/>
    <p:sldId id="273" r:id="rId9"/>
    <p:sldId id="274" r:id="rId10"/>
    <p:sldId id="280" r:id="rId11"/>
    <p:sldId id="268" r:id="rId12"/>
    <p:sldId id="281" r:id="rId13"/>
    <p:sldId id="282" r:id="rId14"/>
    <p:sldId id="283" r:id="rId15"/>
    <p:sldId id="284" r:id="rId16"/>
    <p:sldId id="289" r:id="rId17"/>
    <p:sldId id="285" r:id="rId18"/>
    <p:sldId id="286" r:id="rId19"/>
    <p:sldId id="288" r:id="rId20"/>
    <p:sldId id="287" r:id="rId21"/>
    <p:sldId id="290" r:id="rId22"/>
    <p:sldId id="302" r:id="rId23"/>
    <p:sldId id="291" r:id="rId24"/>
    <p:sldId id="292" r:id="rId25"/>
    <p:sldId id="293" r:id="rId26"/>
    <p:sldId id="294" r:id="rId27"/>
    <p:sldId id="295" r:id="rId28"/>
    <p:sldId id="296" r:id="rId29"/>
    <p:sldId id="297" r:id="rId30"/>
    <p:sldId id="298" r:id="rId31"/>
    <p:sldId id="300" r:id="rId32"/>
    <p:sldId id="299" r:id="rId33"/>
    <p:sldId id="301"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32" autoAdjust="0"/>
    <p:restoredTop sz="94660"/>
  </p:normalViewPr>
  <p:slideViewPr>
    <p:cSldViewPr snapToGrid="0">
      <p:cViewPr varScale="1">
        <p:scale>
          <a:sx n="63" d="100"/>
          <a:sy n="63" d="100"/>
        </p:scale>
        <p:origin x="96" y="9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9686E6-E4E3-49A3-80C9-B2A9FA4362F5}" type="datetimeFigureOut">
              <a:rPr lang="en-US" smtClean="0"/>
              <a:pPr/>
              <a:t>9/11/2026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969D55-0860-4C5D-9C14-D194A02661BA}" type="slidenum">
              <a:rPr lang="en-US" smtClean="0"/>
              <a:pPr/>
              <a:t>‹#›</a:t>
            </a:fld>
            <a:endParaRPr lang="en-US"/>
          </a:p>
        </p:txBody>
      </p:sp>
    </p:spTree>
    <p:extLst>
      <p:ext uri="{BB962C8B-B14F-4D97-AF65-F5344CB8AC3E}">
        <p14:creationId xmlns:p14="http://schemas.microsoft.com/office/powerpoint/2010/main" val="1743342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8" Type="http://schemas.openxmlformats.org/officeDocument/2006/relationships/hyperlink" Target="https://github.com/Arikatakur" TargetMode="External"/><Relationship Id="rId3" Type="http://schemas.openxmlformats.org/officeDocument/2006/relationships/hyperlink" Target="https://github.com/yetanalytics/datasim" TargetMode="External"/><Relationship Id="rId7" Type="http://schemas.openxmlformats.org/officeDocument/2006/relationships/hyperlink" Target="https://github.com/ShubhankarKulkarni/MIL-STD-1553-Simulator/blob/master/Remote_Terminal/RT_Simulator.py" TargetMode="External"/><Relationship Id="rId2" Type="http://schemas.openxmlformats.org/officeDocument/2006/relationships/slide" Target="../slides/slide1.xml"/><Relationship Id="rId1" Type="http://schemas.openxmlformats.org/officeDocument/2006/relationships/notesMaster" Target="../notesMasters/notesMaster1.xml"/><Relationship Id="rId6" Type="http://schemas.openxmlformats.org/officeDocument/2006/relationships/hyperlink" Target="https://github.com/ShubhankarKulkarni/MIL-STD-1553-Simulator/blob/master/Bus_Controller/BC_Simulator.py" TargetMode="External"/><Relationship Id="rId11" Type="http://schemas.openxmlformats.org/officeDocument/2006/relationships/hyperlink" Target="https://www.wireshark.org/" TargetMode="External"/><Relationship Id="rId5" Type="http://schemas.openxmlformats.org/officeDocument/2006/relationships/hyperlink" Target="https://www.altadt.com/download/mil-std-1553-tutorial-and-reference/" TargetMode="External"/><Relationship Id="rId10" Type="http://schemas.openxmlformats.org/officeDocument/2006/relationships/hyperlink" Target="https://iperf.fr/" TargetMode="External"/><Relationship Id="rId4" Type="http://schemas.openxmlformats.org/officeDocument/2006/relationships/hyperlink" Target="https://github.com/Slygriyrsk/quantum-communication-simulator" TargetMode="External"/><Relationship Id="rId9" Type="http://schemas.openxmlformats.org/officeDocument/2006/relationships/hyperlink" Target="https://github.com/Arikatakur/Network-Transmission-Simulator"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data communication simulator</a:t>
            </a:r>
          </a:p>
          <a:p>
            <a:r>
              <a:rPr lang="en-US" sz="1200" kern="1200" dirty="0" smtClean="0">
                <a:solidFill>
                  <a:schemeClr val="tx1"/>
                </a:solidFill>
                <a:effectLst/>
                <a:latin typeface="+mn-lt"/>
                <a:ea typeface="+mn-ea"/>
                <a:cs typeface="+mn-cs"/>
              </a:rPr>
              <a:t> </a:t>
            </a:r>
          </a:p>
          <a:p>
            <a:r>
              <a:rPr lang="en-US" sz="1200" u="sng" kern="1200" dirty="0" smtClean="0">
                <a:solidFill>
                  <a:schemeClr val="tx1"/>
                </a:solidFill>
                <a:effectLst/>
                <a:latin typeface="+mn-lt"/>
                <a:ea typeface="+mn-ea"/>
                <a:cs typeface="+mn-cs"/>
                <a:hlinkClick r:id="rId3"/>
              </a:rPr>
              <a:t>https://github.com/yetanalytics/datasim</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Quantum Communication Simulator</a:t>
            </a:r>
          </a:p>
          <a:p>
            <a:r>
              <a:rPr lang="en-US" sz="1200" u="sng" kern="1200" dirty="0" smtClean="0">
                <a:solidFill>
                  <a:schemeClr val="tx1"/>
                </a:solidFill>
                <a:effectLst/>
                <a:latin typeface="+mn-lt"/>
                <a:ea typeface="+mn-ea"/>
                <a:cs typeface="+mn-cs"/>
                <a:hlinkClick r:id="rId4"/>
              </a:rPr>
              <a:t>https://github.com/Slygriyrsk/quantum-communication-simulator</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MIL-STD-1553-Simulator</a:t>
            </a:r>
          </a:p>
          <a:p>
            <a:r>
              <a:rPr lang="en-US" sz="1200" kern="1200" dirty="0" smtClean="0">
                <a:solidFill>
                  <a:schemeClr val="tx1"/>
                </a:solidFill>
                <a:effectLst/>
                <a:latin typeface="+mn-lt"/>
                <a:ea typeface="+mn-ea"/>
                <a:cs typeface="+mn-cs"/>
              </a:rPr>
              <a:t>MIL-STD-1553 is a serial communication protocol that is used in </a:t>
            </a:r>
            <a:r>
              <a:rPr lang="en-US" sz="1200" kern="1200" dirty="0" err="1" smtClean="0">
                <a:solidFill>
                  <a:schemeClr val="tx1"/>
                </a:solidFill>
                <a:effectLst/>
                <a:latin typeface="+mn-lt"/>
                <a:ea typeface="+mn-ea"/>
                <a:cs typeface="+mn-cs"/>
              </a:rPr>
              <a:t>spacecrafts</a:t>
            </a:r>
            <a:r>
              <a:rPr lang="en-US" sz="1200" kern="1200" dirty="0" smtClean="0">
                <a:solidFill>
                  <a:schemeClr val="tx1"/>
                </a:solidFill>
                <a:effectLst/>
                <a:latin typeface="+mn-lt"/>
                <a:ea typeface="+mn-ea"/>
                <a:cs typeface="+mn-cs"/>
              </a:rPr>
              <a:t> for internal communication. A spacecraft consists of various components like main computer, star tracker, fly wheel, temperature sensor, cameras (also called as Remote Terminals) etc. The main computer needs to communicate with all the other peripherals to get the data and send it to ground station for further processing. This internal communication is done by a serial bus called MIL-STD-1553. This repository contains a simulation for this protocol. It can be used to create any space applications by importing the simulator into your code.</a:t>
            </a:r>
          </a:p>
          <a:p>
            <a:r>
              <a:rPr lang="en-US" sz="1200" kern="1200" dirty="0" smtClean="0">
                <a:solidFill>
                  <a:schemeClr val="tx1"/>
                </a:solidFill>
                <a:effectLst/>
                <a:latin typeface="+mn-lt"/>
                <a:ea typeface="+mn-ea"/>
                <a:cs typeface="+mn-cs"/>
              </a:rPr>
              <a:t>MIL-STD-1553 has Bus Controller that orchestrates the transmission and reception of data on the serial bus. It always initiates the communication and commands Remote Terminal for sending or receiving data. Only one node or Remote Terminal can send data on the bus at a given moment when ordered by the Bus Controller. The details of the protocol can be found in </a:t>
            </a:r>
            <a:r>
              <a:rPr lang="en-US" sz="1200" u="sng" kern="1200" dirty="0" smtClean="0">
                <a:solidFill>
                  <a:schemeClr val="tx1"/>
                </a:solidFill>
                <a:effectLst/>
                <a:latin typeface="+mn-lt"/>
                <a:ea typeface="+mn-ea"/>
                <a:cs typeface="+mn-cs"/>
                <a:hlinkClick r:id="rId5"/>
              </a:rPr>
              <a:t>MIL-STD-1553 Tutorial and Reference</a:t>
            </a:r>
            <a:r>
              <a:rPr lang="en-US" sz="1200" kern="1200" dirty="0" smtClean="0">
                <a:solidFill>
                  <a:schemeClr val="tx1"/>
                </a:solidFill>
                <a:effectLst/>
                <a:latin typeface="+mn-lt"/>
                <a:ea typeface="+mn-ea"/>
                <a:cs typeface="+mn-cs"/>
              </a:rPr>
              <a:t> document by Alta </a:t>
            </a:r>
            <a:r>
              <a:rPr lang="en-US" sz="1200" kern="1200" dirty="0" err="1" smtClean="0">
                <a:solidFill>
                  <a:schemeClr val="tx1"/>
                </a:solidFill>
                <a:effectLst/>
                <a:latin typeface="+mn-lt"/>
                <a:ea typeface="+mn-ea"/>
                <a:cs typeface="+mn-cs"/>
              </a:rPr>
              <a:t>dt.</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About This Repository:</a:t>
            </a:r>
          </a:p>
          <a:p>
            <a:r>
              <a:rPr lang="en-US" sz="1200" kern="1200" dirty="0" smtClean="0">
                <a:solidFill>
                  <a:schemeClr val="tx1"/>
                </a:solidFill>
                <a:effectLst/>
                <a:latin typeface="+mn-lt"/>
                <a:ea typeface="+mn-ea"/>
                <a:cs typeface="+mn-cs"/>
              </a:rPr>
              <a:t>This repository segregated based on various components that are described in the MIL-STD-1553 standard. Two of the most important components are Bus Controller and Remote Terminals. For a small network, one serial bus can handle up to 31 remote terminals and one bus controller. This repository is divided into two parts. Bus Controller Simulator and Remote Terminal Simulator. Both the components have separate set of functionalities.</a:t>
            </a:r>
          </a:p>
          <a:p>
            <a:pPr lvl="0"/>
            <a:r>
              <a:rPr lang="en-US" sz="1200" u="sng" kern="1200" dirty="0" smtClean="0">
                <a:solidFill>
                  <a:schemeClr val="tx1"/>
                </a:solidFill>
                <a:effectLst/>
                <a:latin typeface="+mn-lt"/>
                <a:ea typeface="+mn-ea"/>
                <a:cs typeface="+mn-cs"/>
                <a:hlinkClick r:id="rId6"/>
              </a:rPr>
              <a:t>Bus Controller Simulator</a:t>
            </a:r>
            <a:r>
              <a:rPr lang="en-US" sz="1200" kern="1200" dirty="0" smtClean="0">
                <a:solidFill>
                  <a:schemeClr val="tx1"/>
                </a:solidFill>
                <a:effectLst/>
                <a:latin typeface="+mn-lt"/>
                <a:ea typeface="+mn-ea"/>
                <a:cs typeface="+mn-cs"/>
              </a:rPr>
              <a:t> : This simulator is responsible to understand the requirements from the Flight Software or Spacecraft computer and send commands and data to Remote Terminal.</a:t>
            </a:r>
          </a:p>
          <a:p>
            <a:pPr lvl="0"/>
            <a:r>
              <a:rPr lang="en-US" sz="1200" u="sng" kern="1200" dirty="0" smtClean="0">
                <a:solidFill>
                  <a:schemeClr val="tx1"/>
                </a:solidFill>
                <a:effectLst/>
                <a:latin typeface="+mn-lt"/>
                <a:ea typeface="+mn-ea"/>
                <a:cs typeface="+mn-cs"/>
                <a:hlinkClick r:id="rId7"/>
              </a:rPr>
              <a:t>Remote Terminal Simulator</a:t>
            </a:r>
            <a:r>
              <a:rPr lang="en-US" sz="1200" kern="1200" dirty="0" smtClean="0">
                <a:solidFill>
                  <a:schemeClr val="tx1"/>
                </a:solidFill>
                <a:effectLst/>
                <a:latin typeface="+mn-lt"/>
                <a:ea typeface="+mn-ea"/>
                <a:cs typeface="+mn-cs"/>
              </a:rPr>
              <a:t> : This simulator is responsible for understanding the commands or data </a:t>
            </a:r>
            <a:r>
              <a:rPr lang="en-US" sz="1200" kern="1200" dirty="0" err="1" smtClean="0">
                <a:solidFill>
                  <a:schemeClr val="tx1"/>
                </a:solidFill>
                <a:effectLst/>
                <a:latin typeface="+mn-lt"/>
                <a:ea typeface="+mn-ea"/>
                <a:cs typeface="+mn-cs"/>
              </a:rPr>
              <a:t>comming</a:t>
            </a:r>
            <a:r>
              <a:rPr lang="en-US" sz="1200" kern="1200" dirty="0" smtClean="0">
                <a:solidFill>
                  <a:schemeClr val="tx1"/>
                </a:solidFill>
                <a:effectLst/>
                <a:latin typeface="+mn-lt"/>
                <a:ea typeface="+mn-ea"/>
                <a:cs typeface="+mn-cs"/>
              </a:rPr>
              <a:t> from the Bus Controller and send status and data based on the requirements sent by the Bus Controller.</a:t>
            </a:r>
          </a:p>
          <a:p>
            <a:r>
              <a:rPr lang="en-US" sz="1200" b="1" kern="1200" dirty="0" smtClean="0">
                <a:solidFill>
                  <a:schemeClr val="tx1"/>
                </a:solidFill>
                <a:effectLst/>
                <a:latin typeface="+mn-lt"/>
                <a:ea typeface="+mn-ea"/>
                <a:cs typeface="+mn-cs"/>
              </a:rPr>
              <a:t>How To Use This Simulator</a:t>
            </a:r>
          </a:p>
          <a:p>
            <a:r>
              <a:rPr lang="en-US" sz="1200" kern="1200" dirty="0" smtClean="0">
                <a:solidFill>
                  <a:schemeClr val="tx1"/>
                </a:solidFill>
                <a:effectLst/>
                <a:latin typeface="+mn-lt"/>
                <a:ea typeface="+mn-ea"/>
                <a:cs typeface="+mn-cs"/>
              </a:rPr>
              <a:t>https://github.com/ShubhankarKulkarni/MIL-STD-1553-Simulator</a:t>
            </a:r>
          </a:p>
          <a:p>
            <a:r>
              <a:rPr lang="en-US" sz="1200" kern="1200" dirty="0" smtClean="0">
                <a:solidFill>
                  <a:schemeClr val="tx1"/>
                </a:solidFill>
                <a:effectLst/>
                <a:latin typeface="+mn-lt"/>
                <a:ea typeface="+mn-ea"/>
                <a:cs typeface="+mn-cs"/>
              </a:rPr>
              <a:t>This simulator uses </a:t>
            </a:r>
            <a:r>
              <a:rPr lang="en-US" sz="1200" kern="1200" dirty="0" err="1" smtClean="0">
                <a:solidFill>
                  <a:schemeClr val="tx1"/>
                </a:solidFill>
                <a:effectLst/>
                <a:latin typeface="+mn-lt"/>
                <a:ea typeface="+mn-ea"/>
                <a:cs typeface="+mn-cs"/>
              </a:rPr>
              <a:t>ethernet</a:t>
            </a:r>
            <a:r>
              <a:rPr lang="en-US" sz="1200" kern="1200" dirty="0" smtClean="0">
                <a:solidFill>
                  <a:schemeClr val="tx1"/>
                </a:solidFill>
                <a:effectLst/>
                <a:latin typeface="+mn-lt"/>
                <a:ea typeface="+mn-ea"/>
                <a:cs typeface="+mn-cs"/>
              </a:rPr>
              <a:t> communication instead of the actual physical communication that is mentioned in the </a:t>
            </a:r>
            <a:r>
              <a:rPr lang="en-US" sz="1200" kern="1200" dirty="0" err="1" smtClean="0">
                <a:solidFill>
                  <a:schemeClr val="tx1"/>
                </a:solidFill>
                <a:effectLst/>
                <a:latin typeface="+mn-lt"/>
                <a:ea typeface="+mn-ea"/>
                <a:cs typeface="+mn-cs"/>
              </a:rPr>
              <a:t>standars</a:t>
            </a:r>
            <a:r>
              <a:rPr lang="en-US" sz="1200" kern="1200" dirty="0" smtClean="0">
                <a:solidFill>
                  <a:schemeClr val="tx1"/>
                </a:solidFill>
                <a:effectLst/>
                <a:latin typeface="+mn-lt"/>
                <a:ea typeface="+mn-ea"/>
                <a:cs typeface="+mn-cs"/>
              </a:rPr>
              <a:t>. The standard is developed taking harsh and noisy conditions into account. The simulator majorly focuses on data layer of the standard. Based on this, you can either deploy both the simulators on the same machine and test it over the local loopback or you can deploy separate simulators on separate machines in a single subnet or same network.</a:t>
            </a:r>
          </a:p>
          <a:p>
            <a:r>
              <a:rPr lang="en-US" sz="1200" kern="1200" dirty="0" smtClean="0">
                <a:solidFill>
                  <a:schemeClr val="tx1"/>
                </a:solidFill>
                <a:effectLst/>
                <a:latin typeface="+mn-lt"/>
                <a:ea typeface="+mn-ea"/>
                <a:cs typeface="+mn-cs"/>
              </a:rPr>
              <a:t>You can run the following commands to run the simulators</a:t>
            </a:r>
          </a:p>
          <a:p>
            <a:pPr lvl="0"/>
            <a:r>
              <a:rPr lang="en-US" sz="1200" kern="1200" dirty="0" smtClean="0">
                <a:solidFill>
                  <a:schemeClr val="tx1"/>
                </a:solidFill>
                <a:effectLst/>
                <a:latin typeface="+mn-lt"/>
                <a:ea typeface="+mn-ea"/>
                <a:cs typeface="+mn-cs"/>
              </a:rPr>
              <a:t>python BC_Simulator.py</a:t>
            </a:r>
          </a:p>
          <a:p>
            <a:pPr lvl="0"/>
            <a:r>
              <a:rPr lang="en-US" sz="1200" kern="1200" dirty="0" smtClean="0">
                <a:solidFill>
                  <a:schemeClr val="tx1"/>
                </a:solidFill>
                <a:effectLst/>
                <a:latin typeface="+mn-lt"/>
                <a:ea typeface="+mn-ea"/>
                <a:cs typeface="+mn-cs"/>
              </a:rPr>
              <a:t>python RT_Simulator.py</a:t>
            </a:r>
          </a:p>
          <a:p>
            <a:pPr lvl="0"/>
            <a:r>
              <a:rPr lang="en-US" sz="1200" kern="1200" dirty="0" smtClean="0">
                <a:solidFill>
                  <a:schemeClr val="tx1"/>
                </a:solidFill>
                <a:effectLst/>
                <a:latin typeface="+mn-lt"/>
                <a:ea typeface="+mn-ea"/>
                <a:cs typeface="+mn-cs"/>
              </a:rPr>
              <a:t>python Simulator.py</a:t>
            </a:r>
          </a:p>
          <a:p>
            <a:r>
              <a:rPr lang="en-US" sz="1200" kern="1200" dirty="0" smtClean="0">
                <a:solidFill>
                  <a:schemeClr val="tx1"/>
                </a:solidFill>
                <a:effectLst/>
                <a:latin typeface="+mn-lt"/>
                <a:ea typeface="+mn-ea"/>
                <a:cs typeface="+mn-cs"/>
              </a:rPr>
              <a:t>Or you can uncomment a section of code in Simulator.py that creates threads for Bus Controller Simulator and Remote Terminal Simulator and then run the following command</a:t>
            </a:r>
          </a:p>
          <a:p>
            <a:pPr lvl="0"/>
            <a:r>
              <a:rPr lang="en-US" sz="1200" kern="1200" dirty="0" smtClean="0">
                <a:solidFill>
                  <a:schemeClr val="tx1"/>
                </a:solidFill>
                <a:effectLst/>
                <a:latin typeface="+mn-lt"/>
                <a:ea typeface="+mn-ea"/>
                <a:cs typeface="+mn-cs"/>
              </a:rPr>
              <a:t>python Simulator.py</a:t>
            </a:r>
          </a:p>
          <a:p>
            <a:r>
              <a:rPr lang="en-US" sz="1200" kern="1200" dirty="0" smtClean="0">
                <a:solidFill>
                  <a:schemeClr val="tx1"/>
                </a:solidFill>
                <a:effectLst/>
                <a:latin typeface="+mn-lt"/>
                <a:ea typeface="+mn-ea"/>
                <a:cs typeface="+mn-cs"/>
              </a:rPr>
              <a:t>Simulator.py only provides an example of how you can use BC and RT simulators. You can replace Simulator.py by any space application that needs to transfer any data using MIL-STD-1553. Apart from that, this whole repository is developed as a module. So, you can simply clone the repository into your application and can import it.</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 </a:t>
            </a:r>
          </a:p>
          <a:p>
            <a:r>
              <a:rPr lang="en-US" sz="1200" u="none" strike="noStrike" kern="1200" dirty="0" err="1" smtClean="0">
                <a:solidFill>
                  <a:schemeClr val="tx1"/>
                </a:solidFill>
                <a:effectLst/>
                <a:latin typeface="+mn-lt"/>
                <a:ea typeface="+mn-ea"/>
                <a:cs typeface="+mn-cs"/>
                <a:hlinkClick r:id="rId8"/>
              </a:rPr>
              <a:t>Arikatakur</a:t>
            </a:r>
            <a:r>
              <a:rPr lang="en-US" sz="1200" kern="1200" dirty="0" smtClean="0">
                <a:solidFill>
                  <a:schemeClr val="tx1"/>
                </a:solidFill>
                <a:effectLst/>
                <a:latin typeface="+mn-lt"/>
                <a:ea typeface="+mn-ea"/>
                <a:cs typeface="+mn-cs"/>
              </a:rPr>
              <a:t>/</a:t>
            </a:r>
            <a:r>
              <a:rPr lang="en-US" sz="1200" b="1" u="none" strike="noStrike" kern="1200" dirty="0" smtClean="0">
                <a:solidFill>
                  <a:schemeClr val="tx1"/>
                </a:solidFill>
                <a:effectLst/>
                <a:latin typeface="+mn-lt"/>
                <a:ea typeface="+mn-ea"/>
                <a:cs typeface="+mn-cs"/>
                <a:hlinkClick r:id="rId9"/>
              </a:rPr>
              <a:t>Network-Transmission-Simulator</a:t>
            </a:r>
            <a:endParaRPr lang="en-US" sz="14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https://github.com/Arikatakur/Network-Transmission-Simulator</a:t>
            </a:r>
            <a:endParaRPr lang="en-US" sz="14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imulates</a:t>
            </a:r>
            <a:r>
              <a:rPr lang="en-US" sz="1200" kern="1200" dirty="0" smtClean="0">
                <a:solidFill>
                  <a:schemeClr val="tx1"/>
                </a:solidFill>
                <a:effectLst/>
                <a:latin typeface="+mn-lt"/>
                <a:ea typeface="+mn-ea"/>
                <a:cs typeface="+mn-cs"/>
              </a:rPr>
              <a:t> network data transmission using the Stop-and-Wait protocol with acknowledgment packets. It includes:</a:t>
            </a:r>
          </a:p>
          <a:p>
            <a:pPr lvl="0"/>
            <a:r>
              <a:rPr lang="en-US" sz="1200" b="1" kern="1200" dirty="0" smtClean="0">
                <a:solidFill>
                  <a:schemeClr val="tx1"/>
                </a:solidFill>
                <a:effectLst/>
                <a:latin typeface="+mn-lt"/>
                <a:ea typeface="+mn-ea"/>
                <a:cs typeface="+mn-cs"/>
              </a:rPr>
              <a:t>Theoretical Calculator</a:t>
            </a:r>
            <a:r>
              <a:rPr lang="en-US" sz="1200" kern="1200" dirty="0" smtClean="0">
                <a:solidFill>
                  <a:schemeClr val="tx1"/>
                </a:solidFill>
                <a:effectLst/>
                <a:latin typeface="+mn-lt"/>
                <a:ea typeface="+mn-ea"/>
                <a:cs typeface="+mn-cs"/>
              </a:rPr>
              <a:t>: Computes the time required to send a file under ideal conditions.</a:t>
            </a:r>
          </a:p>
          <a:p>
            <a:pPr lvl="0"/>
            <a:r>
              <a:rPr lang="en-US" sz="1200" b="1" kern="1200" dirty="0" smtClean="0">
                <a:solidFill>
                  <a:schemeClr val="tx1"/>
                </a:solidFill>
                <a:effectLst/>
                <a:latin typeface="+mn-lt"/>
                <a:ea typeface="+mn-ea"/>
                <a:cs typeface="+mn-cs"/>
              </a:rPr>
              <a:t>UDP File Transfer Tools</a:t>
            </a:r>
            <a:r>
              <a:rPr lang="en-US" sz="1200" kern="1200" dirty="0" smtClean="0">
                <a:solidFill>
                  <a:schemeClr val="tx1"/>
                </a:solidFill>
                <a:effectLst/>
                <a:latin typeface="+mn-lt"/>
                <a:ea typeface="+mn-ea"/>
                <a:cs typeface="+mn-cs"/>
              </a:rPr>
              <a:t>: Sends files over a network using UDP and logs transmission details.</a:t>
            </a:r>
          </a:p>
          <a:p>
            <a:pPr lvl="0"/>
            <a:r>
              <a:rPr lang="en-US" sz="1200" b="1" kern="1200" dirty="0" smtClean="0">
                <a:solidFill>
                  <a:schemeClr val="tx1"/>
                </a:solidFill>
                <a:effectLst/>
                <a:latin typeface="+mn-lt"/>
                <a:ea typeface="+mn-ea"/>
                <a:cs typeface="+mn-cs"/>
              </a:rPr>
              <a:t>Experimentation Framework</a:t>
            </a:r>
            <a:r>
              <a:rPr lang="en-US" sz="1200" kern="1200" dirty="0" smtClean="0">
                <a:solidFill>
                  <a:schemeClr val="tx1"/>
                </a:solidFill>
                <a:effectLst/>
                <a:latin typeface="+mn-lt"/>
                <a:ea typeface="+mn-ea"/>
                <a:cs typeface="+mn-cs"/>
              </a:rPr>
              <a:t>: Measures and compares theoretical vs. actual transmission times.</a:t>
            </a:r>
          </a:p>
          <a:p>
            <a:r>
              <a:rPr lang="en-US" sz="1200" b="1" kern="1200" dirty="0" smtClean="0">
                <a:solidFill>
                  <a:schemeClr val="tx1"/>
                </a:solidFill>
                <a:effectLst/>
                <a:latin typeface="+mn-lt"/>
                <a:ea typeface="+mn-ea"/>
                <a:cs typeface="+mn-cs"/>
              </a:rPr>
              <a:t>Features</a:t>
            </a:r>
          </a:p>
          <a:p>
            <a:pPr lvl="0"/>
            <a:r>
              <a:rPr lang="en-US" sz="1200" kern="1200" dirty="0" smtClean="0">
                <a:solidFill>
                  <a:schemeClr val="tx1"/>
                </a:solidFill>
                <a:effectLst/>
                <a:latin typeface="+mn-lt"/>
                <a:ea typeface="+mn-ea"/>
                <a:cs typeface="+mn-cs"/>
              </a:rPr>
              <a:t>Command-line interface for both theoretical calculations and actual file transmission.</a:t>
            </a:r>
          </a:p>
          <a:p>
            <a:pPr lvl="0"/>
            <a:r>
              <a:rPr lang="en-US" sz="1200" kern="1200" dirty="0" smtClean="0">
                <a:solidFill>
                  <a:schemeClr val="tx1"/>
                </a:solidFill>
                <a:effectLst/>
                <a:latin typeface="+mn-lt"/>
                <a:ea typeface="+mn-ea"/>
                <a:cs typeface="+mn-cs"/>
              </a:rPr>
              <a:t>Logs packet transmission details, acknowledgments, and final results.</a:t>
            </a:r>
          </a:p>
          <a:p>
            <a:pPr lvl="0"/>
            <a:r>
              <a:rPr lang="en-US" sz="1200" kern="1200" dirty="0" smtClean="0">
                <a:solidFill>
                  <a:schemeClr val="tx1"/>
                </a:solidFill>
                <a:effectLst/>
                <a:latin typeface="+mn-lt"/>
                <a:ea typeface="+mn-ea"/>
                <a:cs typeface="+mn-cs"/>
              </a:rPr>
              <a:t>Javadoc documentation for all classes and methods.</a:t>
            </a:r>
          </a:p>
          <a:p>
            <a:pPr lvl="0"/>
            <a:r>
              <a:rPr lang="en-US" sz="1200" kern="1200" dirty="0" smtClean="0">
                <a:solidFill>
                  <a:schemeClr val="tx1"/>
                </a:solidFill>
                <a:effectLst/>
                <a:latin typeface="+mn-lt"/>
                <a:ea typeface="+mn-ea"/>
                <a:cs typeface="+mn-cs"/>
              </a:rPr>
              <a:t>Test cases for robust verification.</a:t>
            </a:r>
          </a:p>
          <a:p>
            <a:r>
              <a:rPr lang="en-US" sz="1200" b="1" kern="1200" dirty="0" smtClean="0">
                <a:solidFill>
                  <a:schemeClr val="tx1"/>
                </a:solidFill>
                <a:effectLst/>
                <a:latin typeface="+mn-lt"/>
                <a:ea typeface="+mn-ea"/>
                <a:cs typeface="+mn-cs"/>
              </a:rPr>
              <a:t>Requirements</a:t>
            </a:r>
          </a:p>
          <a:p>
            <a:pPr lvl="0"/>
            <a:r>
              <a:rPr lang="en-US" sz="1200" b="1" kern="1200" dirty="0" smtClean="0">
                <a:solidFill>
                  <a:schemeClr val="tx1"/>
                </a:solidFill>
                <a:effectLst/>
                <a:latin typeface="+mn-lt"/>
                <a:ea typeface="+mn-ea"/>
                <a:cs typeface="+mn-cs"/>
              </a:rPr>
              <a:t>Java Development Kit (JDK)</a:t>
            </a:r>
            <a:r>
              <a:rPr lang="en-US" sz="1200" kern="1200" dirty="0" smtClean="0">
                <a:solidFill>
                  <a:schemeClr val="tx1"/>
                </a:solidFill>
                <a:effectLst/>
                <a:latin typeface="+mn-lt"/>
                <a:ea typeface="+mn-ea"/>
                <a:cs typeface="+mn-cs"/>
              </a:rPr>
              <a:t> version 8 or higher.</a:t>
            </a:r>
          </a:p>
          <a:p>
            <a:pPr lvl="0"/>
            <a:r>
              <a:rPr lang="en-US" sz="1200" kern="1200" dirty="0" smtClean="0">
                <a:solidFill>
                  <a:schemeClr val="tx1"/>
                </a:solidFill>
                <a:effectLst/>
                <a:latin typeface="+mn-lt"/>
                <a:ea typeface="+mn-ea"/>
                <a:cs typeface="+mn-cs"/>
              </a:rPr>
              <a:t>Two computers on the same network for experimentation.</a:t>
            </a:r>
          </a:p>
          <a:p>
            <a:pPr lvl="0"/>
            <a:r>
              <a:rPr lang="en-US" sz="1200" kern="1200" dirty="0" smtClean="0">
                <a:solidFill>
                  <a:schemeClr val="tx1"/>
                </a:solidFill>
                <a:effectLst/>
                <a:latin typeface="+mn-lt"/>
                <a:ea typeface="+mn-ea"/>
                <a:cs typeface="+mn-cs"/>
              </a:rPr>
              <a:t>Tools:</a:t>
            </a:r>
          </a:p>
          <a:p>
            <a:pPr lvl="1"/>
            <a:r>
              <a:rPr lang="en-US" sz="1200" u="sng" kern="1200" dirty="0" err="1" smtClean="0">
                <a:solidFill>
                  <a:schemeClr val="tx1"/>
                </a:solidFill>
                <a:effectLst/>
                <a:latin typeface="+mn-lt"/>
                <a:ea typeface="+mn-ea"/>
                <a:cs typeface="+mn-cs"/>
                <a:hlinkClick r:id="rId10"/>
              </a:rPr>
              <a:t>iperf</a:t>
            </a:r>
            <a:r>
              <a:rPr lang="en-US" sz="1200" kern="1200" dirty="0" smtClean="0">
                <a:solidFill>
                  <a:schemeClr val="tx1"/>
                </a:solidFill>
                <a:effectLst/>
                <a:latin typeface="+mn-lt"/>
                <a:ea typeface="+mn-ea"/>
                <a:cs typeface="+mn-cs"/>
              </a:rPr>
              <a:t> for bandwidth measurement.</a:t>
            </a:r>
          </a:p>
          <a:p>
            <a:pPr lvl="1"/>
            <a:r>
              <a:rPr lang="en-US" sz="1200" u="sng" kern="1200" dirty="0" smtClean="0">
                <a:solidFill>
                  <a:schemeClr val="tx1"/>
                </a:solidFill>
                <a:effectLst/>
                <a:latin typeface="+mn-lt"/>
                <a:ea typeface="+mn-ea"/>
                <a:cs typeface="+mn-cs"/>
                <a:hlinkClick r:id="rId11"/>
              </a:rPr>
              <a:t>Wireshark</a:t>
            </a:r>
            <a:r>
              <a:rPr lang="en-US" sz="1200" kern="1200" dirty="0" smtClean="0">
                <a:solidFill>
                  <a:schemeClr val="tx1"/>
                </a:solidFill>
                <a:effectLst/>
                <a:latin typeface="+mn-lt"/>
                <a:ea typeface="+mn-ea"/>
                <a:cs typeface="+mn-cs"/>
              </a:rPr>
              <a:t> for packet analysis.</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Design of data communication networks using simulation techniques</a:t>
            </a:r>
          </a:p>
          <a:p>
            <a:r>
              <a:rPr lang="en-US" sz="1200"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A Simulator for FANETs Using 5G Vehicle-to-Everything Communications and Named-Data Networking</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https://arxiv.org/html/2510.13823v1</a:t>
            </a:r>
          </a:p>
          <a:p>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1</a:t>
            </a:fld>
            <a:endParaRPr lang="en-US"/>
          </a:p>
        </p:txBody>
      </p:sp>
    </p:spTree>
    <p:extLst>
      <p:ext uri="{BB962C8B-B14F-4D97-AF65-F5344CB8AC3E}">
        <p14:creationId xmlns:p14="http://schemas.microsoft.com/office/powerpoint/2010/main" val="22388174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A5AAB732-A2B1-4C04-B3F6-30CA4BE7A2D3}" type="slidenum">
              <a:rPr lang="en-US" altLang="en-US"/>
              <a:pPr/>
              <a:t>12</a:t>
            </a:fld>
            <a:endParaRPr lang="en-US" altLang="en-US"/>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xfrm>
            <a:off x="914400" y="4343400"/>
            <a:ext cx="5029200" cy="4114800"/>
          </a:xfrm>
          <a:noFill/>
          <a:ln/>
        </p:spPr>
        <p:txBody>
          <a:bodyPr/>
          <a:lstStyle/>
          <a:p>
            <a:pPr eaLnBrk="1" hangingPunct="1"/>
            <a:endParaRPr lang="en-US" altLang="en-US">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1570989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3606021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2562509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4106919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2693935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1833239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3491598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1479287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973712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2692277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944081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19AD06-451C-413E-AF31-86503C137FDF}" type="slidenum">
              <a:rPr lang="en-US" smtClean="0"/>
              <a:pPr/>
              <a:t>‹#›</a:t>
            </a:fld>
            <a:endParaRPr lang="en-US"/>
          </a:p>
        </p:txBody>
      </p:sp>
    </p:spTree>
    <p:extLst>
      <p:ext uri="{BB962C8B-B14F-4D97-AF65-F5344CB8AC3E}">
        <p14:creationId xmlns:p14="http://schemas.microsoft.com/office/powerpoint/2010/main" val="21980527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hyperlink" Target="https://github.com/amelcharolinesgn2/CCNA1" TargetMode="External"/><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youtube.com/watch?v=AnxrJiS5uKU" TargetMode="External"/><Relationship Id="rId1" Type="http://schemas.openxmlformats.org/officeDocument/2006/relationships/slideLayout" Target="../slideLayouts/slideLayout4.xml"/><Relationship Id="rId4" Type="http://schemas.openxmlformats.org/officeDocument/2006/relationships/image" Target="../media/image11.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4.xml"/><Relationship Id="rId6" Type="http://schemas.openxmlformats.org/officeDocument/2006/relationships/image" Target="../media/image16.emf"/><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hyperlink" Target="Virtualization.ppt" TargetMode="Externa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en.wikipedia.org/wiki/Economies_of_scale" TargetMode="External"/><Relationship Id="rId2" Type="http://schemas.openxmlformats.org/officeDocument/2006/relationships/hyperlink" Target="https://en.wikipedia.org/wiki/Bruce_Schneier" TargetMode="External"/><Relationship Id="rId1" Type="http://schemas.openxmlformats.org/officeDocument/2006/relationships/slideLayout" Target="../slideLayouts/slideLayout2.xml"/><Relationship Id="rId5" Type="http://schemas.openxmlformats.org/officeDocument/2006/relationships/hyperlink" Target="https://en.wikipedia.org/wiki/Confidentiality" TargetMode="External"/><Relationship Id="rId4" Type="http://schemas.openxmlformats.org/officeDocument/2006/relationships/hyperlink" Target="https://en.wikipedia.org/wiki/Data_cap"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www.oracle.com/technetwork/java/javase/downloads/index.html" TargetMode="External"/><Relationship Id="rId2" Type="http://schemas.openxmlformats.org/officeDocument/2006/relationships/hyperlink" Target="https://github.com/Cloudslab/cloudsim/releases/tag/cloudsim-3.0.3" TargetMode="External"/><Relationship Id="rId1" Type="http://schemas.openxmlformats.org/officeDocument/2006/relationships/slideLayout" Target="../slideLayouts/slideLayout2.xml"/><Relationship Id="rId5" Type="http://schemas.openxmlformats.org/officeDocument/2006/relationships/hyperlink" Target="http://commons.apache.org/proper/commons-math/download_math.cgi" TargetMode="External"/><Relationship Id="rId4" Type="http://schemas.openxmlformats.org/officeDocument/2006/relationships/hyperlink" Target="https://www.eclipse.org/downloads/packages/release/oxygen"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www.buyya.com/" TargetMode="External"/><Relationship Id="rId2" Type="http://schemas.openxmlformats.org/officeDocument/2006/relationships/hyperlink" Target="http://cloudbus.org/cloudsim/" TargetMode="External"/><Relationship Id="rId1" Type="http://schemas.openxmlformats.org/officeDocument/2006/relationships/slideLayout" Target="../slideLayouts/slideLayout2.xml"/><Relationship Id="rId4" Type="http://schemas.openxmlformats.org/officeDocument/2006/relationships/hyperlink" Target="http://cloudbus.org/" TargetMode="Externa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p:cNvPicPr>
            <a:picLocks noGrp="1" noChangeAspect="1"/>
          </p:cNvPicPr>
          <p:nvPr>
            <p:ph idx="1"/>
          </p:nvPr>
        </p:nvPicPr>
        <p:blipFill>
          <a:blip r:embed="rId3"/>
          <a:stretch>
            <a:fillRect/>
          </a:stretch>
        </p:blipFill>
        <p:spPr>
          <a:xfrm>
            <a:off x="46290" y="549166"/>
            <a:ext cx="1980634" cy="1262343"/>
          </a:xfrm>
          <a:prstGeom prst="rect">
            <a:avLst/>
          </a:prstGeom>
        </p:spPr>
      </p:pic>
      <p:pic>
        <p:nvPicPr>
          <p:cNvPr id="30" name="Picture 29"/>
          <p:cNvPicPr>
            <a:picLocks noChangeAspect="1"/>
          </p:cNvPicPr>
          <p:nvPr/>
        </p:nvPicPr>
        <p:blipFill rotWithShape="1">
          <a:blip r:embed="rId4"/>
          <a:srcRect l="8646" t="12924" r="16013" b="9596"/>
          <a:stretch/>
        </p:blipFill>
        <p:spPr>
          <a:xfrm>
            <a:off x="348892" y="2278144"/>
            <a:ext cx="1209868" cy="1244217"/>
          </a:xfrm>
          <a:prstGeom prst="rect">
            <a:avLst/>
          </a:prstGeom>
          <a:ln>
            <a:noFill/>
          </a:ln>
          <a:effectLst>
            <a:softEdge rad="112500"/>
          </a:effectLst>
        </p:spPr>
      </p:pic>
      <p:pic>
        <p:nvPicPr>
          <p:cNvPr id="31" name="Picture 30"/>
          <p:cNvPicPr>
            <a:picLocks noChangeAspect="1"/>
          </p:cNvPicPr>
          <p:nvPr/>
        </p:nvPicPr>
        <p:blipFill rotWithShape="1">
          <a:blip r:embed="rId5"/>
          <a:srcRect t="31519" b="32047"/>
          <a:stretch/>
        </p:blipFill>
        <p:spPr>
          <a:xfrm>
            <a:off x="478321" y="2904448"/>
            <a:ext cx="1018759" cy="323944"/>
          </a:xfrm>
          <a:prstGeom prst="rect">
            <a:avLst/>
          </a:prstGeom>
          <a:ln>
            <a:noFill/>
          </a:ln>
          <a:effectLst>
            <a:softEdge rad="112500"/>
          </a:effectLst>
        </p:spPr>
      </p:pic>
      <p:pic>
        <p:nvPicPr>
          <p:cNvPr id="6" name="Picture 5"/>
          <p:cNvPicPr>
            <a:picLocks noChangeAspect="1"/>
          </p:cNvPicPr>
          <p:nvPr/>
        </p:nvPicPr>
        <p:blipFill>
          <a:blip r:embed="rId6"/>
          <a:stretch>
            <a:fillRect/>
          </a:stretch>
        </p:blipFill>
        <p:spPr>
          <a:xfrm>
            <a:off x="306070" y="1596944"/>
            <a:ext cx="1896069" cy="213322"/>
          </a:xfrm>
          <a:prstGeom prst="rect">
            <a:avLst/>
          </a:prstGeom>
        </p:spPr>
      </p:pic>
      <p:grpSp>
        <p:nvGrpSpPr>
          <p:cNvPr id="8" name="Group 7">
            <a:extLst>
              <a:ext uri="{FF2B5EF4-FFF2-40B4-BE49-F238E27FC236}">
                <a16:creationId xmlns:a16="http://schemas.microsoft.com/office/drawing/2014/main" id="{2AABCB87-2ECC-4C03-B5BB-6EE11C8A4485}"/>
              </a:ext>
            </a:extLst>
          </p:cNvPr>
          <p:cNvGrpSpPr/>
          <p:nvPr/>
        </p:nvGrpSpPr>
        <p:grpSpPr>
          <a:xfrm>
            <a:off x="477502" y="1251268"/>
            <a:ext cx="976966" cy="369285"/>
            <a:chOff x="4853562" y="1589418"/>
            <a:chExt cx="2609520" cy="1291565"/>
          </a:xfrm>
        </p:grpSpPr>
        <p:sp>
          <p:nvSpPr>
            <p:cNvPr id="13" name="Freeform 12">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a:solidFill>
                  <a:schemeClr val="tx1"/>
                </a:solidFill>
              </a:endParaRPr>
            </a:p>
          </p:txBody>
        </p:sp>
        <p:sp>
          <p:nvSpPr>
            <p:cNvPr id="14" name="Freeform 13">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dirty="0">
                <a:solidFill>
                  <a:schemeClr val="tx1"/>
                </a:solidFill>
              </a:endParaRPr>
            </a:p>
          </p:txBody>
        </p:sp>
      </p:grpSp>
      <p:grpSp>
        <p:nvGrpSpPr>
          <p:cNvPr id="9" name="Group 8">
            <a:extLst>
              <a:ext uri="{FF2B5EF4-FFF2-40B4-BE49-F238E27FC236}">
                <a16:creationId xmlns:a16="http://schemas.microsoft.com/office/drawing/2014/main" id="{AB8BC7BC-BF58-402E-9A69-AA9226DE7CAA}"/>
              </a:ext>
            </a:extLst>
          </p:cNvPr>
          <p:cNvGrpSpPr/>
          <p:nvPr/>
        </p:nvGrpSpPr>
        <p:grpSpPr>
          <a:xfrm>
            <a:off x="431212" y="1225859"/>
            <a:ext cx="336493" cy="171515"/>
            <a:chOff x="7439031" y="1585639"/>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grpSp>
      <p:sp>
        <p:nvSpPr>
          <p:cNvPr id="10" name="Subtitle 2">
            <a:extLst>
              <a:ext uri="{FF2B5EF4-FFF2-40B4-BE49-F238E27FC236}">
                <a16:creationId xmlns:a16="http://schemas.microsoft.com/office/drawing/2014/main" id="{53858C97-DA2F-8866-47CC-CDF4077BBF9D}"/>
              </a:ext>
            </a:extLst>
          </p:cNvPr>
          <p:cNvSpPr txBox="1">
            <a:spLocks/>
          </p:cNvSpPr>
          <p:nvPr/>
        </p:nvSpPr>
        <p:spPr>
          <a:xfrm>
            <a:off x="469976" y="1256395"/>
            <a:ext cx="365801" cy="125217"/>
          </a:xfrm>
          <a:prstGeom prst="rect">
            <a:avLst/>
          </a:prstGeom>
        </p:spPr>
        <p:txBody>
          <a:bodyPr vert="horz" lIns="81280" tIns="40640" rIns="81280" bIns="4064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22" dirty="0">
                <a:solidFill>
                  <a:srgbClr val="7030A0"/>
                </a:solidFill>
              </a:rPr>
              <a:t>PDS</a:t>
            </a:r>
          </a:p>
        </p:txBody>
      </p:sp>
      <p:pic>
        <p:nvPicPr>
          <p:cNvPr id="18" name="Picture 17"/>
          <p:cNvPicPr>
            <a:picLocks noChangeAspect="1"/>
          </p:cNvPicPr>
          <p:nvPr/>
        </p:nvPicPr>
        <p:blipFill>
          <a:blip r:embed="rId7"/>
          <a:stretch>
            <a:fillRect/>
          </a:stretch>
        </p:blipFill>
        <p:spPr>
          <a:xfrm>
            <a:off x="1489692" y="1368919"/>
            <a:ext cx="195549" cy="278741"/>
          </a:xfrm>
          <a:prstGeom prst="rect">
            <a:avLst/>
          </a:prstGeom>
        </p:spPr>
      </p:pic>
      <p:pic>
        <p:nvPicPr>
          <p:cNvPr id="19" name="Picture 18"/>
          <p:cNvPicPr>
            <a:picLocks noChangeAspect="1"/>
          </p:cNvPicPr>
          <p:nvPr/>
        </p:nvPicPr>
        <p:blipFill>
          <a:blip r:embed="rId8"/>
          <a:stretch>
            <a:fillRect/>
          </a:stretch>
        </p:blipFill>
        <p:spPr>
          <a:xfrm>
            <a:off x="928964" y="1347118"/>
            <a:ext cx="268890" cy="255445"/>
          </a:xfrm>
          <a:prstGeom prst="rect">
            <a:avLst/>
          </a:prstGeom>
        </p:spPr>
      </p:pic>
      <p:pic>
        <p:nvPicPr>
          <p:cNvPr id="20" name="Picture 19"/>
          <p:cNvPicPr>
            <a:picLocks noChangeAspect="1"/>
          </p:cNvPicPr>
          <p:nvPr/>
        </p:nvPicPr>
        <p:blipFill>
          <a:blip r:embed="rId9"/>
          <a:stretch>
            <a:fillRect/>
          </a:stretch>
        </p:blipFill>
        <p:spPr>
          <a:xfrm>
            <a:off x="668583" y="1380076"/>
            <a:ext cx="262872" cy="253181"/>
          </a:xfrm>
          <a:prstGeom prst="rect">
            <a:avLst/>
          </a:prstGeom>
        </p:spPr>
      </p:pic>
      <p:sp>
        <p:nvSpPr>
          <p:cNvPr id="7" name="Title 4">
            <a:extLst>
              <a:ext uri="{FF2B5EF4-FFF2-40B4-BE49-F238E27FC236}">
                <a16:creationId xmlns:a16="http://schemas.microsoft.com/office/drawing/2014/main" id="{27228BAE-048B-681E-DD8D-BD96B22560E0}"/>
              </a:ext>
            </a:extLst>
          </p:cNvPr>
          <p:cNvSpPr txBox="1">
            <a:spLocks/>
          </p:cNvSpPr>
          <p:nvPr/>
        </p:nvSpPr>
        <p:spPr>
          <a:xfrm>
            <a:off x="258279" y="1456524"/>
            <a:ext cx="1837447" cy="261117"/>
          </a:xfrm>
          <a:prstGeom prst="rect">
            <a:avLst/>
          </a:prstGeom>
        </p:spPr>
        <p:txBody>
          <a:bodyPr vert="horz" lIns="81280" tIns="40640" rIns="81280" bIns="40640" rtlCol="0" anchor="b">
            <a:normAutofit fontScale="8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1867" dirty="0">
                <a:solidFill>
                  <a:schemeClr val="accent1">
                    <a:lumMod val="75000"/>
                  </a:schemeClr>
                </a:solidFill>
              </a:rPr>
              <a:t>Computer </a:t>
            </a:r>
            <a:r>
              <a:rPr lang="en-US" sz="1867" dirty="0">
                <a:solidFill>
                  <a:srgbClr val="00B0F0"/>
                </a:solidFill>
              </a:rPr>
              <a:t>Vision</a:t>
            </a:r>
          </a:p>
        </p:txBody>
      </p:sp>
      <p:sp>
        <p:nvSpPr>
          <p:cNvPr id="28" name="Title 1"/>
          <p:cNvSpPr txBox="1">
            <a:spLocks/>
          </p:cNvSpPr>
          <p:nvPr/>
        </p:nvSpPr>
        <p:spPr>
          <a:xfrm>
            <a:off x="-849474" y="3326448"/>
            <a:ext cx="3825765" cy="4512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133" b="1" dirty="0">
                <a:solidFill>
                  <a:schemeClr val="bg1">
                    <a:lumMod val="75000"/>
                  </a:schemeClr>
                </a:solidFill>
              </a:rPr>
              <a:t>@ P. </a:t>
            </a:r>
            <a:r>
              <a:rPr lang="en-US" sz="2133" b="1" dirty="0" err="1">
                <a:solidFill>
                  <a:schemeClr val="bg1">
                    <a:lumMod val="75000"/>
                  </a:schemeClr>
                </a:solidFill>
              </a:rPr>
              <a:t>Siagian</a:t>
            </a:r>
            <a:endParaRPr lang="en-US" sz="2133" b="1" dirty="0">
              <a:solidFill>
                <a:schemeClr val="bg1">
                  <a:lumMod val="75000"/>
                </a:schemeClr>
              </a:solidFill>
            </a:endParaRPr>
          </a:p>
        </p:txBody>
      </p:sp>
      <p:sp>
        <p:nvSpPr>
          <p:cNvPr id="23" name="Title 1"/>
          <p:cNvSpPr txBox="1">
            <a:spLocks/>
          </p:cNvSpPr>
          <p:nvPr/>
        </p:nvSpPr>
        <p:spPr>
          <a:xfrm>
            <a:off x="3614677" y="3017639"/>
            <a:ext cx="9347200" cy="771712"/>
          </a:xfrm>
          <a:prstGeom prst="rect">
            <a:avLst/>
          </a:prstGeom>
        </p:spPr>
        <p:txBody>
          <a:bodyPr vert="horz" lIns="81280" tIns="40640" rIns="81280" bIns="4064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just">
              <a:lnSpc>
                <a:spcPct val="100000"/>
              </a:lnSpc>
            </a:pPr>
            <a:r>
              <a:rPr lang="en-US" b="1" dirty="0">
                <a:solidFill>
                  <a:srgbClr val="0070C0"/>
                </a:solidFill>
                <a:latin typeface="Cambria" panose="02040503050406030204"/>
                <a:cs typeface="Cambria" panose="02040503050406030204"/>
              </a:rPr>
              <a:t>C</a:t>
            </a:r>
            <a:r>
              <a:rPr lang="en-US" b="1" spc="-10" dirty="0">
                <a:solidFill>
                  <a:srgbClr val="0070C0"/>
                </a:solidFill>
                <a:latin typeface="Cambria" panose="02040503050406030204"/>
                <a:cs typeface="Cambria" panose="02040503050406030204"/>
              </a:rPr>
              <a:t>l</a:t>
            </a:r>
            <a:r>
              <a:rPr lang="en-US" b="1" spc="-5" dirty="0">
                <a:solidFill>
                  <a:srgbClr val="0070C0"/>
                </a:solidFill>
                <a:latin typeface="Cambria" panose="02040503050406030204"/>
                <a:cs typeface="Cambria" panose="02040503050406030204"/>
              </a:rPr>
              <a:t>o</a:t>
            </a:r>
            <a:r>
              <a:rPr lang="en-US" b="1" dirty="0">
                <a:solidFill>
                  <a:srgbClr val="0070C0"/>
                </a:solidFill>
                <a:latin typeface="Cambria" panose="02040503050406030204"/>
                <a:cs typeface="Cambria" panose="02040503050406030204"/>
              </a:rPr>
              <a:t>u</a:t>
            </a:r>
            <a:r>
              <a:rPr lang="en-US" b="1" spc="-5" dirty="0">
                <a:solidFill>
                  <a:srgbClr val="0070C0"/>
                </a:solidFill>
                <a:latin typeface="Cambria" panose="02040503050406030204"/>
                <a:cs typeface="Cambria" panose="02040503050406030204"/>
              </a:rPr>
              <a:t>d</a:t>
            </a:r>
            <a:r>
              <a:rPr lang="en-US" b="1" spc="5" dirty="0">
                <a:solidFill>
                  <a:srgbClr val="0070C0"/>
                </a:solidFill>
                <a:latin typeface="Cambria" panose="02040503050406030204"/>
                <a:cs typeface="Cambria" panose="02040503050406030204"/>
              </a:rPr>
              <a:t> </a:t>
            </a:r>
            <a:r>
              <a:rPr lang="en-US" b="1" spc="-30" dirty="0">
                <a:solidFill>
                  <a:srgbClr val="0070C0"/>
                </a:solidFill>
                <a:latin typeface="Cambria" panose="02040503050406030204"/>
                <a:cs typeface="Cambria" panose="02040503050406030204"/>
              </a:rPr>
              <a:t>C</a:t>
            </a:r>
            <a:r>
              <a:rPr lang="en-US" b="1" spc="-5" dirty="0">
                <a:solidFill>
                  <a:srgbClr val="0070C0"/>
                </a:solidFill>
                <a:latin typeface="Cambria" panose="02040503050406030204"/>
                <a:cs typeface="Cambria" panose="02040503050406030204"/>
              </a:rPr>
              <a:t>om</a:t>
            </a:r>
            <a:r>
              <a:rPr lang="en-US" b="1" dirty="0">
                <a:solidFill>
                  <a:srgbClr val="0070C0"/>
                </a:solidFill>
                <a:latin typeface="Cambria" panose="02040503050406030204"/>
                <a:cs typeface="Cambria" panose="02040503050406030204"/>
              </a:rPr>
              <a:t>pu</a:t>
            </a:r>
            <a:r>
              <a:rPr lang="en-US" b="1" spc="-5" dirty="0">
                <a:solidFill>
                  <a:srgbClr val="0070C0"/>
                </a:solidFill>
                <a:latin typeface="Cambria" panose="02040503050406030204"/>
                <a:cs typeface="Cambria" panose="02040503050406030204"/>
              </a:rPr>
              <a:t>t</a:t>
            </a:r>
            <a:r>
              <a:rPr lang="en-US" b="1" dirty="0">
                <a:solidFill>
                  <a:srgbClr val="0070C0"/>
                </a:solidFill>
                <a:latin typeface="Cambria" panose="02040503050406030204"/>
                <a:cs typeface="Cambria" panose="02040503050406030204"/>
              </a:rPr>
              <a:t>i</a:t>
            </a:r>
            <a:r>
              <a:rPr lang="en-US" b="1" spc="-5" dirty="0">
                <a:solidFill>
                  <a:srgbClr val="0070C0"/>
                </a:solidFill>
                <a:latin typeface="Cambria" panose="02040503050406030204"/>
                <a:cs typeface="Cambria" panose="02040503050406030204"/>
              </a:rPr>
              <a:t>ng</a:t>
            </a:r>
            <a:endParaRPr lang="en-US" dirty="0">
              <a:solidFill>
                <a:srgbClr val="0070C0"/>
              </a:solidFill>
              <a:latin typeface="Cambria" panose="02040503050406030204"/>
              <a:cs typeface="Cambria" panose="02040503050406030204"/>
            </a:endParaRPr>
          </a:p>
        </p:txBody>
      </p:sp>
      <p:sp>
        <p:nvSpPr>
          <p:cNvPr id="26" name="Rectangle 25"/>
          <p:cNvSpPr/>
          <p:nvPr/>
        </p:nvSpPr>
        <p:spPr>
          <a:xfrm>
            <a:off x="9598556" y="5710981"/>
            <a:ext cx="2487830" cy="215444"/>
          </a:xfrm>
          <a:prstGeom prst="rect">
            <a:avLst/>
          </a:prstGeom>
        </p:spPr>
        <p:txBody>
          <a:bodyPr wrap="square">
            <a:spAutoFit/>
          </a:bodyPr>
          <a:lstStyle/>
          <a:p>
            <a:r>
              <a:rPr lang="en-US" sz="800" dirty="0"/>
              <a:t>https://www.youtube.com/@AmelOline/videos</a:t>
            </a:r>
          </a:p>
        </p:txBody>
      </p:sp>
      <p:sp>
        <p:nvSpPr>
          <p:cNvPr id="27" name="Rectangle 26"/>
          <p:cNvSpPr/>
          <p:nvPr/>
        </p:nvSpPr>
        <p:spPr>
          <a:xfrm>
            <a:off x="10387751" y="5572482"/>
            <a:ext cx="1545230" cy="215444"/>
          </a:xfrm>
          <a:prstGeom prst="rect">
            <a:avLst/>
          </a:prstGeom>
        </p:spPr>
        <p:txBody>
          <a:bodyPr wrap="square">
            <a:spAutoFit/>
          </a:bodyPr>
          <a:lstStyle/>
          <a:p>
            <a:r>
              <a:rPr lang="en-US" sz="800" dirty="0"/>
              <a:t>https://github.com/siagianp</a:t>
            </a:r>
          </a:p>
        </p:txBody>
      </p:sp>
      <p:sp>
        <p:nvSpPr>
          <p:cNvPr id="29" name="Rectangle 28"/>
          <p:cNvSpPr/>
          <p:nvPr/>
        </p:nvSpPr>
        <p:spPr>
          <a:xfrm>
            <a:off x="8672916" y="5849481"/>
            <a:ext cx="3490509" cy="215444"/>
          </a:xfrm>
          <a:prstGeom prst="rect">
            <a:avLst/>
          </a:prstGeom>
        </p:spPr>
        <p:txBody>
          <a:bodyPr wrap="square">
            <a:spAutoFit/>
          </a:bodyPr>
          <a:lstStyle/>
          <a:p>
            <a:r>
              <a:rPr lang="en-US" sz="800" dirty="0"/>
              <a:t>https://github.com/amelcharolinesgn2/IoT_simulator-mqtt-NodeRed</a:t>
            </a:r>
          </a:p>
        </p:txBody>
      </p:sp>
      <p:sp>
        <p:nvSpPr>
          <p:cNvPr id="32" name="Rectangle 31"/>
          <p:cNvSpPr/>
          <p:nvPr/>
        </p:nvSpPr>
        <p:spPr>
          <a:xfrm>
            <a:off x="9080956" y="5987980"/>
            <a:ext cx="2746692" cy="338554"/>
          </a:xfrm>
          <a:prstGeom prst="rect">
            <a:avLst/>
          </a:prstGeom>
        </p:spPr>
        <p:txBody>
          <a:bodyPr wrap="square">
            <a:spAutoFit/>
          </a:bodyPr>
          <a:lstStyle/>
          <a:p>
            <a:r>
              <a:rPr lang="en-US" sz="800" dirty="0"/>
              <a:t>https://github.com/amelcharolinesgn2/Cloud-Infrastructures</a:t>
            </a:r>
          </a:p>
        </p:txBody>
      </p:sp>
      <p:sp>
        <p:nvSpPr>
          <p:cNvPr id="33" name="Rectangle 32"/>
          <p:cNvSpPr/>
          <p:nvPr/>
        </p:nvSpPr>
        <p:spPr>
          <a:xfrm>
            <a:off x="8576448" y="6103396"/>
            <a:ext cx="3286814" cy="338554"/>
          </a:xfrm>
          <a:prstGeom prst="rect">
            <a:avLst/>
          </a:prstGeom>
        </p:spPr>
        <p:txBody>
          <a:bodyPr wrap="square">
            <a:spAutoFit/>
          </a:bodyPr>
          <a:lstStyle/>
          <a:p>
            <a:r>
              <a:rPr lang="en-US" sz="800" dirty="0"/>
              <a:t>https://github.com/amelcharolinesgn2/ClouD-Infrastructure-SISKA-2025</a:t>
            </a:r>
          </a:p>
        </p:txBody>
      </p:sp>
      <p:sp>
        <p:nvSpPr>
          <p:cNvPr id="34" name="Rectangle 33"/>
          <p:cNvSpPr/>
          <p:nvPr/>
        </p:nvSpPr>
        <p:spPr>
          <a:xfrm>
            <a:off x="8330966" y="6224722"/>
            <a:ext cx="3537184" cy="214178"/>
          </a:xfrm>
          <a:prstGeom prst="rect">
            <a:avLst/>
          </a:prstGeom>
        </p:spPr>
        <p:txBody>
          <a:bodyPr wrap="square">
            <a:spAutoFit/>
          </a:bodyPr>
          <a:lstStyle/>
          <a:p>
            <a:r>
              <a:rPr lang="en-US" sz="800" dirty="0"/>
              <a:t>https://github.com/amelcharolinesgn2/Gyroscope-Sensor-Data-Accelerometer</a:t>
            </a:r>
          </a:p>
        </p:txBody>
      </p:sp>
      <p:sp>
        <p:nvSpPr>
          <p:cNvPr id="35" name="Title 1"/>
          <p:cNvSpPr txBox="1">
            <a:spLocks/>
          </p:cNvSpPr>
          <p:nvPr/>
        </p:nvSpPr>
        <p:spPr>
          <a:xfrm>
            <a:off x="3625188" y="2208342"/>
            <a:ext cx="9347200" cy="771712"/>
          </a:xfrm>
          <a:prstGeom prst="rect">
            <a:avLst/>
          </a:prstGeom>
        </p:spPr>
        <p:txBody>
          <a:bodyPr vert="horz" lIns="81280" tIns="40640" rIns="81280" bIns="4064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just">
              <a:lnSpc>
                <a:spcPct val="100000"/>
              </a:lnSpc>
            </a:pPr>
            <a:endParaRPr lang="en-US" dirty="0">
              <a:solidFill>
                <a:srgbClr val="0070C0"/>
              </a:solidFill>
              <a:latin typeface="Cambria" panose="02040503050406030204"/>
              <a:cs typeface="Cambria" panose="02040503050406030204"/>
            </a:endParaRPr>
          </a:p>
        </p:txBody>
      </p:sp>
      <p:sp>
        <p:nvSpPr>
          <p:cNvPr id="36" name="Title 1"/>
          <p:cNvSpPr txBox="1">
            <a:spLocks/>
          </p:cNvSpPr>
          <p:nvPr/>
        </p:nvSpPr>
        <p:spPr>
          <a:xfrm>
            <a:off x="3614677" y="1441087"/>
            <a:ext cx="9347200" cy="771712"/>
          </a:xfrm>
          <a:prstGeom prst="rect">
            <a:avLst/>
          </a:prstGeom>
        </p:spPr>
        <p:txBody>
          <a:bodyPr vert="horz" lIns="81280" tIns="40640" rIns="81280" bIns="4064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just">
              <a:lnSpc>
                <a:spcPct val="100000"/>
              </a:lnSpc>
            </a:pPr>
            <a:endParaRPr lang="en-US" dirty="0">
              <a:solidFill>
                <a:srgbClr val="0070C0"/>
              </a:solidFill>
              <a:latin typeface="Cambria" panose="02040503050406030204"/>
              <a:cs typeface="Cambria" panose="02040503050406030204"/>
            </a:endParaRPr>
          </a:p>
        </p:txBody>
      </p:sp>
      <p:sp>
        <p:nvSpPr>
          <p:cNvPr id="37" name="Rectangle 36"/>
          <p:cNvSpPr/>
          <p:nvPr/>
        </p:nvSpPr>
        <p:spPr>
          <a:xfrm>
            <a:off x="9593505" y="6347281"/>
            <a:ext cx="2598495" cy="215444"/>
          </a:xfrm>
          <a:prstGeom prst="rect">
            <a:avLst/>
          </a:prstGeom>
        </p:spPr>
        <p:txBody>
          <a:bodyPr wrap="square">
            <a:spAutoFit/>
          </a:bodyPr>
          <a:lstStyle/>
          <a:p>
            <a:r>
              <a:rPr lang="en-US" sz="800" dirty="0"/>
              <a:t>https://</a:t>
            </a:r>
            <a:r>
              <a:rPr lang="en-US" sz="800" dirty="0" smtClean="0"/>
              <a:t>github.com/amelcharolinesgn2/cloudSim</a:t>
            </a:r>
            <a:endParaRPr lang="en-US" sz="800" dirty="0"/>
          </a:p>
        </p:txBody>
      </p:sp>
      <p:sp>
        <p:nvSpPr>
          <p:cNvPr id="38" name="Rectangle 37"/>
          <p:cNvSpPr/>
          <p:nvPr/>
        </p:nvSpPr>
        <p:spPr>
          <a:xfrm>
            <a:off x="9660180" y="6442531"/>
            <a:ext cx="2598495" cy="215444"/>
          </a:xfrm>
          <a:prstGeom prst="rect">
            <a:avLst/>
          </a:prstGeom>
        </p:spPr>
        <p:txBody>
          <a:bodyPr wrap="square">
            <a:spAutoFit/>
          </a:bodyPr>
          <a:lstStyle/>
          <a:p>
            <a:r>
              <a:rPr lang="en-US" sz="800" dirty="0">
                <a:hlinkClick r:id="rId10"/>
              </a:rPr>
              <a:t>https://</a:t>
            </a:r>
            <a:r>
              <a:rPr lang="en-US" sz="800" dirty="0" smtClean="0">
                <a:hlinkClick r:id="rId10"/>
              </a:rPr>
              <a:t>github.com/amelcharolinesgn2/CCNA 1</a:t>
            </a:r>
            <a:r>
              <a:rPr lang="en-US" sz="800" dirty="0" smtClean="0"/>
              <a:t>    </a:t>
            </a:r>
            <a:endParaRPr lang="en-US" sz="800" dirty="0"/>
          </a:p>
        </p:txBody>
      </p:sp>
    </p:spTree>
    <p:extLst>
      <p:ext uri="{BB962C8B-B14F-4D97-AF65-F5344CB8AC3E}">
        <p14:creationId xmlns:p14="http://schemas.microsoft.com/office/powerpoint/2010/main" val="36615987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26285" y="2697449"/>
            <a:ext cx="9144000" cy="1655762"/>
          </a:xfrm>
          <a:ln>
            <a:noFill/>
          </a:ln>
        </p:spPr>
        <p:txBody>
          <a:bodyPr>
            <a:normAutofit/>
          </a:bodyPr>
          <a:lstStyle/>
          <a:p>
            <a:endParaRPr lang="en-US" sz="2800" dirty="0">
              <a:solidFill>
                <a:srgbClr val="002060"/>
              </a:solidFill>
              <a:latin typeface="Verdana" panose="020B0604030504040204" pitchFamily="34" charset="0"/>
              <a:ea typeface="Verdana" panose="020B0604030504040204" pitchFamily="34" charset="0"/>
              <a:cs typeface="Verdana" panose="020B0604030504040204" pitchFamily="34" charset="0"/>
            </a:endParaRPr>
          </a:p>
        </p:txBody>
      </p:sp>
      <p:sp>
        <p:nvSpPr>
          <p:cNvPr id="2" name="Title 1"/>
          <p:cNvSpPr>
            <a:spLocks noGrp="1"/>
          </p:cNvSpPr>
          <p:nvPr>
            <p:ph type="ctrTitle"/>
          </p:nvPr>
        </p:nvSpPr>
        <p:spPr>
          <a:xfrm>
            <a:off x="1337768" y="5625"/>
            <a:ext cx="9144000" cy="2387600"/>
          </a:xfrm>
        </p:spPr>
        <p:txBody>
          <a:bodyPr>
            <a:normAutofit/>
          </a:bodyPr>
          <a:lstStyle/>
          <a:p>
            <a:r>
              <a:rPr lang="en-GB" altLang="zh-CN" sz="3600" dirty="0">
                <a:solidFill>
                  <a:srgbClr val="FF0000"/>
                </a:solidFill>
                <a:latin typeface="Verdana" panose="020B0604030504040204" pitchFamily="34" charset="0"/>
                <a:ea typeface="Verdana" panose="020B0604030504040204" pitchFamily="34" charset="0"/>
                <a:cs typeface="Verdana" panose="020B0604030504040204" pitchFamily="34" charset="0"/>
              </a:rPr>
              <a:t>Introduction to </a:t>
            </a:r>
            <a:r>
              <a:rPr lang="en-US" sz="3600" dirty="0">
                <a:solidFill>
                  <a:srgbClr val="FF0000"/>
                </a:solidFill>
                <a:latin typeface="Verdana" panose="020B0604030504040204" pitchFamily="34" charset="0"/>
                <a:ea typeface="Verdana" panose="020B0604030504040204" pitchFamily="34" charset="0"/>
                <a:cs typeface="Verdana" panose="020B0604030504040204" pitchFamily="34" charset="0"/>
              </a:rPr>
              <a:t>Cloud Computing, Virtualization and </a:t>
            </a:r>
            <a:r>
              <a:rPr lang="en-US" sz="3600" dirty="0" err="1">
                <a:solidFill>
                  <a:srgbClr val="FF0000"/>
                </a:solidFill>
                <a:latin typeface="Verdana" panose="020B0604030504040204" pitchFamily="34" charset="0"/>
                <a:ea typeface="Verdana" panose="020B0604030504040204" pitchFamily="34" charset="0"/>
                <a:cs typeface="Verdana" panose="020B0604030504040204" pitchFamily="34" charset="0"/>
              </a:rPr>
              <a:t>CloudSim</a:t>
            </a:r>
            <a:endParaRPr lang="en-US" sz="3600" dirty="0">
              <a:solidFill>
                <a:srgbClr val="FF0000"/>
              </a:solidFill>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4607" y="2659118"/>
            <a:ext cx="9711559" cy="3499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2"/>
          <p:cNvSpPr txBox="1">
            <a:spLocks/>
          </p:cNvSpPr>
          <p:nvPr/>
        </p:nvSpPr>
        <p:spPr>
          <a:xfrm>
            <a:off x="0" y="5625"/>
            <a:ext cx="12192000" cy="638320"/>
          </a:xfrm>
          <a:prstGeom prst="rect">
            <a:avLst/>
          </a:prstGeom>
          <a:solidFill>
            <a:schemeClr val="accent5"/>
          </a:solidFill>
        </p:spPr>
        <p:txBody>
          <a:bodyPr vert="horz" lIns="91440" tIns="45720" rIns="91440" bIns="4572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AU" altLang="en-US" dirty="0">
              <a:latin typeface="Verdana" panose="020B0604030504040204" pitchFamily="34" charset="0"/>
              <a:ea typeface="Verdana" panose="020B0604030504040204" pitchFamily="34" charset="0"/>
              <a:cs typeface="Verdana" panose="020B0604030504040204" pitchFamily="34" charset="0"/>
            </a:endParaRPr>
          </a:p>
        </p:txBody>
      </p:sp>
      <p:sp>
        <p:nvSpPr>
          <p:cNvPr id="8" name="Title 2"/>
          <p:cNvSpPr txBox="1">
            <a:spLocks/>
          </p:cNvSpPr>
          <p:nvPr/>
        </p:nvSpPr>
        <p:spPr>
          <a:xfrm>
            <a:off x="0" y="6219680"/>
            <a:ext cx="12192000" cy="638320"/>
          </a:xfrm>
          <a:prstGeom prst="rect">
            <a:avLst/>
          </a:prstGeom>
          <a:solidFill>
            <a:schemeClr val="accent5"/>
          </a:solidFill>
        </p:spPr>
        <p:txBody>
          <a:bodyPr vert="horz" lIns="91440" tIns="45720" rIns="91440" bIns="4572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AU" altLang="en-US"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2199727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2"/>
          <p:cNvSpPr>
            <a:spLocks noGrp="1"/>
          </p:cNvSpPr>
          <p:nvPr>
            <p:ph type="title"/>
          </p:nvPr>
        </p:nvSpPr>
        <p:spPr>
          <a:xfrm>
            <a:off x="0" y="5624"/>
            <a:ext cx="12192000" cy="1325563"/>
          </a:xfrm>
          <a:solidFill>
            <a:schemeClr val="accent5"/>
          </a:solidFill>
        </p:spPr>
        <p:txBody>
          <a:bodyPr>
            <a:normAutofit/>
          </a:bodyPr>
          <a:lstStyle/>
          <a:p>
            <a:r>
              <a:rPr lang="en-AU" altLang="en-US" sz="3600" kern="0" dirty="0">
                <a:solidFill>
                  <a:srgbClr val="FFFF00"/>
                </a:solidFill>
                <a:latin typeface="Verdana"/>
                <a:ea typeface="SimSun"/>
              </a:rPr>
              <a:t>The Next Revolution in IT</a:t>
            </a:r>
            <a:br>
              <a:rPr lang="en-AU" altLang="en-US" sz="3600" kern="0" dirty="0">
                <a:solidFill>
                  <a:srgbClr val="FFFF00"/>
                </a:solidFill>
                <a:latin typeface="Verdana"/>
                <a:ea typeface="SimSun"/>
              </a:rPr>
            </a:br>
            <a:r>
              <a:rPr lang="en-AU" altLang="en-US" sz="3600" kern="0" dirty="0">
                <a:solidFill>
                  <a:srgbClr val="FFFF00"/>
                </a:solidFill>
                <a:latin typeface="Verdana"/>
                <a:ea typeface="SimSun"/>
              </a:rPr>
              <a:t>                               The Big Switch in IT</a:t>
            </a:r>
          </a:p>
        </p:txBody>
      </p:sp>
      <p:sp>
        <p:nvSpPr>
          <p:cNvPr id="21507" name="Content Placeholder 3"/>
          <p:cNvSpPr>
            <a:spLocks noGrp="1"/>
          </p:cNvSpPr>
          <p:nvPr>
            <p:ph sz="half" idx="1"/>
          </p:nvPr>
        </p:nvSpPr>
        <p:spPr/>
        <p:txBody>
          <a:bodyPr/>
          <a:lstStyle/>
          <a:p>
            <a:r>
              <a:rPr lang="en-AU" altLang="en-US" dirty="0"/>
              <a:t>Classical Computing</a:t>
            </a:r>
          </a:p>
          <a:p>
            <a:pPr lvl="1"/>
            <a:r>
              <a:rPr lang="en-AU" altLang="en-US" dirty="0"/>
              <a:t>Buy &amp; Own</a:t>
            </a:r>
          </a:p>
          <a:p>
            <a:pPr lvl="2"/>
            <a:r>
              <a:rPr lang="en-AU" altLang="en-US" dirty="0"/>
              <a:t>Hardware, System Software, Applications often to meet peak needs.</a:t>
            </a:r>
          </a:p>
          <a:p>
            <a:pPr lvl="1"/>
            <a:r>
              <a:rPr lang="en-AU" altLang="en-US" dirty="0"/>
              <a:t>Install, Configure, Test, Verify, Evaluate</a:t>
            </a:r>
          </a:p>
          <a:p>
            <a:pPr lvl="1"/>
            <a:r>
              <a:rPr lang="en-AU" altLang="en-US" dirty="0"/>
              <a:t>Manage</a:t>
            </a:r>
          </a:p>
          <a:p>
            <a:pPr lvl="1"/>
            <a:r>
              <a:rPr lang="en-AU" altLang="en-US" dirty="0"/>
              <a:t>..</a:t>
            </a:r>
          </a:p>
          <a:p>
            <a:pPr lvl="1"/>
            <a:r>
              <a:rPr lang="en-AU" altLang="en-US" dirty="0"/>
              <a:t>Finally, use it</a:t>
            </a:r>
          </a:p>
          <a:p>
            <a:pPr lvl="1"/>
            <a:r>
              <a:rPr lang="en-AU" altLang="en-US" dirty="0"/>
              <a:t>$$$$....$(High </a:t>
            </a:r>
            <a:r>
              <a:rPr lang="en-AU" altLang="en-US" dirty="0" err="1"/>
              <a:t>CapEx</a:t>
            </a:r>
            <a:r>
              <a:rPr lang="en-AU" altLang="en-US" dirty="0"/>
              <a:t>)</a:t>
            </a:r>
          </a:p>
        </p:txBody>
      </p:sp>
      <p:sp>
        <p:nvSpPr>
          <p:cNvPr id="5" name="Content Placeholder 4"/>
          <p:cNvSpPr>
            <a:spLocks noGrp="1"/>
          </p:cNvSpPr>
          <p:nvPr>
            <p:ph sz="half" idx="2"/>
          </p:nvPr>
        </p:nvSpPr>
        <p:spPr>
          <a:xfrm>
            <a:off x="6172200" y="1502980"/>
            <a:ext cx="5181600" cy="5129048"/>
          </a:xfrm>
        </p:spPr>
        <p:txBody>
          <a:bodyPr/>
          <a:lstStyle/>
          <a:p>
            <a:r>
              <a:rPr lang="en-AU" altLang="en-US" dirty="0"/>
              <a:t>Cloud Computing</a:t>
            </a:r>
          </a:p>
          <a:p>
            <a:pPr lvl="1"/>
            <a:r>
              <a:rPr lang="en-AU" altLang="en-US" dirty="0"/>
              <a:t>Subscribe</a:t>
            </a:r>
          </a:p>
          <a:p>
            <a:pPr lvl="1"/>
            <a:r>
              <a:rPr lang="en-AU" altLang="en-US" dirty="0"/>
              <a:t>Use</a:t>
            </a:r>
          </a:p>
          <a:p>
            <a:pPr lvl="1"/>
            <a:endParaRPr lang="en-AU" altLang="en-US" dirty="0"/>
          </a:p>
          <a:p>
            <a:pPr lvl="1"/>
            <a:endParaRPr lang="en-AU" altLang="en-US" dirty="0"/>
          </a:p>
          <a:p>
            <a:pPr lvl="1"/>
            <a:endParaRPr lang="en-AU" altLang="en-US" dirty="0"/>
          </a:p>
          <a:p>
            <a:pPr lvl="1"/>
            <a:endParaRPr lang="en-AU" altLang="en-US" dirty="0"/>
          </a:p>
          <a:p>
            <a:pPr lvl="1"/>
            <a:endParaRPr lang="en-AU" altLang="en-US" dirty="0"/>
          </a:p>
          <a:p>
            <a:pPr lvl="1"/>
            <a:endParaRPr lang="en-AU" altLang="en-US" dirty="0"/>
          </a:p>
          <a:p>
            <a:pPr lvl="1"/>
            <a:endParaRPr lang="en-AU" altLang="en-US" dirty="0"/>
          </a:p>
          <a:p>
            <a:pPr lvl="1"/>
            <a:endParaRPr lang="en-AU" altLang="en-US" dirty="0"/>
          </a:p>
          <a:p>
            <a:pPr lvl="1"/>
            <a:r>
              <a:rPr lang="en-AU" altLang="en-US" dirty="0"/>
              <a:t>$ - pay for what you use, based on QoS</a:t>
            </a:r>
          </a:p>
        </p:txBody>
      </p:sp>
      <p:grpSp>
        <p:nvGrpSpPr>
          <p:cNvPr id="21509" name="Group 9"/>
          <p:cNvGrpSpPr>
            <a:grpSpLocks/>
          </p:cNvGrpSpPr>
          <p:nvPr/>
        </p:nvGrpSpPr>
        <p:grpSpPr bwMode="auto">
          <a:xfrm>
            <a:off x="247650" y="2628900"/>
            <a:ext cx="1028700" cy="3124200"/>
            <a:chOff x="271046" y="2562896"/>
            <a:chExt cx="1029720" cy="3122837"/>
          </a:xfrm>
        </p:grpSpPr>
        <p:sp>
          <p:nvSpPr>
            <p:cNvPr id="21511" name="Freeform 7"/>
            <p:cNvSpPr>
              <a:spLocks/>
            </p:cNvSpPr>
            <p:nvPr/>
          </p:nvSpPr>
          <p:spPr bwMode="auto">
            <a:xfrm>
              <a:off x="663262" y="2562896"/>
              <a:ext cx="637504" cy="3052293"/>
            </a:xfrm>
            <a:custGeom>
              <a:avLst/>
              <a:gdLst>
                <a:gd name="T0" fmla="*/ 598868 w 637504"/>
                <a:gd name="T1" fmla="*/ 3052293 h 3052293"/>
                <a:gd name="T2" fmla="*/ 6439 w 637504"/>
                <a:gd name="T3" fmla="*/ 1764462 h 3052293"/>
                <a:gd name="T4" fmla="*/ 637504 w 637504"/>
                <a:gd name="T5" fmla="*/ 0 h 3052293"/>
                <a:gd name="T6" fmla="*/ 0 60000 65536"/>
                <a:gd name="T7" fmla="*/ 0 60000 65536"/>
                <a:gd name="T8" fmla="*/ 0 60000 65536"/>
                <a:gd name="T9" fmla="*/ 0 w 637504"/>
                <a:gd name="T10" fmla="*/ 0 h 3052293"/>
                <a:gd name="T11" fmla="*/ 637504 w 637504"/>
                <a:gd name="T12" fmla="*/ 3052293 h 3052293"/>
              </a:gdLst>
              <a:ahLst/>
              <a:cxnLst>
                <a:cxn ang="T6">
                  <a:pos x="T0" y="T1"/>
                </a:cxn>
                <a:cxn ang="T7">
                  <a:pos x="T2" y="T3"/>
                </a:cxn>
                <a:cxn ang="T8">
                  <a:pos x="T4" y="T5"/>
                </a:cxn>
              </a:cxnLst>
              <a:rect l="T9" t="T10" r="T11" b="T12"/>
              <a:pathLst>
                <a:path w="637504" h="3052293">
                  <a:moveTo>
                    <a:pt x="598868" y="3052293"/>
                  </a:moveTo>
                  <a:cubicBezTo>
                    <a:pt x="299434" y="2662706"/>
                    <a:pt x="0" y="2273120"/>
                    <a:pt x="6439" y="1764405"/>
                  </a:cubicBezTo>
                  <a:cubicBezTo>
                    <a:pt x="12878" y="1255690"/>
                    <a:pt x="530180" y="291921"/>
                    <a:pt x="637504" y="0"/>
                  </a:cubicBezTo>
                </a:path>
              </a:pathLst>
            </a:custGeom>
            <a:noFill/>
            <a:ln w="38100" cap="flat" cmpd="sng" algn="ctr">
              <a:solidFill>
                <a:srgbClr val="FF00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lIns="91380" tIns="45692" rIns="91380" bIns="45692" anchor="ctr"/>
            <a:lstStyle/>
            <a:p>
              <a:endParaRPr lang="en-US"/>
            </a:p>
          </p:txBody>
        </p:sp>
        <p:sp>
          <p:nvSpPr>
            <p:cNvPr id="21512" name="TextBox 8"/>
            <p:cNvSpPr txBox="1">
              <a:spLocks noChangeArrowheads="1"/>
            </p:cNvSpPr>
            <p:nvPr/>
          </p:nvSpPr>
          <p:spPr bwMode="auto">
            <a:xfrm rot="5400000" flipH="1" flipV="1">
              <a:off x="-915657" y="4098920"/>
              <a:ext cx="27735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Verdana" panose="020B0604030504040204" pitchFamily="34" charset="0"/>
                  <a:ea typeface="SimSun" panose="02010600030101010101" pitchFamily="2" charset="-122"/>
                </a:defRPr>
              </a:lvl1pPr>
              <a:lvl2pPr marL="742950" indent="-285750" eaLnBrk="0" hangingPunct="0">
                <a:defRPr sz="1200">
                  <a:solidFill>
                    <a:schemeClr val="tx1"/>
                  </a:solidFill>
                  <a:latin typeface="Verdana" panose="020B0604030504040204" pitchFamily="34" charset="0"/>
                  <a:ea typeface="SimSun" panose="02010600030101010101" pitchFamily="2" charset="-122"/>
                </a:defRPr>
              </a:lvl2pPr>
              <a:lvl3pPr marL="1143000" indent="-228600" eaLnBrk="0" hangingPunct="0">
                <a:defRPr sz="1200">
                  <a:solidFill>
                    <a:schemeClr val="tx1"/>
                  </a:solidFill>
                  <a:latin typeface="Verdana" panose="020B0604030504040204" pitchFamily="34" charset="0"/>
                  <a:ea typeface="SimSun" panose="02010600030101010101" pitchFamily="2" charset="-122"/>
                </a:defRPr>
              </a:lvl3pPr>
              <a:lvl4pPr marL="1600200" indent="-228600" eaLnBrk="0" hangingPunct="0">
                <a:defRPr sz="1200">
                  <a:solidFill>
                    <a:schemeClr val="tx1"/>
                  </a:solidFill>
                  <a:latin typeface="Verdana" panose="020B0604030504040204" pitchFamily="34" charset="0"/>
                  <a:ea typeface="SimSun" panose="02010600030101010101" pitchFamily="2" charset="-122"/>
                </a:defRPr>
              </a:lvl4pPr>
              <a:lvl5pPr marL="2057400" indent="-228600" eaLnBrk="0" hangingPunct="0">
                <a:defRPr sz="1200">
                  <a:solidFill>
                    <a:schemeClr val="tx1"/>
                  </a:solidFill>
                  <a:latin typeface="Verdan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9pPr>
            </a:lstStyle>
            <a:p>
              <a:pPr eaLnBrk="1" hangingPunct="1"/>
              <a:r>
                <a:rPr lang="en-AU" altLang="en-US" sz="2000" b="1" dirty="0"/>
                <a:t>Every 18 months?</a:t>
              </a:r>
            </a:p>
          </p:txBody>
        </p:sp>
      </p:grpSp>
      <p:sp>
        <p:nvSpPr>
          <p:cNvPr id="3" name="Slide Number Placeholder 2"/>
          <p:cNvSpPr>
            <a:spLocks noGrp="1"/>
          </p:cNvSpPr>
          <p:nvPr>
            <p:ph type="sldNum" sz="quarter" idx="12"/>
          </p:nvPr>
        </p:nvSpPr>
        <p:spPr/>
        <p:txBody>
          <a:bodyPr/>
          <a:lstStyle/>
          <a:p>
            <a:fld id="{2019AD06-451C-413E-AF31-86503C137FDF}" type="slidenum">
              <a:rPr lang="en-US" smtClean="0"/>
              <a:pPr/>
              <a:t>3</a:t>
            </a:fld>
            <a:endParaRPr lang="en-US"/>
          </a:p>
        </p:txBody>
      </p:sp>
      <p:pic>
        <p:nvPicPr>
          <p:cNvPr id="10" name="Picture 9" descr="Cloud_computing.svg.png"/>
          <p:cNvPicPr>
            <a:picLocks noChangeAspect="1"/>
          </p:cNvPicPr>
          <p:nvPr/>
        </p:nvPicPr>
        <p:blipFill>
          <a:blip r:embed="rId2"/>
          <a:stretch>
            <a:fillRect/>
          </a:stretch>
        </p:blipFill>
        <p:spPr>
          <a:xfrm>
            <a:off x="7315200" y="2123090"/>
            <a:ext cx="3762703" cy="3689131"/>
          </a:xfrm>
          <a:prstGeom prst="rect">
            <a:avLst/>
          </a:prstGeom>
        </p:spPr>
      </p:pic>
    </p:spTree>
    <p:extLst>
      <p:ext uri="{BB962C8B-B14F-4D97-AF65-F5344CB8AC3E}">
        <p14:creationId xmlns:p14="http://schemas.microsoft.com/office/powerpoint/2010/main" val="17480946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
                                            <p:txEl>
                                              <p:pRg st="11" end="11"/>
                                            </p:txEl>
                                          </p:spTgt>
                                        </p:tgtEl>
                                        <p:attrNameLst>
                                          <p:attrName>style.visibility</p:attrName>
                                        </p:attrNameLst>
                                      </p:cBhvr>
                                      <p:to>
                                        <p:strVal val="visible"/>
                                      </p:to>
                                    </p:set>
                                    <p:anim calcmode="lin" valueType="num">
                                      <p:cBhvr additive="base">
                                        <p:cTn id="19"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2"/>
          <p:cNvSpPr>
            <a:spLocks noGrp="1"/>
          </p:cNvSpPr>
          <p:nvPr>
            <p:ph type="title"/>
          </p:nvPr>
        </p:nvSpPr>
        <p:spPr>
          <a:xfrm>
            <a:off x="0" y="5624"/>
            <a:ext cx="12192000" cy="1325563"/>
          </a:xfrm>
          <a:solidFill>
            <a:schemeClr val="accent5"/>
          </a:solidFill>
        </p:spPr>
        <p:txBody>
          <a:bodyPr/>
          <a:lstStyle/>
          <a:p>
            <a:r>
              <a:rPr lang="en-AU" altLang="en-US" dirty="0">
                <a:latin typeface="Verdana" panose="020B0604030504040204" pitchFamily="34" charset="0"/>
                <a:ea typeface="Verdana" panose="020B0604030504040204" pitchFamily="34" charset="0"/>
                <a:cs typeface="Verdana" panose="020B0604030504040204" pitchFamily="34" charset="0"/>
              </a:rPr>
              <a:t>.</a:t>
            </a:r>
          </a:p>
        </p:txBody>
      </p:sp>
      <p:sp>
        <p:nvSpPr>
          <p:cNvPr id="13" name="Rectangle 2"/>
          <p:cNvSpPr txBox="1">
            <a:spLocks noChangeArrowheads="1"/>
          </p:cNvSpPr>
          <p:nvPr/>
        </p:nvSpPr>
        <p:spPr bwMode="auto">
          <a:xfrm>
            <a:off x="1219200" y="177800"/>
            <a:ext cx="77247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0" tIns="45692" rIns="91380" bIns="45692" numCol="1" anchor="ctr" anchorCtr="0" compatLnSpc="1">
            <a:prstTxWarp prst="textNoShape">
              <a:avLst/>
            </a:prstTxWarp>
          </a:bodyPr>
          <a:lstStyle>
            <a:lvl1pPr algn="ctr" rtl="0" eaLnBrk="0" fontAlgn="base" hangingPunct="0">
              <a:spcBef>
                <a:spcPct val="0"/>
              </a:spcBef>
              <a:spcAft>
                <a:spcPct val="0"/>
              </a:spcAft>
              <a:defRPr sz="3600">
                <a:solidFill>
                  <a:srgbClr val="FFFF00"/>
                </a:solidFill>
                <a:latin typeface="+mj-lt"/>
                <a:ea typeface="+mj-ea"/>
                <a:cs typeface="+mj-cs"/>
              </a:defRPr>
            </a:lvl1pPr>
            <a:lvl2pPr algn="ctr" rtl="0" eaLnBrk="0" fontAlgn="base" hangingPunct="0">
              <a:spcBef>
                <a:spcPct val="0"/>
              </a:spcBef>
              <a:spcAft>
                <a:spcPct val="0"/>
              </a:spcAft>
              <a:defRPr sz="3600">
                <a:solidFill>
                  <a:srgbClr val="FFFF00"/>
                </a:solidFill>
                <a:latin typeface="Verdana" pitchFamily="34" charset="0"/>
                <a:ea typeface="SimSun" pitchFamily="2" charset="-122"/>
              </a:defRPr>
            </a:lvl2pPr>
            <a:lvl3pPr algn="ctr" rtl="0" eaLnBrk="0" fontAlgn="base" hangingPunct="0">
              <a:spcBef>
                <a:spcPct val="0"/>
              </a:spcBef>
              <a:spcAft>
                <a:spcPct val="0"/>
              </a:spcAft>
              <a:defRPr sz="3600">
                <a:solidFill>
                  <a:srgbClr val="FFFF00"/>
                </a:solidFill>
                <a:latin typeface="Verdana" pitchFamily="34" charset="0"/>
                <a:ea typeface="SimSun" pitchFamily="2" charset="-122"/>
              </a:defRPr>
            </a:lvl3pPr>
            <a:lvl4pPr algn="ctr" rtl="0" eaLnBrk="0" fontAlgn="base" hangingPunct="0">
              <a:spcBef>
                <a:spcPct val="0"/>
              </a:spcBef>
              <a:spcAft>
                <a:spcPct val="0"/>
              </a:spcAft>
              <a:defRPr sz="3600">
                <a:solidFill>
                  <a:srgbClr val="FFFF00"/>
                </a:solidFill>
                <a:latin typeface="Verdana" pitchFamily="34" charset="0"/>
                <a:ea typeface="SimSun" pitchFamily="2" charset="-122"/>
              </a:defRPr>
            </a:lvl4pPr>
            <a:lvl5pPr algn="ctr" rtl="0" eaLnBrk="0" fontAlgn="base" hangingPunct="0">
              <a:spcBef>
                <a:spcPct val="0"/>
              </a:spcBef>
              <a:spcAft>
                <a:spcPct val="0"/>
              </a:spcAft>
              <a:defRPr sz="3600">
                <a:solidFill>
                  <a:srgbClr val="FFFF00"/>
                </a:solidFill>
                <a:latin typeface="Verdana" pitchFamily="34" charset="0"/>
                <a:ea typeface="SimSun" pitchFamily="2" charset="-122"/>
              </a:defRPr>
            </a:lvl5pPr>
            <a:lvl6pPr marL="457200" algn="ctr" rtl="0" fontAlgn="base">
              <a:spcBef>
                <a:spcPct val="0"/>
              </a:spcBef>
              <a:spcAft>
                <a:spcPct val="0"/>
              </a:spcAft>
              <a:defRPr sz="3600">
                <a:solidFill>
                  <a:srgbClr val="FFFF00"/>
                </a:solidFill>
                <a:latin typeface="Verdana" pitchFamily="34" charset="0"/>
                <a:ea typeface="SimSun" pitchFamily="2" charset="-122"/>
              </a:defRPr>
            </a:lvl6pPr>
            <a:lvl7pPr marL="914400" algn="ctr" rtl="0" fontAlgn="base">
              <a:spcBef>
                <a:spcPct val="0"/>
              </a:spcBef>
              <a:spcAft>
                <a:spcPct val="0"/>
              </a:spcAft>
              <a:defRPr sz="3600">
                <a:solidFill>
                  <a:srgbClr val="FFFF00"/>
                </a:solidFill>
                <a:latin typeface="Verdana" pitchFamily="34" charset="0"/>
                <a:ea typeface="SimSun" pitchFamily="2" charset="-122"/>
              </a:defRPr>
            </a:lvl7pPr>
            <a:lvl8pPr marL="1371600" algn="ctr" rtl="0" fontAlgn="base">
              <a:spcBef>
                <a:spcPct val="0"/>
              </a:spcBef>
              <a:spcAft>
                <a:spcPct val="0"/>
              </a:spcAft>
              <a:defRPr sz="3600">
                <a:solidFill>
                  <a:srgbClr val="FFFF00"/>
                </a:solidFill>
                <a:latin typeface="Verdana" pitchFamily="34" charset="0"/>
                <a:ea typeface="SimSun" pitchFamily="2" charset="-122"/>
              </a:defRPr>
            </a:lvl8pPr>
            <a:lvl9pPr marL="1828800" algn="ctr" rtl="0" fontAlgn="base">
              <a:spcBef>
                <a:spcPct val="0"/>
              </a:spcBef>
              <a:spcAft>
                <a:spcPct val="0"/>
              </a:spcAft>
              <a:defRPr sz="3600">
                <a:solidFill>
                  <a:srgbClr val="FFFF00"/>
                </a:solidFill>
                <a:latin typeface="Verdana" pitchFamily="34" charset="0"/>
                <a:ea typeface="SimSun" pitchFamily="2" charset="-122"/>
              </a:defRPr>
            </a:lvl9pPr>
          </a:lstStyle>
          <a:p>
            <a:pPr lvl="0" eaLnBrk="1" hangingPunct="1"/>
            <a:r>
              <a:rPr kumimoji="0" lang="en-US" altLang="en-US" sz="3200" b="0" i="0" u="none" strike="noStrike" kern="0" cap="none" spc="0" normalizeH="0" baseline="0" noProof="0" dirty="0">
                <a:ln>
                  <a:noFill/>
                </a:ln>
                <a:solidFill>
                  <a:srgbClr val="FFFF00"/>
                </a:solidFill>
                <a:effectLst/>
                <a:uLnTx/>
                <a:uFillTx/>
                <a:latin typeface="Verdana" panose="020B0604030504040204" pitchFamily="34" charset="0"/>
                <a:ea typeface="Verdana" panose="020B0604030504040204" pitchFamily="34" charset="0"/>
                <a:cs typeface="Verdana" panose="020B0604030504040204" pitchFamily="34" charset="0"/>
              </a:rPr>
              <a:t>Definition</a:t>
            </a:r>
            <a:r>
              <a:rPr kumimoji="0" lang="en-US" altLang="en-US" sz="3200" b="0" i="0" u="none" strike="noStrike" kern="0" cap="none" spc="0" normalizeH="0" noProof="0" dirty="0">
                <a:ln>
                  <a:noFill/>
                </a:ln>
                <a:solidFill>
                  <a:srgbClr val="FFFF00"/>
                </a:solidFill>
                <a:effectLst/>
                <a:uLnTx/>
                <a:uFillTx/>
                <a:latin typeface="Verdana" panose="020B0604030504040204" pitchFamily="34" charset="0"/>
                <a:ea typeface="Verdana" panose="020B0604030504040204" pitchFamily="34" charset="0"/>
                <a:cs typeface="Verdana" panose="020B0604030504040204" pitchFamily="34" charset="0"/>
              </a:rPr>
              <a:t> : Cloud Computing</a:t>
            </a:r>
            <a:endParaRPr kumimoji="0" lang="en-US" altLang="en-US" sz="3200" b="0" i="0" u="none" strike="noStrike" kern="0" cap="none" spc="0" normalizeH="0" baseline="0" noProof="0" dirty="0">
              <a:ln>
                <a:noFill/>
              </a:ln>
              <a:solidFill>
                <a:srgbClr val="FFFF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2" name="Content Placeholder 1"/>
          <p:cNvSpPr>
            <a:spLocks noGrp="1"/>
          </p:cNvSpPr>
          <p:nvPr>
            <p:ph sz="half" idx="1"/>
          </p:nvPr>
        </p:nvSpPr>
        <p:spPr>
          <a:xfrm>
            <a:off x="838199" y="1825625"/>
            <a:ext cx="10031569" cy="4351338"/>
          </a:xfrm>
        </p:spPr>
        <p:txBody>
          <a:bodyPr/>
          <a:lstStyle/>
          <a:p>
            <a:pPr marL="0" indent="0">
              <a:buNone/>
            </a:pPr>
            <a:r>
              <a:rPr lang="en-US" b="1" dirty="0" err="1">
                <a:latin typeface="Verdana" panose="020B0604030504040204" pitchFamily="34" charset="0"/>
                <a:ea typeface="Verdana" panose="020B0604030504040204" pitchFamily="34" charset="0"/>
                <a:cs typeface="Verdana" panose="020B0604030504040204" pitchFamily="34" charset="0"/>
                <a:hlinkClick r:id="rId2"/>
              </a:rPr>
              <a:t>Defination</a:t>
            </a:r>
            <a:r>
              <a:rPr lang="en-US" b="1" dirty="0">
                <a:latin typeface="Verdana" panose="020B0604030504040204" pitchFamily="34" charset="0"/>
                <a:ea typeface="Verdana" panose="020B0604030504040204" pitchFamily="34" charset="0"/>
                <a:cs typeface="Verdana" panose="020B0604030504040204" pitchFamily="34" charset="0"/>
                <a:hlinkClick r:id="rId2"/>
              </a:rPr>
              <a:t> for laymen: </a:t>
            </a:r>
            <a:r>
              <a:rPr lang="en-US" dirty="0">
                <a:hlinkClick r:id="rId2"/>
              </a:rPr>
              <a:t>https://www.youtube.com/watch?v=AnxrJiS5uKU</a:t>
            </a:r>
            <a:endParaRPr lang="en-US" dirty="0"/>
          </a:p>
          <a:p>
            <a:pPr marL="0" indent="0">
              <a:buNone/>
            </a:pPr>
            <a:endParaRPr lang="en-US" dirty="0"/>
          </a:p>
        </p:txBody>
      </p:sp>
      <p:pic>
        <p:nvPicPr>
          <p:cNvPr id="7" name="Picture 14" descr="buddy"/>
          <p:cNvPicPr>
            <a:picLocks noChangeAspect="1" noChangeArrowheads="1"/>
          </p:cNvPicPr>
          <p:nvPr/>
        </p:nvPicPr>
        <p:blipFill>
          <a:blip r:embed="rId3"/>
          <a:srcRect/>
          <a:stretch>
            <a:fillRect/>
          </a:stretch>
        </p:blipFill>
        <p:spPr bwMode="auto">
          <a:xfrm>
            <a:off x="8481342" y="-65814"/>
            <a:ext cx="1511300" cy="1468438"/>
          </a:xfrm>
          <a:prstGeom prst="rect">
            <a:avLst/>
          </a:prstGeom>
          <a:noFill/>
          <a:ln w="9525">
            <a:noFill/>
            <a:miter lim="800000"/>
            <a:headEnd/>
            <a:tailEnd/>
          </a:ln>
        </p:spPr>
      </p:pic>
      <p:grpSp>
        <p:nvGrpSpPr>
          <p:cNvPr id="20" name="Group 4"/>
          <p:cNvGrpSpPr>
            <a:grpSpLocks/>
          </p:cNvGrpSpPr>
          <p:nvPr/>
        </p:nvGrpSpPr>
        <p:grpSpPr bwMode="auto">
          <a:xfrm>
            <a:off x="1488584" y="2794226"/>
            <a:ext cx="2717800" cy="2184400"/>
            <a:chOff x="1336" y="1646"/>
            <a:chExt cx="1712" cy="1376"/>
          </a:xfrm>
        </p:grpSpPr>
        <p:sp>
          <p:nvSpPr>
            <p:cNvPr id="21" name="Text Box 5"/>
            <p:cNvSpPr txBox="1">
              <a:spLocks noChangeArrowheads="1"/>
            </p:cNvSpPr>
            <p:nvPr/>
          </p:nvSpPr>
          <p:spPr bwMode="auto">
            <a:xfrm>
              <a:off x="1336" y="2352"/>
              <a:ext cx="1711" cy="670"/>
            </a:xfrm>
            <a:prstGeom prst="rect">
              <a:avLst/>
            </a:prstGeom>
            <a:gradFill rotWithShape="1">
              <a:gsLst>
                <a:gs pos="0">
                  <a:srgbClr val="990000"/>
                </a:gs>
                <a:gs pos="100000">
                  <a:srgbClr val="FF0000"/>
                </a:gs>
              </a:gsLst>
              <a:lin ang="5400000" scaled="1"/>
            </a:gradFill>
            <a:ln w="1905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154800" rIns="73152" bIns="15480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prstClr val="white"/>
                  </a:solidFill>
                  <a:effectLst/>
                  <a:uLnTx/>
                  <a:uFillTx/>
                  <a:ea typeface="宋体" panose="02010600030101010101" pitchFamily="2" charset="-122"/>
                </a:rPr>
                <a:t>The “Cloud” is the default symbol of the internet in diagrams.</a:t>
              </a:r>
            </a:p>
          </p:txBody>
        </p:sp>
        <p:sp>
          <p:nvSpPr>
            <p:cNvPr id="22" name="AutoShape 6"/>
            <p:cNvSpPr>
              <a:spLocks noChangeArrowheads="1"/>
            </p:cNvSpPr>
            <p:nvPr/>
          </p:nvSpPr>
          <p:spPr bwMode="auto">
            <a:xfrm>
              <a:off x="2078" y="1646"/>
              <a:ext cx="970" cy="446"/>
            </a:xfrm>
            <a:prstGeom prst="roundRect">
              <a:avLst>
                <a:gd name="adj" fmla="val 7778"/>
              </a:avLst>
            </a:prstGeom>
            <a:solidFill>
              <a:srgbClr val="FF0000">
                <a:alpha val="8000"/>
              </a:srgbClr>
            </a:solidFill>
            <a:ln w="19050">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Cloud</a:t>
              </a:r>
            </a:p>
          </p:txBody>
        </p:sp>
        <p:sp>
          <p:nvSpPr>
            <p:cNvPr id="23" name="Line 7"/>
            <p:cNvSpPr>
              <a:spLocks noChangeShapeType="1"/>
            </p:cNvSpPr>
            <p:nvPr/>
          </p:nvSpPr>
          <p:spPr bwMode="auto">
            <a:xfrm rot="5400000">
              <a:off x="2435" y="2220"/>
              <a:ext cx="268" cy="2"/>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grpSp>
      <p:grpSp>
        <p:nvGrpSpPr>
          <p:cNvPr id="24" name="Group 8"/>
          <p:cNvGrpSpPr>
            <a:grpSpLocks/>
          </p:cNvGrpSpPr>
          <p:nvPr/>
        </p:nvGrpSpPr>
        <p:grpSpPr bwMode="auto">
          <a:xfrm>
            <a:off x="4398472" y="2791051"/>
            <a:ext cx="3643312" cy="2568575"/>
            <a:chOff x="3112" y="1654"/>
            <a:chExt cx="2199" cy="1618"/>
          </a:xfrm>
        </p:grpSpPr>
        <p:sp>
          <p:nvSpPr>
            <p:cNvPr id="25" name="AutoShape 9"/>
            <p:cNvSpPr>
              <a:spLocks noChangeArrowheads="1"/>
            </p:cNvSpPr>
            <p:nvPr/>
          </p:nvSpPr>
          <p:spPr bwMode="auto">
            <a:xfrm>
              <a:off x="3118" y="1654"/>
              <a:ext cx="1714" cy="438"/>
            </a:xfrm>
            <a:prstGeom prst="roundRect">
              <a:avLst>
                <a:gd name="adj" fmla="val 7778"/>
              </a:avLst>
            </a:prstGeom>
            <a:solidFill>
              <a:srgbClr val="FF0000">
                <a:alpha val="8000"/>
              </a:srgbClr>
            </a:solidFill>
            <a:ln w="19050">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Computing</a:t>
              </a:r>
            </a:p>
          </p:txBody>
        </p:sp>
        <p:sp>
          <p:nvSpPr>
            <p:cNvPr id="26" name="Text Box 10"/>
            <p:cNvSpPr txBox="1">
              <a:spLocks noChangeArrowheads="1"/>
            </p:cNvSpPr>
            <p:nvPr/>
          </p:nvSpPr>
          <p:spPr bwMode="auto">
            <a:xfrm>
              <a:off x="3112" y="2352"/>
              <a:ext cx="2199" cy="920"/>
            </a:xfrm>
            <a:prstGeom prst="rect">
              <a:avLst/>
            </a:prstGeom>
            <a:gradFill rotWithShape="1">
              <a:gsLst>
                <a:gs pos="0">
                  <a:srgbClr val="990000"/>
                </a:gs>
                <a:gs pos="100000">
                  <a:srgbClr val="FF0000"/>
                </a:gs>
              </a:gsLst>
              <a:lin ang="5400000" scaled="1"/>
            </a:gradFill>
            <a:ln w="1905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64592" tIns="154800" rIns="164592" bIns="64008">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prstClr val="white"/>
                  </a:solidFill>
                  <a:effectLst/>
                  <a:uLnTx/>
                  <a:uFillTx/>
                  <a:ea typeface="宋体" panose="02010600030101010101" pitchFamily="2" charset="-122"/>
                </a:rPr>
                <a:t>The broader term of “Computing” encompasses:</a:t>
              </a:r>
            </a:p>
            <a:p>
              <a:pPr marL="0" marR="0" lvl="0" indent="0" defTabSz="914400" eaLnBrk="1" fontAlgn="auto" latinLnBrk="0" hangingPunct="1">
                <a:lnSpc>
                  <a:spcPct val="100000"/>
                </a:lnSpc>
                <a:spcBef>
                  <a:spcPts val="0"/>
                </a:spcBef>
                <a:spcAft>
                  <a:spcPts val="0"/>
                </a:spcAft>
                <a:buClrTx/>
                <a:buSzTx/>
                <a:buFontTx/>
                <a:buChar char="-"/>
                <a:tabLst/>
                <a:defRPr/>
              </a:pPr>
              <a:r>
                <a:rPr kumimoji="0" lang="en-US" altLang="zh-CN" sz="1600" b="1" i="0" u="none" strike="noStrike" kern="0" cap="none" spc="0" normalizeH="0" baseline="0" noProof="0" dirty="0">
                  <a:ln>
                    <a:noFill/>
                  </a:ln>
                  <a:solidFill>
                    <a:prstClr val="white"/>
                  </a:solidFill>
                  <a:effectLst/>
                  <a:uLnTx/>
                  <a:uFillTx/>
                  <a:ea typeface="宋体" panose="02010600030101010101" pitchFamily="2" charset="-122"/>
                </a:rPr>
                <a:t> Computation</a:t>
              </a:r>
            </a:p>
            <a:p>
              <a:pPr marL="0" marR="0" lvl="0" indent="0" defTabSz="914400" eaLnBrk="1" fontAlgn="auto" latinLnBrk="0" hangingPunct="1">
                <a:lnSpc>
                  <a:spcPct val="100000"/>
                </a:lnSpc>
                <a:spcBef>
                  <a:spcPts val="0"/>
                </a:spcBef>
                <a:spcAft>
                  <a:spcPts val="0"/>
                </a:spcAft>
                <a:buClrTx/>
                <a:buSzTx/>
                <a:buFontTx/>
                <a:buChar char="-"/>
                <a:tabLst/>
                <a:defRPr/>
              </a:pPr>
              <a:r>
                <a:rPr kumimoji="0" lang="en-US" altLang="zh-CN" sz="1600" b="1" i="0" u="none" strike="noStrike" kern="0" cap="none" spc="0" normalizeH="0" baseline="0" noProof="0" dirty="0">
                  <a:ln>
                    <a:noFill/>
                  </a:ln>
                  <a:solidFill>
                    <a:prstClr val="white"/>
                  </a:solidFill>
                  <a:effectLst/>
                  <a:uLnTx/>
                  <a:uFillTx/>
                  <a:ea typeface="宋体" panose="02010600030101010101" pitchFamily="2" charset="-122"/>
                </a:rPr>
                <a:t> Coordination logic</a:t>
              </a:r>
            </a:p>
            <a:p>
              <a:pPr marL="0" marR="0" lvl="0" indent="0" defTabSz="914400" eaLnBrk="1" fontAlgn="auto" latinLnBrk="0" hangingPunct="1">
                <a:lnSpc>
                  <a:spcPct val="100000"/>
                </a:lnSpc>
                <a:spcBef>
                  <a:spcPts val="0"/>
                </a:spcBef>
                <a:spcAft>
                  <a:spcPts val="0"/>
                </a:spcAft>
                <a:buClrTx/>
                <a:buSzTx/>
                <a:buFontTx/>
                <a:buChar char="-"/>
                <a:tabLst/>
                <a:defRPr/>
              </a:pPr>
              <a:r>
                <a:rPr kumimoji="0" lang="en-US" altLang="zh-CN" sz="1600" b="1" i="0" u="none" strike="noStrike" kern="0" cap="none" spc="0" normalizeH="0" baseline="0" noProof="0" dirty="0">
                  <a:ln>
                    <a:noFill/>
                  </a:ln>
                  <a:solidFill>
                    <a:prstClr val="white"/>
                  </a:solidFill>
                  <a:effectLst/>
                  <a:uLnTx/>
                  <a:uFillTx/>
                  <a:ea typeface="宋体" panose="02010600030101010101" pitchFamily="2" charset="-122"/>
                </a:rPr>
                <a:t> Storage</a:t>
              </a:r>
            </a:p>
          </p:txBody>
        </p:sp>
        <p:sp>
          <p:nvSpPr>
            <p:cNvPr id="27" name="Line 11"/>
            <p:cNvSpPr>
              <a:spLocks noChangeShapeType="1"/>
            </p:cNvSpPr>
            <p:nvPr/>
          </p:nvSpPr>
          <p:spPr bwMode="auto">
            <a:xfrm rot="5400000">
              <a:off x="3843" y="2220"/>
              <a:ext cx="268" cy="2"/>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grpSp>
      <p:grpSp>
        <p:nvGrpSpPr>
          <p:cNvPr id="28" name="Group 12"/>
          <p:cNvGrpSpPr>
            <a:grpSpLocks/>
          </p:cNvGrpSpPr>
          <p:nvPr/>
        </p:nvGrpSpPr>
        <p:grpSpPr bwMode="auto">
          <a:xfrm>
            <a:off x="2098184" y="5629501"/>
            <a:ext cx="5878513" cy="1101725"/>
            <a:chOff x="1328" y="3192"/>
            <a:chExt cx="3703" cy="694"/>
          </a:xfrm>
        </p:grpSpPr>
        <p:sp>
          <p:nvSpPr>
            <p:cNvPr id="29" name="Text Box 13"/>
            <p:cNvSpPr txBox="1">
              <a:spLocks noChangeArrowheads="1"/>
            </p:cNvSpPr>
            <p:nvPr/>
          </p:nvSpPr>
          <p:spPr bwMode="auto">
            <a:xfrm>
              <a:off x="1328" y="3208"/>
              <a:ext cx="3351" cy="446"/>
            </a:xfrm>
            <a:prstGeom prst="rect">
              <a:avLst/>
            </a:prstGeom>
            <a:gradFill rotWithShape="1">
              <a:gsLst>
                <a:gs pos="0">
                  <a:srgbClr val="0A5804"/>
                </a:gs>
                <a:gs pos="100000">
                  <a:srgbClr val="009900"/>
                </a:gs>
              </a:gsLst>
              <a:lin ang="5400000" scaled="1"/>
            </a:gradFill>
            <a:ln w="9525" algn="ctr">
              <a:solidFill>
                <a:srgbClr val="0A5804"/>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2880" tIns="137160" rIns="548640" bIns="137160">
              <a:spAutoFit/>
            </a:bodyPr>
            <a:lstStyle/>
            <a:p>
              <a:pPr algn="ctr"/>
              <a:r>
                <a:rPr lang="en-US" altLang="zh-CN" sz="1400" b="1" dirty="0">
                  <a:solidFill>
                    <a:prstClr val="white"/>
                  </a:solidFill>
                  <a:ea typeface="宋体" panose="02010600030101010101" pitchFamily="2" charset="-122"/>
                </a:rPr>
                <a:t>Cloud Computing is about moving computing from the single desktop pc/data centers to the internet.</a:t>
              </a:r>
            </a:p>
          </p:txBody>
        </p:sp>
        <p:pic>
          <p:nvPicPr>
            <p:cNvPr id="30" name="Picture 14" descr="MCj0429827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919217">
              <a:off x="4360" y="3192"/>
              <a:ext cx="671" cy="694"/>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Slide Number Placeholder 3"/>
          <p:cNvSpPr>
            <a:spLocks noGrp="1"/>
          </p:cNvSpPr>
          <p:nvPr>
            <p:ph type="sldNum" sz="quarter" idx="12"/>
          </p:nvPr>
        </p:nvSpPr>
        <p:spPr/>
        <p:txBody>
          <a:bodyPr/>
          <a:lstStyle/>
          <a:p>
            <a:fld id="{2019AD06-451C-413E-AF31-86503C137FDF}" type="slidenum">
              <a:rPr lang="en-US" smtClean="0"/>
              <a:pPr/>
              <a:t>4</a:t>
            </a:fld>
            <a:endParaRPr lang="en-US"/>
          </a:p>
        </p:txBody>
      </p:sp>
    </p:spTree>
    <p:extLst>
      <p:ext uri="{BB962C8B-B14F-4D97-AF65-F5344CB8AC3E}">
        <p14:creationId xmlns:p14="http://schemas.microsoft.com/office/powerpoint/2010/main" val="1576753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0-#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ppt_x"/>
                                          </p:val>
                                        </p:tav>
                                        <p:tav tm="100000">
                                          <p:val>
                                            <p:strVal val="#ppt_x"/>
                                          </p:val>
                                        </p:tav>
                                      </p:tavLst>
                                    </p:anim>
                                    <p:anim calcmode="lin" valueType="num">
                                      <p:cBhvr additive="base">
                                        <p:cTn id="1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2"/>
          <p:cNvSpPr>
            <a:spLocks noGrp="1"/>
          </p:cNvSpPr>
          <p:nvPr>
            <p:ph type="title"/>
          </p:nvPr>
        </p:nvSpPr>
        <p:spPr>
          <a:xfrm>
            <a:off x="0" y="5624"/>
            <a:ext cx="12192000" cy="1325563"/>
          </a:xfrm>
          <a:solidFill>
            <a:schemeClr val="accent5"/>
          </a:solidFill>
        </p:spPr>
        <p:txBody>
          <a:bodyPr/>
          <a:lstStyle/>
          <a:p>
            <a:r>
              <a:rPr lang="en-AU" altLang="en-US" dirty="0">
                <a:latin typeface="Verdana" panose="020B0604030504040204" pitchFamily="34" charset="0"/>
                <a:ea typeface="Verdana" panose="020B0604030504040204" pitchFamily="34" charset="0"/>
                <a:cs typeface="Verdana" panose="020B0604030504040204" pitchFamily="34" charset="0"/>
              </a:rPr>
              <a:t>.</a:t>
            </a:r>
          </a:p>
        </p:txBody>
      </p:sp>
      <p:sp>
        <p:nvSpPr>
          <p:cNvPr id="7" name="Rectangle 2"/>
          <p:cNvSpPr txBox="1">
            <a:spLocks noChangeArrowheads="1"/>
          </p:cNvSpPr>
          <p:nvPr/>
        </p:nvSpPr>
        <p:spPr bwMode="auto">
          <a:xfrm>
            <a:off x="1219200" y="177800"/>
            <a:ext cx="77247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0" tIns="45692" rIns="91380" bIns="45692" numCol="1" anchor="ctr" anchorCtr="0" compatLnSpc="1">
            <a:prstTxWarp prst="textNoShape">
              <a:avLst/>
            </a:prstTxWarp>
          </a:bodyPr>
          <a:lstStyle>
            <a:lvl1pPr algn="ctr" rtl="0" eaLnBrk="0" fontAlgn="base" hangingPunct="0">
              <a:spcBef>
                <a:spcPct val="0"/>
              </a:spcBef>
              <a:spcAft>
                <a:spcPct val="0"/>
              </a:spcAft>
              <a:defRPr sz="3600">
                <a:solidFill>
                  <a:srgbClr val="FFFF00"/>
                </a:solidFill>
                <a:latin typeface="+mj-lt"/>
                <a:ea typeface="+mj-ea"/>
                <a:cs typeface="+mj-cs"/>
              </a:defRPr>
            </a:lvl1pPr>
            <a:lvl2pPr algn="ctr" rtl="0" eaLnBrk="0" fontAlgn="base" hangingPunct="0">
              <a:spcBef>
                <a:spcPct val="0"/>
              </a:spcBef>
              <a:spcAft>
                <a:spcPct val="0"/>
              </a:spcAft>
              <a:defRPr sz="3600">
                <a:solidFill>
                  <a:srgbClr val="FFFF00"/>
                </a:solidFill>
                <a:latin typeface="Verdana" pitchFamily="34" charset="0"/>
                <a:ea typeface="SimSun" pitchFamily="2" charset="-122"/>
              </a:defRPr>
            </a:lvl2pPr>
            <a:lvl3pPr algn="ctr" rtl="0" eaLnBrk="0" fontAlgn="base" hangingPunct="0">
              <a:spcBef>
                <a:spcPct val="0"/>
              </a:spcBef>
              <a:spcAft>
                <a:spcPct val="0"/>
              </a:spcAft>
              <a:defRPr sz="3600">
                <a:solidFill>
                  <a:srgbClr val="FFFF00"/>
                </a:solidFill>
                <a:latin typeface="Verdana" pitchFamily="34" charset="0"/>
                <a:ea typeface="SimSun" pitchFamily="2" charset="-122"/>
              </a:defRPr>
            </a:lvl3pPr>
            <a:lvl4pPr algn="ctr" rtl="0" eaLnBrk="0" fontAlgn="base" hangingPunct="0">
              <a:spcBef>
                <a:spcPct val="0"/>
              </a:spcBef>
              <a:spcAft>
                <a:spcPct val="0"/>
              </a:spcAft>
              <a:defRPr sz="3600">
                <a:solidFill>
                  <a:srgbClr val="FFFF00"/>
                </a:solidFill>
                <a:latin typeface="Verdana" pitchFamily="34" charset="0"/>
                <a:ea typeface="SimSun" pitchFamily="2" charset="-122"/>
              </a:defRPr>
            </a:lvl4pPr>
            <a:lvl5pPr algn="ctr" rtl="0" eaLnBrk="0" fontAlgn="base" hangingPunct="0">
              <a:spcBef>
                <a:spcPct val="0"/>
              </a:spcBef>
              <a:spcAft>
                <a:spcPct val="0"/>
              </a:spcAft>
              <a:defRPr sz="3600">
                <a:solidFill>
                  <a:srgbClr val="FFFF00"/>
                </a:solidFill>
                <a:latin typeface="Verdana" pitchFamily="34" charset="0"/>
                <a:ea typeface="SimSun" pitchFamily="2" charset="-122"/>
              </a:defRPr>
            </a:lvl5pPr>
            <a:lvl6pPr marL="457200" algn="ctr" rtl="0" fontAlgn="base">
              <a:spcBef>
                <a:spcPct val="0"/>
              </a:spcBef>
              <a:spcAft>
                <a:spcPct val="0"/>
              </a:spcAft>
              <a:defRPr sz="3600">
                <a:solidFill>
                  <a:srgbClr val="FFFF00"/>
                </a:solidFill>
                <a:latin typeface="Verdana" pitchFamily="34" charset="0"/>
                <a:ea typeface="SimSun" pitchFamily="2" charset="-122"/>
              </a:defRPr>
            </a:lvl6pPr>
            <a:lvl7pPr marL="914400" algn="ctr" rtl="0" fontAlgn="base">
              <a:spcBef>
                <a:spcPct val="0"/>
              </a:spcBef>
              <a:spcAft>
                <a:spcPct val="0"/>
              </a:spcAft>
              <a:defRPr sz="3600">
                <a:solidFill>
                  <a:srgbClr val="FFFF00"/>
                </a:solidFill>
                <a:latin typeface="Verdana" pitchFamily="34" charset="0"/>
                <a:ea typeface="SimSun" pitchFamily="2" charset="-122"/>
              </a:defRPr>
            </a:lvl7pPr>
            <a:lvl8pPr marL="1371600" algn="ctr" rtl="0" fontAlgn="base">
              <a:spcBef>
                <a:spcPct val="0"/>
              </a:spcBef>
              <a:spcAft>
                <a:spcPct val="0"/>
              </a:spcAft>
              <a:defRPr sz="3600">
                <a:solidFill>
                  <a:srgbClr val="FFFF00"/>
                </a:solidFill>
                <a:latin typeface="Verdana" pitchFamily="34" charset="0"/>
                <a:ea typeface="SimSun" pitchFamily="2" charset="-122"/>
              </a:defRPr>
            </a:lvl8pPr>
            <a:lvl9pPr marL="1828800" algn="ctr" rtl="0" fontAlgn="base">
              <a:spcBef>
                <a:spcPct val="0"/>
              </a:spcBef>
              <a:spcAft>
                <a:spcPct val="0"/>
              </a:spcAft>
              <a:defRPr sz="3600">
                <a:solidFill>
                  <a:srgbClr val="FFFF00"/>
                </a:solidFill>
                <a:latin typeface="Verdana" pitchFamily="34" charset="0"/>
                <a:ea typeface="SimSun"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AU" altLang="en-US" sz="3200" b="0" i="0" u="none" strike="noStrike" kern="0" cap="none" spc="0" normalizeH="0" baseline="0" noProof="0">
                <a:ln>
                  <a:noFill/>
                </a:ln>
                <a:solidFill>
                  <a:srgbClr val="FFFF00"/>
                </a:solidFill>
                <a:effectLst/>
                <a:uLnTx/>
                <a:uFillTx/>
                <a:latin typeface="Verdana"/>
                <a:ea typeface="SimSun"/>
                <a:cs typeface="+mj-cs"/>
              </a:rPr>
              <a:t>Defining Clouds: There are many views for what is cloud computing?</a:t>
            </a:r>
            <a:endParaRPr kumimoji="0" lang="en-US" altLang="en-US" sz="3200" b="0" i="0" u="none" strike="noStrike" kern="0" cap="none" spc="0" normalizeH="0" baseline="0" noProof="0" dirty="0">
              <a:ln>
                <a:noFill/>
              </a:ln>
              <a:solidFill>
                <a:srgbClr val="FFFF00"/>
              </a:solidFill>
              <a:effectLst/>
              <a:uLnTx/>
              <a:uFillTx/>
              <a:latin typeface="Verdana"/>
              <a:ea typeface="SimSun"/>
              <a:cs typeface="+mj-cs"/>
            </a:endParaRPr>
          </a:p>
        </p:txBody>
      </p:sp>
      <p:sp>
        <p:nvSpPr>
          <p:cNvPr id="9" name="Rectangle 3"/>
          <p:cNvSpPr txBox="1">
            <a:spLocks noChangeArrowheads="1"/>
          </p:cNvSpPr>
          <p:nvPr/>
        </p:nvSpPr>
        <p:spPr bwMode="auto">
          <a:xfrm>
            <a:off x="553792" y="1503362"/>
            <a:ext cx="11270345" cy="5086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0" tIns="45692" rIns="91380" bIns="45692" numCol="1" anchor="t" anchorCtr="0" compatLnSpc="1">
            <a:prstTxWarp prst="textNoShape">
              <a:avLst/>
            </a:prstTxWarp>
          </a:bodyPr>
          <a:lstStyle>
            <a:lvl1pPr marL="342900" indent="-342900" algn="l" rtl="0" eaLnBrk="0" fontAlgn="base" hangingPunct="0">
              <a:spcBef>
                <a:spcPct val="20000"/>
              </a:spcBef>
              <a:spcAft>
                <a:spcPct val="0"/>
              </a:spcAft>
              <a:buClr>
                <a:schemeClr val="accent2"/>
              </a:buClr>
              <a:buSzPct val="60000"/>
              <a:buFont typeface="Wingdings" panose="05000000000000000000" pitchFamily="2" charset="2"/>
              <a:buChar char="n"/>
              <a:defRPr sz="28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000">
                <a:solidFill>
                  <a:schemeClr val="tx1"/>
                </a:solidFill>
                <a:latin typeface="Times New Roman" pitchFamily="18" charset="0"/>
                <a:ea typeface="+mn-ea"/>
                <a:cs typeface="Times New Roman" pitchFamily="18" charset="0"/>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imes New Roman" pitchFamily="18" charset="0"/>
                <a:ea typeface="+mn-ea"/>
                <a:cs typeface="Times New Roman" pitchFamily="18" charset="0"/>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itchFamily="18" charset="0"/>
                <a:ea typeface="+mn-ea"/>
                <a:cs typeface="Times New Roman" pitchFamily="18" charset="0"/>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imes New Roman" pitchFamily="18" charset="0"/>
                <a:ea typeface="+mn-ea"/>
                <a:cs typeface="Times New Roman" pitchFamily="18" charset="0"/>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imes New Roman" pitchFamily="18" charset="0"/>
                <a:ea typeface="+mn-ea"/>
                <a:cs typeface="Times New Roman" pitchFamily="18" charset="0"/>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imes New Roman" pitchFamily="18" charset="0"/>
                <a:ea typeface="+mn-ea"/>
                <a:cs typeface="Times New Roman" pitchFamily="18" charset="0"/>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imes New Roman" pitchFamily="18" charset="0"/>
                <a:ea typeface="+mn-ea"/>
                <a:cs typeface="Times New Roman" pitchFamily="18" charset="0"/>
              </a:defRPr>
            </a:lvl9pPr>
          </a:lstStyle>
          <a:p>
            <a:pPr marL="342900" marR="0" lvl="0" indent="-342900" algn="l" defTabSz="914400" rtl="0" eaLnBrk="1" fontAlgn="base" latinLnBrk="0" hangingPunct="1">
              <a:lnSpc>
                <a:spcPct val="100000"/>
              </a:lnSpc>
              <a:spcBef>
                <a:spcPct val="20000"/>
              </a:spcBef>
              <a:spcAft>
                <a:spcPct val="0"/>
              </a:spcAft>
              <a:buClr>
                <a:srgbClr val="FFCF01"/>
              </a:buClr>
              <a:buSzPct val="60000"/>
              <a:buFont typeface="Wingdings" panose="05000000000000000000" pitchFamily="2" charset="2"/>
              <a:buChar char="n"/>
              <a:tabLst/>
              <a:defRPr/>
            </a:pPr>
            <a:r>
              <a:rPr kumimoji="0" lang="en-AU" altLang="en-US" sz="2400" b="0" i="0" u="none" strike="noStrike" kern="0" cap="none" spc="0" normalizeH="0" baseline="0" noProof="0" dirty="0">
                <a:ln>
                  <a:noFill/>
                </a:ln>
                <a:solidFill>
                  <a:srgbClr val="0000FF"/>
                </a:solidFill>
                <a:effectLst/>
                <a:uLnTx/>
                <a:uFillTx/>
                <a:latin typeface="Tahoma"/>
                <a:ea typeface="SimSun"/>
                <a:cs typeface="Tahoma"/>
              </a:rPr>
              <a:t>NIST</a:t>
            </a:r>
            <a:r>
              <a:rPr kumimoji="0" lang="en-AU" altLang="en-US" sz="2400" b="0" i="0" u="none" strike="noStrike" kern="0" cap="none" spc="0" normalizeH="0" noProof="0" dirty="0">
                <a:ln>
                  <a:noFill/>
                </a:ln>
                <a:solidFill>
                  <a:srgbClr val="0000FF"/>
                </a:solidFill>
                <a:effectLst/>
                <a:uLnTx/>
                <a:uFillTx/>
                <a:latin typeface="Tahoma"/>
                <a:ea typeface="SimSun"/>
                <a:cs typeface="Tahoma"/>
              </a:rPr>
              <a:t> DEFINITION</a:t>
            </a:r>
            <a:r>
              <a:rPr kumimoji="0" lang="en-AU" altLang="en-US" sz="2400" b="0" i="0" u="none" strike="noStrike" kern="0" cap="none" spc="0" normalizeH="0" baseline="0" noProof="0" dirty="0">
                <a:ln>
                  <a:noFill/>
                </a:ln>
                <a:solidFill>
                  <a:srgbClr val="0000FF"/>
                </a:solidFill>
                <a:effectLst/>
                <a:uLnTx/>
                <a:uFillTx/>
                <a:latin typeface="Tahoma"/>
                <a:ea typeface="SimSun"/>
                <a:cs typeface="Tahoma"/>
              </a:rPr>
              <a:t>:</a:t>
            </a:r>
          </a:p>
          <a:p>
            <a:pPr lvl="1" indent="-342900" algn="just" eaLnBrk="1" hangingPunct="1">
              <a:buClr>
                <a:srgbClr val="FFCF01"/>
              </a:buClr>
              <a:buSzPct val="60000"/>
              <a:buNone/>
              <a:defRPr/>
            </a:pPr>
            <a:r>
              <a:rPr lang="en-AU" altLang="en-US" sz="2000" kern="0" dirty="0">
                <a:latin typeface="Tahoma"/>
                <a:ea typeface="SimSun"/>
                <a:cs typeface="Tahoma"/>
              </a:rPr>
              <a:t>	</a:t>
            </a:r>
            <a:r>
              <a:rPr lang="en-AU" altLang="en-US" sz="2000" kern="0" dirty="0" err="1">
                <a:solidFill>
                  <a:schemeClr val="tx1"/>
                </a:solidFill>
                <a:latin typeface="Tahoma"/>
                <a:ea typeface="SimSun"/>
                <a:cs typeface="Tahoma"/>
              </a:rPr>
              <a:t>Accoprding</a:t>
            </a:r>
            <a:r>
              <a:rPr lang="en-AU" altLang="en-US" sz="2000" kern="0" dirty="0">
                <a:solidFill>
                  <a:schemeClr val="tx1"/>
                </a:solidFill>
                <a:latin typeface="Tahoma"/>
                <a:ea typeface="SimSun"/>
                <a:cs typeface="Tahoma"/>
              </a:rPr>
              <a:t> to NIST Special Publication 800-145, “Cloud computing is a model for enabling ubiquitous, convenient, on-demand network access to a shared pool of configurable computing resources (e.g. Networks, storage, memory, servers, applications, services etc.) that can be rapidly provisioned and de-provisioned with minimal management effort or service provider interaction.”</a:t>
            </a:r>
            <a:endParaRPr kumimoji="0" lang="en-AU" altLang="en-US" sz="2000" b="0" i="0" u="none" strike="noStrike" kern="0" cap="none" spc="0" normalizeH="0" baseline="0" noProof="0" dirty="0">
              <a:ln>
                <a:noFill/>
              </a:ln>
              <a:solidFill>
                <a:schemeClr val="tx1"/>
              </a:solidFill>
              <a:effectLst/>
              <a:uLnTx/>
              <a:uFillTx/>
              <a:latin typeface="Tahoma"/>
              <a:ea typeface="SimSun"/>
              <a:cs typeface="Tahoma"/>
            </a:endParaRPr>
          </a:p>
          <a:p>
            <a:pPr marL="342900" marR="0" lvl="0" indent="-342900" algn="l" defTabSz="914400" rtl="0" eaLnBrk="1" fontAlgn="base" latinLnBrk="0" hangingPunct="1">
              <a:lnSpc>
                <a:spcPct val="100000"/>
              </a:lnSpc>
              <a:spcBef>
                <a:spcPct val="20000"/>
              </a:spcBef>
              <a:spcAft>
                <a:spcPct val="0"/>
              </a:spcAft>
              <a:buClr>
                <a:srgbClr val="FFCF01"/>
              </a:buClr>
              <a:buSzPct val="60000"/>
              <a:buFont typeface="Wingdings" panose="05000000000000000000" pitchFamily="2" charset="2"/>
              <a:buChar char="n"/>
              <a:tabLst/>
              <a:defRPr/>
            </a:pPr>
            <a:r>
              <a:rPr kumimoji="0" lang="en-AU" altLang="en-US" sz="2400" b="0" i="0" u="none" strike="noStrike" kern="0" cap="none" spc="0" normalizeH="0" baseline="0" noProof="0" dirty="0" err="1">
                <a:ln>
                  <a:noFill/>
                </a:ln>
                <a:solidFill>
                  <a:srgbClr val="0000FF"/>
                </a:solidFill>
                <a:effectLst/>
                <a:uLnTx/>
                <a:uFillTx/>
                <a:latin typeface="Tahoma"/>
                <a:ea typeface="SimSun"/>
                <a:cs typeface="Tahoma"/>
              </a:rPr>
              <a:t>Buyya’s</a:t>
            </a:r>
            <a:r>
              <a:rPr kumimoji="0" lang="en-AU" altLang="en-US" sz="2400" b="0" i="0" u="none" strike="noStrike" kern="0" cap="none" spc="0" normalizeH="0" baseline="0" noProof="0" dirty="0">
                <a:ln>
                  <a:noFill/>
                </a:ln>
                <a:solidFill>
                  <a:srgbClr val="0000FF"/>
                </a:solidFill>
                <a:effectLst/>
                <a:uLnTx/>
                <a:uFillTx/>
                <a:latin typeface="Tahoma"/>
                <a:ea typeface="SimSun"/>
                <a:cs typeface="Tahoma"/>
              </a:rPr>
              <a:t> Scientific definition of Cloud Computing </a:t>
            </a:r>
            <a:r>
              <a:rPr kumimoji="0" lang="en-AU" altLang="en-US" sz="2400" b="0" i="0" u="none" strike="noStrike" kern="0" cap="none" spc="0" normalizeH="0" baseline="0" noProof="0" dirty="0">
                <a:ln>
                  <a:noFill/>
                </a:ln>
                <a:solidFill>
                  <a:srgbClr val="0000FF"/>
                </a:solidFill>
                <a:effectLst/>
                <a:uLnTx/>
                <a:uFillTx/>
                <a:latin typeface="Tahoma"/>
                <a:ea typeface="SimSun"/>
                <a:cs typeface="Tahoma"/>
                <a:sym typeface="Wingdings" panose="05000000000000000000" pitchFamily="2" charset="2"/>
              </a:rPr>
              <a:t></a:t>
            </a:r>
            <a:endParaRPr kumimoji="0" lang="en-US" altLang="en-US" sz="2400" b="0" i="0" u="none" strike="noStrike" kern="0" cap="none" spc="0" normalizeH="0" baseline="0" noProof="0" dirty="0">
              <a:ln>
                <a:noFill/>
              </a:ln>
              <a:solidFill>
                <a:srgbClr val="0000FF"/>
              </a:solidFill>
              <a:effectLst/>
              <a:uLnTx/>
              <a:uFillTx/>
              <a:latin typeface="Tahoma"/>
              <a:ea typeface="SimSun"/>
              <a:cs typeface="Tahoma"/>
            </a:endParaRPr>
          </a:p>
          <a:p>
            <a:pPr marL="742950" marR="0" lvl="1" indent="-285750" algn="just"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US" altLang="en-US" sz="2000" b="0" i="0" u="none" strike="noStrike" kern="0" cap="none" spc="0" normalizeH="0" baseline="0" noProof="0" dirty="0">
                <a:ln>
                  <a:noFill/>
                </a:ln>
                <a:solidFill>
                  <a:srgbClr val="000000"/>
                </a:solidFill>
                <a:effectLst/>
                <a:uLnTx/>
                <a:uFillTx/>
                <a:latin typeface="Arial" pitchFamily="34" charset="0"/>
                <a:ea typeface="SimSun"/>
                <a:cs typeface="Arial" pitchFamily="34" charset="0"/>
              </a:rPr>
              <a:t>“Cloud is a </a:t>
            </a:r>
            <a:r>
              <a:rPr kumimoji="0" lang="en-US" altLang="en-US" sz="2000" b="1" i="0" u="none" strike="noStrike" kern="0" cap="none" spc="0" normalizeH="0" baseline="0" noProof="0" dirty="0">
                <a:ln>
                  <a:noFill/>
                </a:ln>
                <a:solidFill>
                  <a:srgbClr val="FF0000"/>
                </a:solidFill>
                <a:effectLst/>
                <a:uLnTx/>
                <a:uFillTx/>
                <a:latin typeface="Arial" pitchFamily="34" charset="0"/>
                <a:ea typeface="SimSun"/>
                <a:cs typeface="Arial" pitchFamily="34" charset="0"/>
              </a:rPr>
              <a:t>market-oriented</a:t>
            </a:r>
            <a:r>
              <a:rPr kumimoji="0" lang="en-US" altLang="en-US" sz="2000" b="0" i="0" u="none" strike="noStrike" kern="0" cap="none" spc="0" normalizeH="0" baseline="0" noProof="0" dirty="0">
                <a:ln>
                  <a:noFill/>
                </a:ln>
                <a:solidFill>
                  <a:srgbClr val="000000"/>
                </a:solidFill>
                <a:effectLst/>
                <a:uLnTx/>
                <a:uFillTx/>
                <a:latin typeface="Arial" pitchFamily="34" charset="0"/>
                <a:ea typeface="SimSun"/>
                <a:cs typeface="Arial" pitchFamily="34" charset="0"/>
              </a:rPr>
              <a:t> distributed computing system consisting of a collection of inter-connected and </a:t>
            </a:r>
            <a:r>
              <a:rPr kumimoji="0" lang="en-US" altLang="en-US" sz="2000" b="1" i="0" u="sng" strike="noStrike" kern="0" cap="none" spc="0" normalizeH="0" baseline="0" noProof="0" dirty="0" err="1">
                <a:ln>
                  <a:noFill/>
                </a:ln>
                <a:solidFill>
                  <a:srgbClr val="FF0000"/>
                </a:solidFill>
                <a:effectLst/>
                <a:uLnTx/>
                <a:uFillTx/>
                <a:latin typeface="Arial" pitchFamily="34" charset="0"/>
                <a:ea typeface="SimSun"/>
                <a:cs typeface="Arial" pitchFamily="34" charset="0"/>
              </a:rPr>
              <a:t>virtualised</a:t>
            </a:r>
            <a:r>
              <a:rPr kumimoji="0" lang="en-US" altLang="en-US" sz="2000" b="1" i="0" u="none" strike="noStrike" kern="0" cap="none" spc="0" normalizeH="0" baseline="0" noProof="0" dirty="0">
                <a:ln>
                  <a:noFill/>
                </a:ln>
                <a:solidFill>
                  <a:srgbClr val="000000"/>
                </a:solidFill>
                <a:effectLst/>
                <a:uLnTx/>
                <a:uFillTx/>
                <a:latin typeface="Arial" pitchFamily="34" charset="0"/>
                <a:ea typeface="SimSun"/>
                <a:cs typeface="Arial" pitchFamily="34" charset="0"/>
              </a:rPr>
              <a:t> </a:t>
            </a:r>
            <a:r>
              <a:rPr kumimoji="0" lang="en-US" altLang="en-US" sz="2000" b="0" i="0" u="none" strike="noStrike" kern="0" cap="none" spc="0" normalizeH="0" baseline="0" noProof="0" dirty="0">
                <a:ln>
                  <a:noFill/>
                </a:ln>
                <a:solidFill>
                  <a:srgbClr val="000000"/>
                </a:solidFill>
                <a:effectLst/>
                <a:uLnTx/>
                <a:uFillTx/>
                <a:latin typeface="Arial" pitchFamily="34" charset="0"/>
                <a:ea typeface="SimSun"/>
                <a:cs typeface="Arial" pitchFamily="34" charset="0"/>
              </a:rPr>
              <a:t>computers that are </a:t>
            </a:r>
            <a:r>
              <a:rPr kumimoji="0" lang="en-US" altLang="en-US" sz="2000" b="1" i="0" u="sng" strike="noStrike" kern="0" cap="none" spc="0" normalizeH="0" baseline="0" noProof="0" dirty="0">
                <a:ln>
                  <a:noFill/>
                </a:ln>
                <a:solidFill>
                  <a:srgbClr val="FF0000"/>
                </a:solidFill>
                <a:effectLst/>
                <a:uLnTx/>
                <a:uFillTx/>
                <a:latin typeface="Arial" pitchFamily="34" charset="0"/>
                <a:ea typeface="SimSun"/>
                <a:cs typeface="Arial" pitchFamily="34" charset="0"/>
              </a:rPr>
              <a:t>dynamically provisioned</a:t>
            </a:r>
            <a:r>
              <a:rPr kumimoji="0" lang="en-US" altLang="en-US" sz="2000" b="0" i="0" u="none" strike="noStrike" kern="0" cap="none" spc="0" normalizeH="0" baseline="0" noProof="0" dirty="0">
                <a:ln>
                  <a:noFill/>
                </a:ln>
                <a:solidFill>
                  <a:srgbClr val="FF0000"/>
                </a:solidFill>
                <a:effectLst/>
                <a:uLnTx/>
                <a:uFillTx/>
                <a:latin typeface="Arial" pitchFamily="34" charset="0"/>
                <a:ea typeface="SimSun"/>
                <a:cs typeface="Arial" pitchFamily="34" charset="0"/>
              </a:rPr>
              <a:t> </a:t>
            </a:r>
            <a:r>
              <a:rPr kumimoji="0" lang="en-US" altLang="en-US" sz="2000" b="0" i="0" u="none" strike="noStrike" kern="0" cap="none" spc="0" normalizeH="0" baseline="0" noProof="0" dirty="0">
                <a:ln>
                  <a:noFill/>
                </a:ln>
                <a:solidFill>
                  <a:srgbClr val="000000"/>
                </a:solidFill>
                <a:effectLst/>
                <a:uLnTx/>
                <a:uFillTx/>
                <a:latin typeface="Arial" pitchFamily="34" charset="0"/>
                <a:ea typeface="SimSun"/>
                <a:cs typeface="Arial" pitchFamily="34" charset="0"/>
              </a:rPr>
              <a:t>and presented as one or more unified computing resources based on </a:t>
            </a:r>
            <a:r>
              <a:rPr kumimoji="0" lang="en-US" altLang="en-US" sz="2000" b="1" i="0" u="sng" strike="noStrike" kern="0" cap="none" spc="0" normalizeH="0" baseline="0" noProof="0" dirty="0">
                <a:ln>
                  <a:noFill/>
                </a:ln>
                <a:solidFill>
                  <a:srgbClr val="FF0000"/>
                </a:solidFill>
                <a:effectLst/>
                <a:uLnTx/>
                <a:uFillTx/>
                <a:latin typeface="Arial" pitchFamily="34" charset="0"/>
                <a:ea typeface="SimSun"/>
                <a:cs typeface="Arial" pitchFamily="34" charset="0"/>
              </a:rPr>
              <a:t>service-level agreements (SLAs)</a:t>
            </a:r>
            <a:r>
              <a:rPr kumimoji="0" lang="en-US" altLang="en-US" sz="2000" b="0" i="0" u="none" strike="noStrike" kern="0" cap="none" spc="0" normalizeH="0" baseline="0" noProof="0" dirty="0">
                <a:ln>
                  <a:noFill/>
                </a:ln>
                <a:solidFill>
                  <a:srgbClr val="000000"/>
                </a:solidFill>
                <a:effectLst/>
                <a:uLnTx/>
                <a:uFillTx/>
                <a:latin typeface="Arial" pitchFamily="34" charset="0"/>
                <a:ea typeface="SimSun"/>
                <a:cs typeface="Arial" pitchFamily="34" charset="0"/>
              </a:rPr>
              <a:t> established through </a:t>
            </a:r>
            <a:r>
              <a:rPr kumimoji="0" lang="en-US" altLang="en-US" sz="2000" b="1" i="0" u="sng" strike="noStrike" kern="0" cap="none" spc="0" normalizeH="0" baseline="0" noProof="0" dirty="0">
                <a:ln>
                  <a:noFill/>
                </a:ln>
                <a:solidFill>
                  <a:srgbClr val="000000"/>
                </a:solidFill>
                <a:effectLst/>
                <a:uLnTx/>
                <a:uFillTx/>
                <a:latin typeface="Arial" pitchFamily="34" charset="0"/>
                <a:ea typeface="SimSun"/>
                <a:cs typeface="Arial" pitchFamily="34" charset="0"/>
              </a:rPr>
              <a:t>negotiation</a:t>
            </a:r>
            <a:r>
              <a:rPr kumimoji="0" lang="en-US" altLang="en-US" sz="2000" b="1" i="0" u="none" strike="noStrike" kern="0" cap="none" spc="0" normalizeH="0" baseline="0" noProof="0" dirty="0">
                <a:ln>
                  <a:noFill/>
                </a:ln>
                <a:solidFill>
                  <a:srgbClr val="000000"/>
                </a:solidFill>
                <a:effectLst/>
                <a:uLnTx/>
                <a:uFillTx/>
                <a:latin typeface="Arial" pitchFamily="34" charset="0"/>
                <a:ea typeface="SimSun"/>
                <a:cs typeface="Arial" pitchFamily="34" charset="0"/>
              </a:rPr>
              <a:t> </a:t>
            </a:r>
            <a:r>
              <a:rPr kumimoji="0" lang="en-US" altLang="en-US" sz="2000" b="0" i="0" u="none" strike="noStrike" kern="0" cap="none" spc="0" normalizeH="0" baseline="0" noProof="0" dirty="0">
                <a:ln>
                  <a:noFill/>
                </a:ln>
                <a:solidFill>
                  <a:srgbClr val="000000"/>
                </a:solidFill>
                <a:effectLst/>
                <a:uLnTx/>
                <a:uFillTx/>
                <a:latin typeface="Arial" pitchFamily="34" charset="0"/>
                <a:ea typeface="SimSun"/>
                <a:cs typeface="Arial" pitchFamily="34" charset="0"/>
              </a:rPr>
              <a:t>between the service provider and consumers.”</a:t>
            </a:r>
          </a:p>
          <a:p>
            <a:pPr marL="742950" marR="0" lvl="1" indent="-285750" algn="just"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AU" altLang="en-US" sz="2000" b="0" i="0" u="none" strike="noStrike" kern="0" cap="none" spc="0" normalizeH="0" baseline="0" noProof="0" dirty="0">
                <a:ln>
                  <a:noFill/>
                </a:ln>
                <a:solidFill>
                  <a:srgbClr val="000000"/>
                </a:solidFill>
                <a:effectLst/>
                <a:uLnTx/>
                <a:uFillTx/>
                <a:latin typeface="Arial" pitchFamily="34" charset="0"/>
                <a:ea typeface="SimSun"/>
                <a:cs typeface="Arial" pitchFamily="34" charset="0"/>
              </a:rPr>
              <a:t>SLA = {negotiated and agreed </a:t>
            </a:r>
            <a:r>
              <a:rPr kumimoji="0" lang="en-AU" altLang="en-US" sz="2000" b="0" i="0" u="none" strike="noStrike" kern="0" cap="none" spc="0" normalizeH="0" baseline="0" noProof="0" dirty="0" err="1">
                <a:ln>
                  <a:noFill/>
                </a:ln>
                <a:solidFill>
                  <a:srgbClr val="000000"/>
                </a:solidFill>
                <a:effectLst/>
                <a:uLnTx/>
                <a:uFillTx/>
                <a:latin typeface="Arial" pitchFamily="34" charset="0"/>
                <a:ea typeface="SimSun"/>
                <a:cs typeface="Arial" pitchFamily="34" charset="0"/>
              </a:rPr>
              <a:t>QoS</a:t>
            </a:r>
            <a:r>
              <a:rPr kumimoji="0" lang="en-AU" altLang="en-US" sz="2000" b="0" i="0" u="none" strike="noStrike" kern="0" cap="none" spc="0" normalizeH="0" baseline="0" noProof="0" dirty="0">
                <a:ln>
                  <a:noFill/>
                </a:ln>
                <a:solidFill>
                  <a:srgbClr val="000000"/>
                </a:solidFill>
                <a:effectLst/>
                <a:uLnTx/>
                <a:uFillTx/>
                <a:latin typeface="Arial" pitchFamily="34" charset="0"/>
                <a:ea typeface="SimSun"/>
                <a:cs typeface="Arial" pitchFamily="34" charset="0"/>
              </a:rPr>
              <a:t> parameters + rewards + penalties for violation of agreement....}</a:t>
            </a:r>
            <a:endParaRPr kumimoji="0" lang="en-US" altLang="en-US" sz="2000" b="0" i="0" u="none" strike="noStrike" kern="0" cap="none" spc="0" normalizeH="0" baseline="0" noProof="0" dirty="0">
              <a:ln>
                <a:noFill/>
              </a:ln>
              <a:solidFill>
                <a:srgbClr val="000000"/>
              </a:solidFill>
              <a:effectLst/>
              <a:uLnTx/>
              <a:uFillTx/>
              <a:latin typeface="Arial" pitchFamily="34" charset="0"/>
              <a:ea typeface="SimSun"/>
              <a:cs typeface="Arial" pitchFamily="34" charset="0"/>
            </a:endParaRPr>
          </a:p>
        </p:txBody>
      </p:sp>
      <p:sp>
        <p:nvSpPr>
          <p:cNvPr id="5" name="Slide Number Placeholder 4"/>
          <p:cNvSpPr>
            <a:spLocks noGrp="1"/>
          </p:cNvSpPr>
          <p:nvPr>
            <p:ph type="sldNum" sz="quarter" idx="12"/>
          </p:nvPr>
        </p:nvSpPr>
        <p:spPr/>
        <p:txBody>
          <a:bodyPr/>
          <a:lstStyle/>
          <a:p>
            <a:fld id="{2019AD06-451C-413E-AF31-86503C137FDF}" type="slidenum">
              <a:rPr lang="en-US" smtClean="0"/>
              <a:pPr/>
              <a:t>5</a:t>
            </a:fld>
            <a:endParaRPr lang="en-US"/>
          </a:p>
        </p:txBody>
      </p:sp>
    </p:spTree>
    <p:extLst>
      <p:ext uri="{BB962C8B-B14F-4D97-AF65-F5344CB8AC3E}">
        <p14:creationId xmlns:p14="http://schemas.microsoft.com/office/powerpoint/2010/main" val="462588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2"/>
          <p:cNvSpPr>
            <a:spLocks noGrp="1"/>
          </p:cNvSpPr>
          <p:nvPr>
            <p:ph type="title"/>
          </p:nvPr>
        </p:nvSpPr>
        <p:spPr>
          <a:xfrm>
            <a:off x="0" y="5624"/>
            <a:ext cx="12192000" cy="1325563"/>
          </a:xfrm>
          <a:solidFill>
            <a:schemeClr val="accent5"/>
          </a:solidFill>
        </p:spPr>
        <p:txBody>
          <a:bodyPr/>
          <a:lstStyle/>
          <a:p>
            <a:r>
              <a:rPr lang="en-AU" altLang="en-US" dirty="0">
                <a:latin typeface="Verdana" panose="020B0604030504040204" pitchFamily="34" charset="0"/>
                <a:ea typeface="Verdana" panose="020B0604030504040204" pitchFamily="34" charset="0"/>
                <a:cs typeface="Verdana" panose="020B0604030504040204" pitchFamily="34" charset="0"/>
              </a:rPr>
              <a:t>.</a:t>
            </a:r>
          </a:p>
        </p:txBody>
      </p:sp>
      <p:sp>
        <p:nvSpPr>
          <p:cNvPr id="7" name="Rectangle 2"/>
          <p:cNvSpPr txBox="1">
            <a:spLocks noChangeArrowheads="1"/>
          </p:cNvSpPr>
          <p:nvPr/>
        </p:nvSpPr>
        <p:spPr bwMode="auto">
          <a:xfrm>
            <a:off x="1219200" y="177800"/>
            <a:ext cx="77247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0" tIns="45692" rIns="91380" bIns="45692" numCol="1" anchor="ctr" anchorCtr="0" compatLnSpc="1">
            <a:prstTxWarp prst="textNoShape">
              <a:avLst/>
            </a:prstTxWarp>
          </a:bodyPr>
          <a:lstStyle>
            <a:lvl1pPr algn="ctr" rtl="0" eaLnBrk="0" fontAlgn="base" hangingPunct="0">
              <a:spcBef>
                <a:spcPct val="0"/>
              </a:spcBef>
              <a:spcAft>
                <a:spcPct val="0"/>
              </a:spcAft>
              <a:defRPr sz="3600">
                <a:solidFill>
                  <a:srgbClr val="FFFF00"/>
                </a:solidFill>
                <a:latin typeface="+mj-lt"/>
                <a:ea typeface="+mj-ea"/>
                <a:cs typeface="+mj-cs"/>
              </a:defRPr>
            </a:lvl1pPr>
            <a:lvl2pPr algn="ctr" rtl="0" eaLnBrk="0" fontAlgn="base" hangingPunct="0">
              <a:spcBef>
                <a:spcPct val="0"/>
              </a:spcBef>
              <a:spcAft>
                <a:spcPct val="0"/>
              </a:spcAft>
              <a:defRPr sz="3600">
                <a:solidFill>
                  <a:srgbClr val="FFFF00"/>
                </a:solidFill>
                <a:latin typeface="Verdana" pitchFamily="34" charset="0"/>
                <a:ea typeface="SimSun" pitchFamily="2" charset="-122"/>
              </a:defRPr>
            </a:lvl2pPr>
            <a:lvl3pPr algn="ctr" rtl="0" eaLnBrk="0" fontAlgn="base" hangingPunct="0">
              <a:spcBef>
                <a:spcPct val="0"/>
              </a:spcBef>
              <a:spcAft>
                <a:spcPct val="0"/>
              </a:spcAft>
              <a:defRPr sz="3600">
                <a:solidFill>
                  <a:srgbClr val="FFFF00"/>
                </a:solidFill>
                <a:latin typeface="Verdana" pitchFamily="34" charset="0"/>
                <a:ea typeface="SimSun" pitchFamily="2" charset="-122"/>
              </a:defRPr>
            </a:lvl3pPr>
            <a:lvl4pPr algn="ctr" rtl="0" eaLnBrk="0" fontAlgn="base" hangingPunct="0">
              <a:spcBef>
                <a:spcPct val="0"/>
              </a:spcBef>
              <a:spcAft>
                <a:spcPct val="0"/>
              </a:spcAft>
              <a:defRPr sz="3600">
                <a:solidFill>
                  <a:srgbClr val="FFFF00"/>
                </a:solidFill>
                <a:latin typeface="Verdana" pitchFamily="34" charset="0"/>
                <a:ea typeface="SimSun" pitchFamily="2" charset="-122"/>
              </a:defRPr>
            </a:lvl4pPr>
            <a:lvl5pPr algn="ctr" rtl="0" eaLnBrk="0" fontAlgn="base" hangingPunct="0">
              <a:spcBef>
                <a:spcPct val="0"/>
              </a:spcBef>
              <a:spcAft>
                <a:spcPct val="0"/>
              </a:spcAft>
              <a:defRPr sz="3600">
                <a:solidFill>
                  <a:srgbClr val="FFFF00"/>
                </a:solidFill>
                <a:latin typeface="Verdana" pitchFamily="34" charset="0"/>
                <a:ea typeface="SimSun" pitchFamily="2" charset="-122"/>
              </a:defRPr>
            </a:lvl5pPr>
            <a:lvl6pPr marL="457200" algn="ctr" rtl="0" fontAlgn="base">
              <a:spcBef>
                <a:spcPct val="0"/>
              </a:spcBef>
              <a:spcAft>
                <a:spcPct val="0"/>
              </a:spcAft>
              <a:defRPr sz="3600">
                <a:solidFill>
                  <a:srgbClr val="FFFF00"/>
                </a:solidFill>
                <a:latin typeface="Verdana" pitchFamily="34" charset="0"/>
                <a:ea typeface="SimSun" pitchFamily="2" charset="-122"/>
              </a:defRPr>
            </a:lvl6pPr>
            <a:lvl7pPr marL="914400" algn="ctr" rtl="0" fontAlgn="base">
              <a:spcBef>
                <a:spcPct val="0"/>
              </a:spcBef>
              <a:spcAft>
                <a:spcPct val="0"/>
              </a:spcAft>
              <a:defRPr sz="3600">
                <a:solidFill>
                  <a:srgbClr val="FFFF00"/>
                </a:solidFill>
                <a:latin typeface="Verdana" pitchFamily="34" charset="0"/>
                <a:ea typeface="SimSun" pitchFamily="2" charset="-122"/>
              </a:defRPr>
            </a:lvl7pPr>
            <a:lvl8pPr marL="1371600" algn="ctr" rtl="0" fontAlgn="base">
              <a:spcBef>
                <a:spcPct val="0"/>
              </a:spcBef>
              <a:spcAft>
                <a:spcPct val="0"/>
              </a:spcAft>
              <a:defRPr sz="3600">
                <a:solidFill>
                  <a:srgbClr val="FFFF00"/>
                </a:solidFill>
                <a:latin typeface="Verdana" pitchFamily="34" charset="0"/>
                <a:ea typeface="SimSun" pitchFamily="2" charset="-122"/>
              </a:defRPr>
            </a:lvl8pPr>
            <a:lvl9pPr marL="1828800" algn="ctr" rtl="0" fontAlgn="base">
              <a:spcBef>
                <a:spcPct val="0"/>
              </a:spcBef>
              <a:spcAft>
                <a:spcPct val="0"/>
              </a:spcAft>
              <a:defRPr sz="3600">
                <a:solidFill>
                  <a:srgbClr val="FFFF00"/>
                </a:solidFill>
                <a:latin typeface="Verdana" pitchFamily="34" charset="0"/>
                <a:ea typeface="SimSun"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AU" altLang="en-US" sz="3200" b="0" i="0" u="none" strike="noStrike" kern="0" cap="none" spc="0" normalizeH="0" baseline="0" noProof="0" dirty="0">
                <a:ln>
                  <a:noFill/>
                </a:ln>
                <a:solidFill>
                  <a:srgbClr val="FFFF00"/>
                </a:solidFill>
                <a:effectLst/>
                <a:uLnTx/>
                <a:uFillTx/>
                <a:latin typeface="Verdana"/>
                <a:ea typeface="SimSun"/>
                <a:cs typeface="+mj-cs"/>
              </a:rPr>
              <a:t>Cloud Computing :</a:t>
            </a:r>
            <a:r>
              <a:rPr kumimoji="0" lang="en-AU" altLang="en-US" sz="3200" b="0" i="0" u="none" strike="noStrike" kern="0" cap="none" spc="0" normalizeH="0" noProof="0" dirty="0">
                <a:ln>
                  <a:noFill/>
                </a:ln>
                <a:solidFill>
                  <a:srgbClr val="FFFF00"/>
                </a:solidFill>
                <a:effectLst/>
                <a:uLnTx/>
                <a:uFillTx/>
                <a:latin typeface="Verdana"/>
                <a:ea typeface="SimSun"/>
                <a:cs typeface="+mj-cs"/>
              </a:rPr>
              <a:t> Buzzword</a:t>
            </a:r>
            <a:endParaRPr kumimoji="0" lang="en-US" altLang="en-US" sz="3200" b="0" i="0" u="none" strike="noStrike" kern="0" cap="none" spc="0" normalizeH="0" baseline="0" noProof="0" dirty="0">
              <a:ln>
                <a:noFill/>
              </a:ln>
              <a:solidFill>
                <a:srgbClr val="FFFF00"/>
              </a:solidFill>
              <a:effectLst/>
              <a:uLnTx/>
              <a:uFillTx/>
              <a:latin typeface="Verdana"/>
              <a:ea typeface="SimSun"/>
              <a:cs typeface="+mj-cs"/>
            </a:endParaRPr>
          </a:p>
        </p:txBody>
      </p:sp>
      <p:sp>
        <p:nvSpPr>
          <p:cNvPr id="8" name="Slide Number Placeholder 5"/>
          <p:cNvSpPr>
            <a:spLocks noGrp="1"/>
          </p:cNvSpPr>
          <p:nvPr>
            <p:ph type="sldNum" sz="quarter" idx="12"/>
          </p:nvPr>
        </p:nvSpPr>
        <p:spPr>
          <a:xfrm>
            <a:off x="6939570" y="6356350"/>
            <a:ext cx="2133600" cy="365125"/>
          </a:xfrm>
        </p:spPr>
        <p:txBody>
          <a:bodyPr/>
          <a:lstStyle/>
          <a:p>
            <a:fld id="{30D241FA-7412-43EF-83F0-D61B466081DE}" type="slidenum">
              <a:rPr lang="en-US" altLang="en-US"/>
              <a:pPr/>
              <a:t>6</a:t>
            </a:fld>
            <a:endParaRPr lang="en-US" altLang="en-US"/>
          </a:p>
        </p:txBody>
      </p:sp>
      <p:sp>
        <p:nvSpPr>
          <p:cNvPr id="11" name="Rectangle 3"/>
          <p:cNvSpPr txBox="1">
            <a:spLocks noChangeArrowheads="1"/>
          </p:cNvSpPr>
          <p:nvPr/>
        </p:nvSpPr>
        <p:spPr>
          <a:xfrm>
            <a:off x="1037245" y="1606550"/>
            <a:ext cx="8077200" cy="4456113"/>
          </a:xfrm>
          <a:prstGeom prst="rect">
            <a:avLst/>
          </a:prstGeom>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altLang="en-US" sz="3600">
                <a:solidFill>
                  <a:srgbClr val="DDDDDD"/>
                </a:solidFill>
              </a:rPr>
              <a:t>.</a:t>
            </a:r>
            <a:endParaRPr lang="en-US" altLang="en-US" sz="3600" dirty="0">
              <a:solidFill>
                <a:srgbClr val="DDDDDD"/>
              </a:solidFill>
            </a:endParaRPr>
          </a:p>
        </p:txBody>
      </p:sp>
      <p:sp>
        <p:nvSpPr>
          <p:cNvPr id="12" name="Cloud"/>
          <p:cNvSpPr>
            <a:spLocks noChangeAspect="1" noEditPoints="1" noChangeArrowheads="1"/>
          </p:cNvSpPr>
          <p:nvPr/>
        </p:nvSpPr>
        <p:spPr bwMode="auto">
          <a:xfrm>
            <a:off x="3526445" y="4624388"/>
            <a:ext cx="2997200" cy="2008187"/>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FFFFFF"/>
              </a:gs>
              <a:gs pos="100000">
                <a:srgbClr val="C0C0C0"/>
              </a:gs>
            </a:gsLst>
            <a:lin ang="5400000" scaled="1"/>
          </a:gradFill>
          <a:ln w="9525">
            <a:solidFill>
              <a:srgbClr val="000000"/>
            </a:solidFill>
            <a:miter lim="800000"/>
            <a:headEnd/>
            <a:tailEnd/>
          </a:ln>
          <a:effectLst>
            <a:outerShdw dist="53882" dir="2700000" algn="ctr" rotWithShape="0">
              <a:srgbClr val="777777"/>
            </a:outerShdw>
          </a:effectLst>
        </p:spPr>
        <p:txBody>
          <a:bodyPr/>
          <a:lstStyle/>
          <a:p>
            <a:pPr algn="r"/>
            <a:endParaRPr lang="en-US" altLang="en-US"/>
          </a:p>
        </p:txBody>
      </p:sp>
      <p:sp>
        <p:nvSpPr>
          <p:cNvPr id="13" name="Cloud"/>
          <p:cNvSpPr>
            <a:spLocks noChangeAspect="1" noEditPoints="1" noChangeArrowheads="1"/>
          </p:cNvSpPr>
          <p:nvPr/>
        </p:nvSpPr>
        <p:spPr bwMode="auto">
          <a:xfrm>
            <a:off x="6091845" y="1131888"/>
            <a:ext cx="2997200" cy="2008187"/>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FFFFFF"/>
              </a:gs>
              <a:gs pos="100000">
                <a:srgbClr val="C0C0C0"/>
              </a:gs>
            </a:gsLst>
            <a:lin ang="5400000" scaled="1"/>
          </a:gradFill>
          <a:ln w="9525">
            <a:solidFill>
              <a:srgbClr val="000000"/>
            </a:solidFill>
            <a:miter lim="800000"/>
            <a:headEnd/>
            <a:tailEnd/>
          </a:ln>
          <a:effectLst>
            <a:outerShdw dist="53882" dir="2700000" algn="ctr" rotWithShape="0">
              <a:srgbClr val="777777"/>
            </a:outerShdw>
          </a:effectLst>
        </p:spPr>
        <p:txBody>
          <a:bodyPr/>
          <a:lstStyle/>
          <a:p>
            <a:pPr algn="r"/>
            <a:endParaRPr lang="en-US" altLang="en-US"/>
          </a:p>
        </p:txBody>
      </p:sp>
      <p:sp>
        <p:nvSpPr>
          <p:cNvPr id="14" name="Cloud"/>
          <p:cNvSpPr>
            <a:spLocks noChangeAspect="1" noEditPoints="1" noChangeArrowheads="1"/>
          </p:cNvSpPr>
          <p:nvPr/>
        </p:nvSpPr>
        <p:spPr bwMode="auto">
          <a:xfrm>
            <a:off x="884845" y="3765550"/>
            <a:ext cx="2997200" cy="2008188"/>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FFFFFF"/>
              </a:gs>
              <a:gs pos="100000">
                <a:srgbClr val="C0C0C0"/>
              </a:gs>
            </a:gsLst>
            <a:lin ang="5400000" scaled="1"/>
          </a:gradFill>
          <a:ln w="9525">
            <a:solidFill>
              <a:srgbClr val="000000"/>
            </a:solidFill>
            <a:miter lim="800000"/>
            <a:headEnd/>
            <a:tailEnd/>
          </a:ln>
          <a:effectLst>
            <a:outerShdw dist="53882" dir="2700000" algn="ctr" rotWithShape="0">
              <a:srgbClr val="777777"/>
            </a:outerShdw>
          </a:effectLst>
        </p:spPr>
        <p:txBody>
          <a:bodyPr/>
          <a:lstStyle/>
          <a:p>
            <a:pPr algn="r"/>
            <a:endParaRPr lang="en-US" altLang="en-US"/>
          </a:p>
        </p:txBody>
      </p:sp>
      <p:sp>
        <p:nvSpPr>
          <p:cNvPr id="15" name="Cloud"/>
          <p:cNvSpPr>
            <a:spLocks noChangeAspect="1" noEditPoints="1" noChangeArrowheads="1"/>
          </p:cNvSpPr>
          <p:nvPr/>
        </p:nvSpPr>
        <p:spPr bwMode="auto">
          <a:xfrm>
            <a:off x="4186845" y="1131888"/>
            <a:ext cx="2997200" cy="2008187"/>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FFFFFF"/>
              </a:gs>
              <a:gs pos="100000">
                <a:srgbClr val="C0C0C0"/>
              </a:gs>
            </a:gsLst>
            <a:lin ang="5400000" scaled="1"/>
          </a:gradFill>
          <a:ln w="9525">
            <a:solidFill>
              <a:srgbClr val="000000"/>
            </a:solidFill>
            <a:miter lim="800000"/>
            <a:headEnd/>
            <a:tailEnd/>
          </a:ln>
          <a:effectLst>
            <a:outerShdw dist="53882" dir="2700000" algn="ctr" rotWithShape="0">
              <a:srgbClr val="777777"/>
            </a:outerShdw>
          </a:effectLst>
        </p:spPr>
        <p:txBody>
          <a:bodyPr/>
          <a:lstStyle/>
          <a:p>
            <a:pPr algn="r"/>
            <a:endParaRPr lang="en-US" altLang="en-US"/>
          </a:p>
        </p:txBody>
      </p:sp>
      <p:sp>
        <p:nvSpPr>
          <p:cNvPr id="16" name="Cloud"/>
          <p:cNvSpPr>
            <a:spLocks noChangeAspect="1" noEditPoints="1" noChangeArrowheads="1"/>
          </p:cNvSpPr>
          <p:nvPr/>
        </p:nvSpPr>
        <p:spPr bwMode="auto">
          <a:xfrm>
            <a:off x="2370745" y="2459038"/>
            <a:ext cx="3784600" cy="2535237"/>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FFFFFF"/>
              </a:gs>
              <a:gs pos="100000">
                <a:srgbClr val="C0C0C0"/>
              </a:gs>
            </a:gsLst>
            <a:lin ang="5400000" scaled="1"/>
          </a:gradFill>
          <a:ln w="9525">
            <a:solidFill>
              <a:srgbClr val="000000"/>
            </a:solidFill>
            <a:miter lim="800000"/>
            <a:headEnd/>
            <a:tailEnd/>
          </a:ln>
          <a:effectLst>
            <a:outerShdw dist="53882" dir="2700000" algn="ctr" rotWithShape="0">
              <a:srgbClr val="777777"/>
            </a:outerShdw>
          </a:effectLst>
        </p:spPr>
        <p:txBody>
          <a:bodyPr/>
          <a:lstStyle/>
          <a:p>
            <a:pPr algn="r"/>
            <a:endParaRPr lang="en-US" altLang="en-US"/>
          </a:p>
        </p:txBody>
      </p:sp>
      <p:sp>
        <p:nvSpPr>
          <p:cNvPr id="17" name="Cloud"/>
          <p:cNvSpPr>
            <a:spLocks noChangeAspect="1" noEditPoints="1" noChangeArrowheads="1"/>
          </p:cNvSpPr>
          <p:nvPr/>
        </p:nvSpPr>
        <p:spPr bwMode="auto">
          <a:xfrm>
            <a:off x="1405545" y="1296988"/>
            <a:ext cx="2997200" cy="2008187"/>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FFFFFF"/>
              </a:gs>
              <a:gs pos="100000">
                <a:srgbClr val="C0C0C0"/>
              </a:gs>
            </a:gsLst>
            <a:lin ang="5400000" scaled="1"/>
          </a:gradFill>
          <a:ln w="9525">
            <a:solidFill>
              <a:srgbClr val="000000"/>
            </a:solidFill>
            <a:miter lim="800000"/>
            <a:headEnd/>
            <a:tailEnd/>
          </a:ln>
          <a:effectLst>
            <a:outerShdw dist="53882" dir="2700000" algn="ctr" rotWithShape="0">
              <a:srgbClr val="777777"/>
            </a:outerShdw>
          </a:effectLst>
        </p:spPr>
        <p:txBody>
          <a:bodyPr/>
          <a:lstStyle/>
          <a:p>
            <a:pPr algn="r"/>
            <a:endParaRPr lang="en-US" altLang="en-US"/>
          </a:p>
        </p:txBody>
      </p:sp>
      <p:sp>
        <p:nvSpPr>
          <p:cNvPr id="18" name="Text Box 10"/>
          <p:cNvSpPr txBox="1">
            <a:spLocks noChangeArrowheads="1"/>
          </p:cNvSpPr>
          <p:nvPr/>
        </p:nvSpPr>
        <p:spPr bwMode="auto">
          <a:xfrm>
            <a:off x="1045183" y="2109788"/>
            <a:ext cx="1017587" cy="495300"/>
          </a:xfrm>
          <a:prstGeom prst="rect">
            <a:avLst/>
          </a:prstGeom>
          <a:gradFill rotWithShape="1">
            <a:gsLst>
              <a:gs pos="0">
                <a:srgbClr val="000066"/>
              </a:gs>
              <a:gs pos="100000">
                <a:srgbClr val="0033CC"/>
              </a:gs>
            </a:gsLst>
            <a:lin ang="5400000" scaled="1"/>
          </a:gradFill>
          <a:ln w="9525" algn="ctr">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2880" tIns="137160" rIns="182880" bIns="137160">
            <a:spAutoFit/>
          </a:bodyPr>
          <a:lstStyle/>
          <a:p>
            <a:pPr algn="ctr"/>
            <a:r>
              <a:rPr lang="en-US" altLang="en-US" sz="1400" b="1">
                <a:solidFill>
                  <a:schemeClr val="bg1"/>
                </a:solidFill>
              </a:rPr>
              <a:t>Billing</a:t>
            </a:r>
          </a:p>
        </p:txBody>
      </p:sp>
      <p:sp>
        <p:nvSpPr>
          <p:cNvPr id="19" name="Text Box 11"/>
          <p:cNvSpPr txBox="1">
            <a:spLocks noChangeArrowheads="1"/>
          </p:cNvSpPr>
          <p:nvPr/>
        </p:nvSpPr>
        <p:spPr bwMode="auto">
          <a:xfrm rot="-1237057">
            <a:off x="3051783" y="1233488"/>
            <a:ext cx="1017587" cy="495300"/>
          </a:xfrm>
          <a:prstGeom prst="rect">
            <a:avLst/>
          </a:prstGeom>
          <a:gradFill rotWithShape="1">
            <a:gsLst>
              <a:gs pos="0">
                <a:srgbClr val="0A5804"/>
              </a:gs>
              <a:gs pos="100000">
                <a:srgbClr val="009900"/>
              </a:gs>
            </a:gsLst>
            <a:lin ang="5400000" scaled="1"/>
          </a:gradFill>
          <a:ln w="9525" algn="ctr">
            <a:solidFill>
              <a:srgbClr val="0A5804"/>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2880" tIns="137160" rIns="182880" bIns="137160">
            <a:spAutoFit/>
          </a:bodyPr>
          <a:lstStyle/>
          <a:p>
            <a:pPr algn="ctr"/>
            <a:r>
              <a:rPr lang="en-US" altLang="en-US" sz="1400" b="1">
                <a:solidFill>
                  <a:schemeClr val="bg1"/>
                </a:solidFill>
              </a:rPr>
              <a:t>QoS</a:t>
            </a:r>
          </a:p>
        </p:txBody>
      </p:sp>
      <p:sp>
        <p:nvSpPr>
          <p:cNvPr id="20" name="Text Box 12"/>
          <p:cNvSpPr txBox="1">
            <a:spLocks noChangeArrowheads="1"/>
          </p:cNvSpPr>
          <p:nvPr/>
        </p:nvSpPr>
        <p:spPr bwMode="auto">
          <a:xfrm>
            <a:off x="3199420" y="1970088"/>
            <a:ext cx="1514475" cy="495300"/>
          </a:xfrm>
          <a:prstGeom prst="rect">
            <a:avLst/>
          </a:prstGeom>
          <a:gradFill rotWithShape="1">
            <a:gsLst>
              <a:gs pos="0">
                <a:srgbClr val="292929"/>
              </a:gs>
              <a:gs pos="100000">
                <a:srgbClr val="777777"/>
              </a:gs>
            </a:gsLst>
            <a:lin ang="5400000" scaled="1"/>
          </a:gradFill>
          <a:ln w="9525" algn="ctr">
            <a:solidFill>
              <a:srgbClr val="29292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2880" tIns="137160" rIns="182880" bIns="137160">
            <a:spAutoFit/>
          </a:bodyPr>
          <a:lstStyle/>
          <a:p>
            <a:pPr algn="ctr"/>
            <a:r>
              <a:rPr lang="en-US" altLang="en-US" sz="1400" b="1">
                <a:solidFill>
                  <a:schemeClr val="bg1"/>
                </a:solidFill>
              </a:rPr>
              <a:t>Storage</a:t>
            </a:r>
          </a:p>
        </p:txBody>
      </p:sp>
      <p:sp>
        <p:nvSpPr>
          <p:cNvPr id="21" name="Text Box 13"/>
          <p:cNvSpPr txBox="1">
            <a:spLocks noChangeArrowheads="1"/>
          </p:cNvSpPr>
          <p:nvPr/>
        </p:nvSpPr>
        <p:spPr bwMode="auto">
          <a:xfrm rot="1140777">
            <a:off x="1442058" y="1423988"/>
            <a:ext cx="1487487" cy="495300"/>
          </a:xfrm>
          <a:prstGeom prst="rect">
            <a:avLst/>
          </a:prstGeom>
          <a:gradFill rotWithShape="1">
            <a:gsLst>
              <a:gs pos="0">
                <a:srgbClr val="990000"/>
              </a:gs>
              <a:gs pos="100000">
                <a:srgbClr val="FF0000"/>
              </a:gs>
            </a:gsLst>
            <a:lin ang="5400000" scaled="1"/>
          </a:gradFill>
          <a:ln w="9525" algn="ctr">
            <a:solidFill>
              <a:srgbClr val="99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Virtualization</a:t>
            </a:r>
          </a:p>
        </p:txBody>
      </p:sp>
      <p:sp>
        <p:nvSpPr>
          <p:cNvPr id="22" name="Text Box 14"/>
          <p:cNvSpPr txBox="1">
            <a:spLocks noChangeArrowheads="1"/>
          </p:cNvSpPr>
          <p:nvPr/>
        </p:nvSpPr>
        <p:spPr bwMode="auto">
          <a:xfrm rot="-2165441">
            <a:off x="2923195" y="3135313"/>
            <a:ext cx="1557338" cy="708025"/>
          </a:xfrm>
          <a:prstGeom prst="rect">
            <a:avLst/>
          </a:prstGeom>
          <a:gradFill rotWithShape="1">
            <a:gsLst>
              <a:gs pos="0">
                <a:srgbClr val="FF9933"/>
              </a:gs>
              <a:gs pos="100000">
                <a:srgbClr val="FFCC00"/>
              </a:gs>
            </a:gsLst>
            <a:lin ang="5400000" scaled="1"/>
          </a:gradFill>
          <a:ln w="9525" algn="ctr">
            <a:solidFill>
              <a:srgbClr val="FF99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Service Level </a:t>
            </a:r>
          </a:p>
          <a:p>
            <a:pPr algn="ctr"/>
            <a:r>
              <a:rPr lang="en-US" altLang="en-US" sz="1400" b="1">
                <a:solidFill>
                  <a:schemeClr val="bg1"/>
                </a:solidFill>
              </a:rPr>
              <a:t>Agreement</a:t>
            </a:r>
          </a:p>
        </p:txBody>
      </p:sp>
      <p:sp>
        <p:nvSpPr>
          <p:cNvPr id="23" name="Text Box 15"/>
          <p:cNvSpPr txBox="1">
            <a:spLocks noChangeArrowheads="1"/>
          </p:cNvSpPr>
          <p:nvPr/>
        </p:nvSpPr>
        <p:spPr bwMode="auto">
          <a:xfrm rot="390885">
            <a:off x="4190020" y="3535363"/>
            <a:ext cx="1497013" cy="708025"/>
          </a:xfrm>
          <a:prstGeom prst="rect">
            <a:avLst/>
          </a:prstGeom>
          <a:gradFill rotWithShape="1">
            <a:gsLst>
              <a:gs pos="0">
                <a:srgbClr val="660066"/>
              </a:gs>
              <a:gs pos="100000">
                <a:srgbClr val="9900CC"/>
              </a:gs>
            </a:gsLst>
            <a:lin ang="5400000" scaled="1"/>
          </a:gradFill>
          <a:ln w="9525" algn="ctr">
            <a:solidFill>
              <a:srgbClr val="66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Provisioning </a:t>
            </a:r>
          </a:p>
          <a:p>
            <a:pPr algn="ctr"/>
            <a:r>
              <a:rPr lang="en-US" altLang="en-US" sz="1400" b="1">
                <a:solidFill>
                  <a:schemeClr val="bg1"/>
                </a:solidFill>
              </a:rPr>
              <a:t>on Demand</a:t>
            </a:r>
          </a:p>
        </p:txBody>
      </p:sp>
      <p:sp>
        <p:nvSpPr>
          <p:cNvPr id="24" name="Text Box 16"/>
          <p:cNvSpPr txBox="1">
            <a:spLocks noChangeArrowheads="1"/>
          </p:cNvSpPr>
          <p:nvPr/>
        </p:nvSpPr>
        <p:spPr bwMode="auto">
          <a:xfrm>
            <a:off x="2797783" y="4421188"/>
            <a:ext cx="1195387" cy="495300"/>
          </a:xfrm>
          <a:prstGeom prst="rect">
            <a:avLst/>
          </a:prstGeom>
          <a:gradFill rotWithShape="1">
            <a:gsLst>
              <a:gs pos="0">
                <a:srgbClr val="000066"/>
              </a:gs>
              <a:gs pos="100000">
                <a:srgbClr val="0033CC"/>
              </a:gs>
            </a:gsLst>
            <a:lin ang="5400000" scaled="1"/>
          </a:gradFill>
          <a:ln w="9525" algn="ctr">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2880" tIns="137160" rIns="182880" bIns="137160">
            <a:spAutoFit/>
          </a:bodyPr>
          <a:lstStyle/>
          <a:p>
            <a:pPr algn="ctr"/>
            <a:r>
              <a:rPr lang="en-US" altLang="en-US" sz="1400" b="1">
                <a:solidFill>
                  <a:schemeClr val="bg1"/>
                </a:solidFill>
              </a:rPr>
              <a:t>Web 2.0</a:t>
            </a:r>
          </a:p>
        </p:txBody>
      </p:sp>
      <p:sp>
        <p:nvSpPr>
          <p:cNvPr id="25" name="Text Box 17"/>
          <p:cNvSpPr txBox="1">
            <a:spLocks noChangeArrowheads="1"/>
          </p:cNvSpPr>
          <p:nvPr/>
        </p:nvSpPr>
        <p:spPr bwMode="auto">
          <a:xfrm rot="-758556">
            <a:off x="4445608" y="1360488"/>
            <a:ext cx="739775" cy="495300"/>
          </a:xfrm>
          <a:prstGeom prst="rect">
            <a:avLst/>
          </a:prstGeom>
          <a:gradFill rotWithShape="1">
            <a:gsLst>
              <a:gs pos="0">
                <a:srgbClr val="990000"/>
              </a:gs>
              <a:gs pos="100000">
                <a:srgbClr val="FF0000"/>
              </a:gs>
            </a:gsLst>
            <a:lin ang="5400000" scaled="1"/>
          </a:gradFill>
          <a:ln w="9525" algn="ctr">
            <a:solidFill>
              <a:srgbClr val="99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IaaS</a:t>
            </a:r>
          </a:p>
        </p:txBody>
      </p:sp>
      <p:sp>
        <p:nvSpPr>
          <p:cNvPr id="26" name="Text Box 18"/>
          <p:cNvSpPr txBox="1">
            <a:spLocks noChangeArrowheads="1"/>
          </p:cNvSpPr>
          <p:nvPr/>
        </p:nvSpPr>
        <p:spPr bwMode="auto">
          <a:xfrm rot="963342">
            <a:off x="5096483" y="1906588"/>
            <a:ext cx="809625" cy="495300"/>
          </a:xfrm>
          <a:prstGeom prst="rect">
            <a:avLst/>
          </a:prstGeom>
          <a:gradFill rotWithShape="1">
            <a:gsLst>
              <a:gs pos="0">
                <a:srgbClr val="0099FF"/>
              </a:gs>
              <a:gs pos="100000">
                <a:srgbClr val="66CCFF"/>
              </a:gs>
            </a:gsLst>
            <a:lin ang="5400000" scaled="1"/>
          </a:gradFill>
          <a:ln w="9525" algn="ctr">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PaaS</a:t>
            </a:r>
          </a:p>
        </p:txBody>
      </p:sp>
      <p:sp>
        <p:nvSpPr>
          <p:cNvPr id="27" name="Text Box 19"/>
          <p:cNvSpPr txBox="1">
            <a:spLocks noChangeArrowheads="1"/>
          </p:cNvSpPr>
          <p:nvPr/>
        </p:nvSpPr>
        <p:spPr bwMode="auto">
          <a:xfrm rot="-246898">
            <a:off x="5744183" y="1246188"/>
            <a:ext cx="809625" cy="495300"/>
          </a:xfrm>
          <a:prstGeom prst="rect">
            <a:avLst/>
          </a:prstGeom>
          <a:gradFill rotWithShape="1">
            <a:gsLst>
              <a:gs pos="0">
                <a:srgbClr val="FF3399"/>
              </a:gs>
              <a:gs pos="100000">
                <a:srgbClr val="FF66FF"/>
              </a:gs>
            </a:gsLst>
            <a:lin ang="5400000" scaled="1"/>
          </a:gradFill>
          <a:ln w="9525" algn="ctr">
            <a:solidFill>
              <a:srgbClr val="FF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SaaS</a:t>
            </a:r>
          </a:p>
        </p:txBody>
      </p:sp>
      <p:sp>
        <p:nvSpPr>
          <p:cNvPr id="28" name="Text Box 20"/>
          <p:cNvSpPr txBox="1">
            <a:spLocks noChangeArrowheads="1"/>
          </p:cNvSpPr>
          <p:nvPr/>
        </p:nvSpPr>
        <p:spPr bwMode="auto">
          <a:xfrm rot="-841391">
            <a:off x="6131533" y="2046288"/>
            <a:ext cx="976312" cy="495300"/>
          </a:xfrm>
          <a:prstGeom prst="rect">
            <a:avLst/>
          </a:prstGeom>
          <a:gradFill rotWithShape="1">
            <a:gsLst>
              <a:gs pos="0">
                <a:srgbClr val="FF9933"/>
              </a:gs>
              <a:gs pos="100000">
                <a:srgbClr val="FFCC00"/>
              </a:gs>
            </a:gsLst>
            <a:lin ang="5400000" scaled="1"/>
          </a:gradFill>
          <a:ln w="9525" algn="ctr">
            <a:solidFill>
              <a:srgbClr val="FF99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Pricing</a:t>
            </a:r>
          </a:p>
        </p:txBody>
      </p:sp>
      <p:sp>
        <p:nvSpPr>
          <p:cNvPr id="29" name="Cloud"/>
          <p:cNvSpPr>
            <a:spLocks noChangeAspect="1" noEditPoints="1" noChangeArrowheads="1"/>
          </p:cNvSpPr>
          <p:nvPr/>
        </p:nvSpPr>
        <p:spPr bwMode="auto">
          <a:xfrm>
            <a:off x="5685445" y="2503488"/>
            <a:ext cx="2997200" cy="2008187"/>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gradFill rotWithShape="1">
            <a:gsLst>
              <a:gs pos="0">
                <a:srgbClr val="FFFFFF"/>
              </a:gs>
              <a:gs pos="100000">
                <a:srgbClr val="C0C0C0"/>
              </a:gs>
            </a:gsLst>
            <a:lin ang="5400000" scaled="1"/>
          </a:gradFill>
          <a:ln w="9525">
            <a:solidFill>
              <a:srgbClr val="000000"/>
            </a:solidFill>
            <a:miter lim="800000"/>
            <a:headEnd/>
            <a:tailEnd/>
          </a:ln>
          <a:effectLst>
            <a:outerShdw dist="53882" dir="2700000" algn="ctr" rotWithShape="0">
              <a:srgbClr val="777777"/>
            </a:outerShdw>
          </a:effectLst>
        </p:spPr>
        <p:txBody>
          <a:bodyPr/>
          <a:lstStyle/>
          <a:p>
            <a:pPr algn="r"/>
            <a:endParaRPr lang="en-US" altLang="en-US"/>
          </a:p>
        </p:txBody>
      </p:sp>
      <p:sp>
        <p:nvSpPr>
          <p:cNvPr id="30" name="Text Box 22"/>
          <p:cNvSpPr txBox="1">
            <a:spLocks noChangeArrowheads="1"/>
          </p:cNvSpPr>
          <p:nvPr/>
        </p:nvSpPr>
        <p:spPr bwMode="auto">
          <a:xfrm rot="1140777">
            <a:off x="4594833" y="2820988"/>
            <a:ext cx="1970087" cy="495300"/>
          </a:xfrm>
          <a:prstGeom prst="rect">
            <a:avLst/>
          </a:prstGeom>
          <a:gradFill rotWithShape="1">
            <a:gsLst>
              <a:gs pos="0">
                <a:srgbClr val="990033"/>
              </a:gs>
              <a:gs pos="100000">
                <a:srgbClr val="CC0066"/>
              </a:gs>
            </a:gsLst>
            <a:lin ang="5400000" scaled="1"/>
          </a:gradFill>
          <a:ln w="9525" algn="ctr">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Resource Metering</a:t>
            </a:r>
          </a:p>
        </p:txBody>
      </p:sp>
      <p:sp>
        <p:nvSpPr>
          <p:cNvPr id="31" name="Text Box 23"/>
          <p:cNvSpPr txBox="1">
            <a:spLocks noChangeArrowheads="1"/>
          </p:cNvSpPr>
          <p:nvPr/>
        </p:nvSpPr>
        <p:spPr bwMode="auto">
          <a:xfrm rot="-2148510">
            <a:off x="6745895" y="2592388"/>
            <a:ext cx="1803400" cy="495300"/>
          </a:xfrm>
          <a:prstGeom prst="rect">
            <a:avLst/>
          </a:prstGeom>
          <a:gradFill rotWithShape="1">
            <a:gsLst>
              <a:gs pos="0">
                <a:srgbClr val="0A5804"/>
              </a:gs>
              <a:gs pos="100000">
                <a:srgbClr val="009900"/>
              </a:gs>
            </a:gsLst>
            <a:lin ang="5400000" scaled="1"/>
          </a:gradFill>
          <a:ln w="9525" algn="ctr">
            <a:solidFill>
              <a:srgbClr val="0A5804"/>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2880" tIns="137160" rIns="182880" bIns="137160">
            <a:spAutoFit/>
          </a:bodyPr>
          <a:lstStyle/>
          <a:p>
            <a:pPr algn="ctr"/>
            <a:r>
              <a:rPr lang="en-US" altLang="en-US" sz="1400" b="1">
                <a:solidFill>
                  <a:schemeClr val="bg1"/>
                </a:solidFill>
              </a:rPr>
              <a:t>Web Services</a:t>
            </a:r>
          </a:p>
        </p:txBody>
      </p:sp>
      <p:sp>
        <p:nvSpPr>
          <p:cNvPr id="32" name="Text Box 24"/>
          <p:cNvSpPr txBox="1">
            <a:spLocks noChangeArrowheads="1"/>
          </p:cNvSpPr>
          <p:nvPr/>
        </p:nvSpPr>
        <p:spPr bwMode="auto">
          <a:xfrm>
            <a:off x="7445983" y="3379788"/>
            <a:ext cx="1411287" cy="708025"/>
          </a:xfrm>
          <a:prstGeom prst="rect">
            <a:avLst/>
          </a:prstGeom>
          <a:gradFill rotWithShape="1">
            <a:gsLst>
              <a:gs pos="0">
                <a:srgbClr val="000066"/>
              </a:gs>
              <a:gs pos="100000">
                <a:srgbClr val="0033CC"/>
              </a:gs>
            </a:gsLst>
            <a:lin ang="5400000" scaled="1"/>
          </a:gradFill>
          <a:ln w="9525" algn="ctr">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2880" tIns="137160" rIns="182880" bIns="137160">
            <a:spAutoFit/>
          </a:bodyPr>
          <a:lstStyle/>
          <a:p>
            <a:pPr algn="ctr"/>
            <a:r>
              <a:rPr lang="en-US" altLang="en-US" sz="1400" b="1">
                <a:solidFill>
                  <a:schemeClr val="bg1"/>
                </a:solidFill>
              </a:rPr>
              <a:t>Utility Computing</a:t>
            </a:r>
          </a:p>
        </p:txBody>
      </p:sp>
      <p:sp>
        <p:nvSpPr>
          <p:cNvPr id="33" name="Text Box 25"/>
          <p:cNvSpPr txBox="1">
            <a:spLocks noChangeArrowheads="1"/>
          </p:cNvSpPr>
          <p:nvPr/>
        </p:nvSpPr>
        <p:spPr bwMode="auto">
          <a:xfrm rot="-1120015">
            <a:off x="5841020" y="3886200"/>
            <a:ext cx="1514475" cy="495300"/>
          </a:xfrm>
          <a:prstGeom prst="rect">
            <a:avLst/>
          </a:prstGeom>
          <a:gradFill rotWithShape="1">
            <a:gsLst>
              <a:gs pos="0">
                <a:srgbClr val="292929"/>
              </a:gs>
              <a:gs pos="100000">
                <a:srgbClr val="777777"/>
              </a:gs>
            </a:gsLst>
            <a:lin ang="5400000" scaled="1"/>
          </a:gradFill>
          <a:ln w="9525" algn="ctr">
            <a:solidFill>
              <a:srgbClr val="29292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2880" tIns="137160" rIns="182880" bIns="137160">
            <a:spAutoFit/>
          </a:bodyPr>
          <a:lstStyle/>
          <a:p>
            <a:pPr algn="ctr"/>
            <a:r>
              <a:rPr lang="en-US" altLang="en-US" sz="1400" b="1">
                <a:solidFill>
                  <a:schemeClr val="bg1"/>
                </a:solidFill>
              </a:rPr>
              <a:t>Security</a:t>
            </a:r>
          </a:p>
        </p:txBody>
      </p:sp>
      <p:sp>
        <p:nvSpPr>
          <p:cNvPr id="34" name="Text Box 26"/>
          <p:cNvSpPr txBox="1">
            <a:spLocks noChangeArrowheads="1"/>
          </p:cNvSpPr>
          <p:nvPr/>
        </p:nvSpPr>
        <p:spPr bwMode="auto">
          <a:xfrm rot="-246898">
            <a:off x="4288445" y="4649788"/>
            <a:ext cx="1006475" cy="495300"/>
          </a:xfrm>
          <a:prstGeom prst="rect">
            <a:avLst/>
          </a:prstGeom>
          <a:gradFill rotWithShape="1">
            <a:gsLst>
              <a:gs pos="0">
                <a:srgbClr val="FF3399"/>
              </a:gs>
              <a:gs pos="100000">
                <a:srgbClr val="FF66FF"/>
              </a:gs>
            </a:gsLst>
            <a:lin ang="5400000" scaled="1"/>
          </a:gradFill>
          <a:ln w="9525" algn="ctr">
            <a:solidFill>
              <a:srgbClr val="FF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Privacy</a:t>
            </a:r>
          </a:p>
        </p:txBody>
      </p:sp>
      <p:sp>
        <p:nvSpPr>
          <p:cNvPr id="35" name="Text Box 27"/>
          <p:cNvSpPr txBox="1">
            <a:spLocks noChangeArrowheads="1"/>
          </p:cNvSpPr>
          <p:nvPr/>
        </p:nvSpPr>
        <p:spPr bwMode="auto">
          <a:xfrm rot="963342">
            <a:off x="1003908" y="4191000"/>
            <a:ext cx="1457325" cy="495300"/>
          </a:xfrm>
          <a:prstGeom prst="rect">
            <a:avLst/>
          </a:prstGeom>
          <a:gradFill rotWithShape="1">
            <a:gsLst>
              <a:gs pos="0">
                <a:srgbClr val="0099FF"/>
              </a:gs>
              <a:gs pos="100000">
                <a:srgbClr val="66CCFF"/>
              </a:gs>
            </a:gsLst>
            <a:lin ang="5400000" scaled="1"/>
          </a:gradFill>
          <a:ln w="9525" algn="ctr">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Public Cloud</a:t>
            </a:r>
          </a:p>
        </p:txBody>
      </p:sp>
      <p:sp>
        <p:nvSpPr>
          <p:cNvPr id="36" name="Text Box 28"/>
          <p:cNvSpPr txBox="1">
            <a:spLocks noChangeArrowheads="1"/>
          </p:cNvSpPr>
          <p:nvPr/>
        </p:nvSpPr>
        <p:spPr bwMode="auto">
          <a:xfrm rot="390885">
            <a:off x="767370" y="4984750"/>
            <a:ext cx="1517650" cy="495300"/>
          </a:xfrm>
          <a:prstGeom prst="rect">
            <a:avLst/>
          </a:prstGeom>
          <a:gradFill rotWithShape="1">
            <a:gsLst>
              <a:gs pos="0">
                <a:srgbClr val="660066"/>
              </a:gs>
              <a:gs pos="100000">
                <a:srgbClr val="9900CC"/>
              </a:gs>
            </a:gsLst>
            <a:lin ang="5400000" scaled="1"/>
          </a:gradFill>
          <a:ln w="9525" algn="ctr">
            <a:solidFill>
              <a:srgbClr val="66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Private Cloud</a:t>
            </a:r>
          </a:p>
        </p:txBody>
      </p:sp>
      <p:grpSp>
        <p:nvGrpSpPr>
          <p:cNvPr id="37" name="Group 29"/>
          <p:cNvGrpSpPr>
            <a:grpSpLocks/>
          </p:cNvGrpSpPr>
          <p:nvPr/>
        </p:nvGrpSpPr>
        <p:grpSpPr bwMode="auto">
          <a:xfrm>
            <a:off x="6031520" y="4464050"/>
            <a:ext cx="3270250" cy="2251075"/>
            <a:chOff x="3674" y="2856"/>
            <a:chExt cx="2060" cy="1418"/>
          </a:xfrm>
        </p:grpSpPr>
        <p:sp>
          <p:nvSpPr>
            <p:cNvPr id="38" name="AutoShape 30"/>
            <p:cNvSpPr>
              <a:spLocks noChangeArrowheads="1"/>
            </p:cNvSpPr>
            <p:nvPr/>
          </p:nvSpPr>
          <p:spPr bwMode="auto">
            <a:xfrm>
              <a:off x="3674" y="2856"/>
              <a:ext cx="1315" cy="752"/>
            </a:xfrm>
            <a:prstGeom prst="cloudCallout">
              <a:avLst>
                <a:gd name="adj1" fmla="val 30227"/>
                <a:gd name="adj2" fmla="val 67685"/>
              </a:avLst>
            </a:prstGeom>
            <a:gradFill rotWithShape="1">
              <a:gsLst>
                <a:gs pos="0">
                  <a:schemeClr val="bg1"/>
                </a:gs>
                <a:gs pos="100000">
                  <a:schemeClr val="accent1"/>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ltLang="en-US">
                <a:ea typeface="宋体" panose="02010600030101010101" pitchFamily="2" charset="-122"/>
              </a:endParaRPr>
            </a:p>
          </p:txBody>
        </p:sp>
        <p:sp>
          <p:nvSpPr>
            <p:cNvPr id="39" name="Text Box 31"/>
            <p:cNvSpPr txBox="1">
              <a:spLocks noChangeArrowheads="1"/>
            </p:cNvSpPr>
            <p:nvPr/>
          </p:nvSpPr>
          <p:spPr bwMode="auto">
            <a:xfrm>
              <a:off x="3788" y="3018"/>
              <a:ext cx="1183"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400" b="1">
                  <a:ea typeface="宋体" panose="02010600030101010101" pitchFamily="2" charset="-122"/>
                </a:rPr>
                <a:t>Uhm, I am not quite </a:t>
              </a:r>
            </a:p>
            <a:p>
              <a:pPr algn="ctr"/>
              <a:r>
                <a:rPr lang="en-US" altLang="zh-CN" sz="1400" b="1">
                  <a:ea typeface="宋体" panose="02010600030101010101" pitchFamily="2" charset="-122"/>
                </a:rPr>
                <a:t>clear…Yet another </a:t>
              </a:r>
            </a:p>
            <a:p>
              <a:pPr algn="ctr"/>
              <a:r>
                <a:rPr lang="en-US" altLang="zh-CN" sz="1400" b="1">
                  <a:ea typeface="宋体" panose="02010600030101010101" pitchFamily="2" charset="-122"/>
                </a:rPr>
                <a:t>buzzword..?</a:t>
              </a:r>
            </a:p>
          </p:txBody>
        </p:sp>
        <p:pic>
          <p:nvPicPr>
            <p:cNvPr id="40" name="Picture 32" descr="budd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2" y="3349"/>
              <a:ext cx="952" cy="925"/>
            </a:xfrm>
            <a:prstGeom prst="rect">
              <a:avLst/>
            </a:prstGeom>
            <a:noFill/>
            <a:extLst>
              <a:ext uri="{909E8E84-426E-40DD-AFC4-6F175D3DCCD1}">
                <a14:hiddenFill xmlns:a14="http://schemas.microsoft.com/office/drawing/2010/main">
                  <a:solidFill>
                    <a:srgbClr val="FFFFFF"/>
                  </a:solidFill>
                </a14:hiddenFill>
              </a:ext>
            </a:extLst>
          </p:spPr>
        </p:pic>
      </p:grpSp>
      <p:sp>
        <p:nvSpPr>
          <p:cNvPr id="41" name="Text Box 33"/>
          <p:cNvSpPr txBox="1">
            <a:spLocks noChangeArrowheads="1"/>
          </p:cNvSpPr>
          <p:nvPr/>
        </p:nvSpPr>
        <p:spPr bwMode="auto">
          <a:xfrm rot="-1237057">
            <a:off x="2261208" y="5291138"/>
            <a:ext cx="1830387" cy="495300"/>
          </a:xfrm>
          <a:prstGeom prst="rect">
            <a:avLst/>
          </a:prstGeom>
          <a:gradFill rotWithShape="1">
            <a:gsLst>
              <a:gs pos="0">
                <a:srgbClr val="0A5804"/>
              </a:gs>
              <a:gs pos="100000">
                <a:srgbClr val="009900"/>
              </a:gs>
            </a:gsLst>
            <a:lin ang="5400000" scaled="1"/>
          </a:gradFill>
          <a:ln w="9525" algn="ctr">
            <a:solidFill>
              <a:srgbClr val="0A5804"/>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2880" tIns="137160" rIns="182880" bIns="137160">
            <a:spAutoFit/>
          </a:bodyPr>
          <a:lstStyle/>
          <a:p>
            <a:pPr algn="ctr"/>
            <a:r>
              <a:rPr lang="en-US" altLang="en-US" sz="1400" b="1">
                <a:solidFill>
                  <a:schemeClr val="bg1"/>
                </a:solidFill>
              </a:rPr>
              <a:t>Enterprise Cloud</a:t>
            </a:r>
          </a:p>
        </p:txBody>
      </p:sp>
      <p:sp>
        <p:nvSpPr>
          <p:cNvPr id="42" name="Text Box 34"/>
          <p:cNvSpPr txBox="1">
            <a:spLocks noChangeArrowheads="1"/>
          </p:cNvSpPr>
          <p:nvPr/>
        </p:nvSpPr>
        <p:spPr bwMode="auto">
          <a:xfrm rot="1140777">
            <a:off x="6706208" y="1195388"/>
            <a:ext cx="1460500" cy="495300"/>
          </a:xfrm>
          <a:prstGeom prst="rect">
            <a:avLst/>
          </a:prstGeom>
          <a:gradFill rotWithShape="1">
            <a:gsLst>
              <a:gs pos="0">
                <a:srgbClr val="990033"/>
              </a:gs>
              <a:gs pos="100000">
                <a:srgbClr val="CC0066"/>
              </a:gs>
            </a:gsLst>
            <a:lin ang="5400000" scaled="1"/>
          </a:gradFill>
          <a:ln w="9525" algn="ctr">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Amazon EC2</a:t>
            </a:r>
          </a:p>
        </p:txBody>
      </p:sp>
      <p:sp>
        <p:nvSpPr>
          <p:cNvPr id="43" name="Text Box 35"/>
          <p:cNvSpPr txBox="1">
            <a:spLocks noChangeArrowheads="1"/>
          </p:cNvSpPr>
          <p:nvPr/>
        </p:nvSpPr>
        <p:spPr bwMode="auto">
          <a:xfrm rot="4697201">
            <a:off x="8076220" y="1576388"/>
            <a:ext cx="1514475" cy="495300"/>
          </a:xfrm>
          <a:prstGeom prst="rect">
            <a:avLst/>
          </a:prstGeom>
          <a:gradFill rotWithShape="1">
            <a:gsLst>
              <a:gs pos="0">
                <a:srgbClr val="292929"/>
              </a:gs>
              <a:gs pos="100000">
                <a:srgbClr val="777777"/>
              </a:gs>
            </a:gsLst>
            <a:lin ang="5400000" scaled="1"/>
          </a:gradFill>
          <a:ln w="9525" algn="ctr">
            <a:solidFill>
              <a:srgbClr val="29292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2880" tIns="137160" rIns="182880" bIns="137160">
            <a:spAutoFit/>
          </a:bodyPr>
          <a:lstStyle/>
          <a:p>
            <a:pPr algn="ctr"/>
            <a:r>
              <a:rPr lang="en-US" altLang="en-US" sz="1400" b="1">
                <a:solidFill>
                  <a:schemeClr val="bg1"/>
                </a:solidFill>
              </a:rPr>
              <a:t>Amazon S3</a:t>
            </a:r>
          </a:p>
        </p:txBody>
      </p:sp>
      <p:sp>
        <p:nvSpPr>
          <p:cNvPr id="44" name="Text Box 36"/>
          <p:cNvSpPr txBox="1">
            <a:spLocks noChangeArrowheads="1"/>
          </p:cNvSpPr>
          <p:nvPr/>
        </p:nvSpPr>
        <p:spPr bwMode="auto">
          <a:xfrm rot="1140777">
            <a:off x="4698020" y="5386388"/>
            <a:ext cx="1968500" cy="495300"/>
          </a:xfrm>
          <a:prstGeom prst="rect">
            <a:avLst/>
          </a:prstGeom>
          <a:gradFill rotWithShape="1">
            <a:gsLst>
              <a:gs pos="0">
                <a:srgbClr val="990000"/>
              </a:gs>
              <a:gs pos="100000">
                <a:srgbClr val="FF0000"/>
              </a:gs>
            </a:gsLst>
            <a:lin ang="5400000" scaled="1"/>
          </a:gradFill>
          <a:ln w="9525" algn="ctr">
            <a:solidFill>
              <a:srgbClr val="99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Google AppEngine</a:t>
            </a:r>
          </a:p>
        </p:txBody>
      </p:sp>
      <p:sp>
        <p:nvSpPr>
          <p:cNvPr id="45" name="Text Box 37"/>
          <p:cNvSpPr txBox="1">
            <a:spLocks noChangeArrowheads="1"/>
          </p:cNvSpPr>
          <p:nvPr/>
        </p:nvSpPr>
        <p:spPr bwMode="auto">
          <a:xfrm rot="-1559873">
            <a:off x="3188308" y="5778500"/>
            <a:ext cx="1735137" cy="495300"/>
          </a:xfrm>
          <a:prstGeom prst="rect">
            <a:avLst/>
          </a:prstGeom>
          <a:gradFill rotWithShape="1">
            <a:gsLst>
              <a:gs pos="0">
                <a:srgbClr val="0099FF"/>
              </a:gs>
              <a:gs pos="100000">
                <a:srgbClr val="66CCFF"/>
              </a:gs>
            </a:gsLst>
            <a:lin ang="5400000" scaled="1"/>
          </a:gradFill>
          <a:ln w="9525" algn="ctr">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SalesForce.com</a:t>
            </a:r>
          </a:p>
        </p:txBody>
      </p:sp>
      <p:sp>
        <p:nvSpPr>
          <p:cNvPr id="46" name="Text Box 38"/>
          <p:cNvSpPr txBox="1">
            <a:spLocks noChangeArrowheads="1"/>
          </p:cNvSpPr>
          <p:nvPr/>
        </p:nvSpPr>
        <p:spPr bwMode="auto">
          <a:xfrm rot="656392">
            <a:off x="4894870" y="6046788"/>
            <a:ext cx="935038" cy="495300"/>
          </a:xfrm>
          <a:prstGeom prst="rect">
            <a:avLst/>
          </a:prstGeom>
          <a:gradFill rotWithShape="1">
            <a:gsLst>
              <a:gs pos="0">
                <a:srgbClr val="FF9933"/>
              </a:gs>
              <a:gs pos="100000">
                <a:srgbClr val="FFCC00"/>
              </a:gs>
            </a:gsLst>
            <a:lin ang="5400000" scaled="1"/>
          </a:gradFill>
          <a:ln w="9525" algn="ctr">
            <a:solidFill>
              <a:srgbClr val="FF99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Mosso</a:t>
            </a:r>
          </a:p>
        </p:txBody>
      </p:sp>
      <p:sp>
        <p:nvSpPr>
          <p:cNvPr id="47" name="Text Box 39"/>
          <p:cNvSpPr txBox="1">
            <a:spLocks noChangeArrowheads="1"/>
          </p:cNvSpPr>
          <p:nvPr/>
        </p:nvSpPr>
        <p:spPr bwMode="auto">
          <a:xfrm rot="-1644571">
            <a:off x="2372333" y="2782888"/>
            <a:ext cx="1076325" cy="495300"/>
          </a:xfrm>
          <a:prstGeom prst="rect">
            <a:avLst/>
          </a:prstGeom>
          <a:gradFill rotWithShape="1">
            <a:gsLst>
              <a:gs pos="0">
                <a:srgbClr val="FF3399"/>
              </a:gs>
              <a:gs pos="100000">
                <a:srgbClr val="FF66FF"/>
              </a:gs>
            </a:gsLst>
            <a:lin ang="5400000" scaled="1"/>
          </a:gradFill>
          <a:ln w="9525" algn="ctr">
            <a:solidFill>
              <a:srgbClr val="FF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VMWare</a:t>
            </a:r>
          </a:p>
        </p:txBody>
      </p:sp>
      <p:sp>
        <p:nvSpPr>
          <p:cNvPr id="48" name="Text Box 40"/>
          <p:cNvSpPr txBox="1">
            <a:spLocks noChangeArrowheads="1"/>
          </p:cNvSpPr>
          <p:nvPr/>
        </p:nvSpPr>
        <p:spPr bwMode="auto">
          <a:xfrm rot="2260792">
            <a:off x="1362683" y="3316288"/>
            <a:ext cx="1400175" cy="495300"/>
          </a:xfrm>
          <a:prstGeom prst="rect">
            <a:avLst/>
          </a:prstGeom>
          <a:gradFill rotWithShape="1">
            <a:gsLst>
              <a:gs pos="0">
                <a:srgbClr val="990033"/>
              </a:gs>
              <a:gs pos="100000">
                <a:srgbClr val="CC0066"/>
              </a:gs>
            </a:gsLst>
            <a:lin ang="5400000" scaled="1"/>
          </a:gradFill>
          <a:ln w="9525" algn="ctr">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Hypervisors</a:t>
            </a:r>
          </a:p>
        </p:txBody>
      </p:sp>
      <p:sp>
        <p:nvSpPr>
          <p:cNvPr id="49" name="Text Box 41"/>
          <p:cNvSpPr txBox="1">
            <a:spLocks noChangeArrowheads="1"/>
          </p:cNvSpPr>
          <p:nvPr/>
        </p:nvSpPr>
        <p:spPr bwMode="auto">
          <a:xfrm rot="963342">
            <a:off x="7209445" y="4124325"/>
            <a:ext cx="1851025" cy="495300"/>
          </a:xfrm>
          <a:prstGeom prst="rect">
            <a:avLst/>
          </a:prstGeom>
          <a:gradFill rotWithShape="1">
            <a:gsLst>
              <a:gs pos="0">
                <a:srgbClr val="0099FF"/>
              </a:gs>
              <a:gs pos="100000">
                <a:srgbClr val="66CCFF"/>
              </a:gs>
            </a:gsLst>
            <a:lin ang="5400000" scaled="1"/>
          </a:gradFill>
          <a:ln w="9525" algn="ctr">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 tIns="137160" rIns="182880" bIns="137160">
            <a:spAutoFit/>
          </a:bodyPr>
          <a:lstStyle/>
          <a:p>
            <a:pPr algn="ctr"/>
            <a:r>
              <a:rPr lang="en-US" altLang="en-US" sz="1400" b="1">
                <a:solidFill>
                  <a:schemeClr val="bg1"/>
                </a:solidFill>
              </a:rPr>
              <a:t>Manjrasoft Aneka</a:t>
            </a:r>
          </a:p>
        </p:txBody>
      </p:sp>
    </p:spTree>
    <p:extLst>
      <p:ext uri="{BB962C8B-B14F-4D97-AF65-F5344CB8AC3E}">
        <p14:creationId xmlns:p14="http://schemas.microsoft.com/office/powerpoint/2010/main" val="2660851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2"/>
          <p:cNvSpPr>
            <a:spLocks noGrp="1"/>
          </p:cNvSpPr>
          <p:nvPr>
            <p:ph type="title"/>
          </p:nvPr>
        </p:nvSpPr>
        <p:spPr>
          <a:xfrm>
            <a:off x="0" y="5624"/>
            <a:ext cx="12192000" cy="1325563"/>
          </a:xfrm>
          <a:solidFill>
            <a:schemeClr val="accent5"/>
          </a:solidFill>
        </p:spPr>
        <p:txBody>
          <a:bodyPr/>
          <a:lstStyle/>
          <a:p>
            <a:r>
              <a:rPr lang="en-AU" altLang="en-US" dirty="0">
                <a:latin typeface="Verdana" panose="020B0604030504040204" pitchFamily="34" charset="0"/>
                <a:ea typeface="Verdana" panose="020B0604030504040204" pitchFamily="34" charset="0"/>
                <a:cs typeface="Verdana" panose="020B0604030504040204" pitchFamily="34" charset="0"/>
              </a:rPr>
              <a:t>.</a:t>
            </a:r>
          </a:p>
        </p:txBody>
      </p:sp>
      <p:sp>
        <p:nvSpPr>
          <p:cNvPr id="7" name="Rectangle 2"/>
          <p:cNvSpPr txBox="1">
            <a:spLocks noChangeArrowheads="1"/>
          </p:cNvSpPr>
          <p:nvPr/>
        </p:nvSpPr>
        <p:spPr bwMode="auto">
          <a:xfrm>
            <a:off x="1219200" y="177800"/>
            <a:ext cx="88392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0" tIns="45692" rIns="91380" bIns="45692" numCol="1" anchor="ctr" anchorCtr="0" compatLnSpc="1">
            <a:prstTxWarp prst="textNoShape">
              <a:avLst/>
            </a:prstTxWarp>
          </a:bodyPr>
          <a:lstStyle>
            <a:lvl1pPr algn="ctr" rtl="0" eaLnBrk="0" fontAlgn="base" hangingPunct="0">
              <a:spcBef>
                <a:spcPct val="0"/>
              </a:spcBef>
              <a:spcAft>
                <a:spcPct val="0"/>
              </a:spcAft>
              <a:defRPr sz="3600">
                <a:solidFill>
                  <a:srgbClr val="FFFF00"/>
                </a:solidFill>
                <a:latin typeface="+mj-lt"/>
                <a:ea typeface="+mj-ea"/>
                <a:cs typeface="+mj-cs"/>
              </a:defRPr>
            </a:lvl1pPr>
            <a:lvl2pPr algn="ctr" rtl="0" eaLnBrk="0" fontAlgn="base" hangingPunct="0">
              <a:spcBef>
                <a:spcPct val="0"/>
              </a:spcBef>
              <a:spcAft>
                <a:spcPct val="0"/>
              </a:spcAft>
              <a:defRPr sz="3600">
                <a:solidFill>
                  <a:srgbClr val="FFFF00"/>
                </a:solidFill>
                <a:latin typeface="Verdana" pitchFamily="34" charset="0"/>
                <a:ea typeface="SimSun" pitchFamily="2" charset="-122"/>
              </a:defRPr>
            </a:lvl2pPr>
            <a:lvl3pPr algn="ctr" rtl="0" eaLnBrk="0" fontAlgn="base" hangingPunct="0">
              <a:spcBef>
                <a:spcPct val="0"/>
              </a:spcBef>
              <a:spcAft>
                <a:spcPct val="0"/>
              </a:spcAft>
              <a:defRPr sz="3600">
                <a:solidFill>
                  <a:srgbClr val="FFFF00"/>
                </a:solidFill>
                <a:latin typeface="Verdana" pitchFamily="34" charset="0"/>
                <a:ea typeface="SimSun" pitchFamily="2" charset="-122"/>
              </a:defRPr>
            </a:lvl3pPr>
            <a:lvl4pPr algn="ctr" rtl="0" eaLnBrk="0" fontAlgn="base" hangingPunct="0">
              <a:spcBef>
                <a:spcPct val="0"/>
              </a:spcBef>
              <a:spcAft>
                <a:spcPct val="0"/>
              </a:spcAft>
              <a:defRPr sz="3600">
                <a:solidFill>
                  <a:srgbClr val="FFFF00"/>
                </a:solidFill>
                <a:latin typeface="Verdana" pitchFamily="34" charset="0"/>
                <a:ea typeface="SimSun" pitchFamily="2" charset="-122"/>
              </a:defRPr>
            </a:lvl4pPr>
            <a:lvl5pPr algn="ctr" rtl="0" eaLnBrk="0" fontAlgn="base" hangingPunct="0">
              <a:spcBef>
                <a:spcPct val="0"/>
              </a:spcBef>
              <a:spcAft>
                <a:spcPct val="0"/>
              </a:spcAft>
              <a:defRPr sz="3600">
                <a:solidFill>
                  <a:srgbClr val="FFFF00"/>
                </a:solidFill>
                <a:latin typeface="Verdana" pitchFamily="34" charset="0"/>
                <a:ea typeface="SimSun" pitchFamily="2" charset="-122"/>
              </a:defRPr>
            </a:lvl5pPr>
            <a:lvl6pPr marL="457200" algn="ctr" rtl="0" fontAlgn="base">
              <a:spcBef>
                <a:spcPct val="0"/>
              </a:spcBef>
              <a:spcAft>
                <a:spcPct val="0"/>
              </a:spcAft>
              <a:defRPr sz="3600">
                <a:solidFill>
                  <a:srgbClr val="FFFF00"/>
                </a:solidFill>
                <a:latin typeface="Verdana" pitchFamily="34" charset="0"/>
                <a:ea typeface="SimSun" pitchFamily="2" charset="-122"/>
              </a:defRPr>
            </a:lvl6pPr>
            <a:lvl7pPr marL="914400" algn="ctr" rtl="0" fontAlgn="base">
              <a:spcBef>
                <a:spcPct val="0"/>
              </a:spcBef>
              <a:spcAft>
                <a:spcPct val="0"/>
              </a:spcAft>
              <a:defRPr sz="3600">
                <a:solidFill>
                  <a:srgbClr val="FFFF00"/>
                </a:solidFill>
                <a:latin typeface="Verdana" pitchFamily="34" charset="0"/>
                <a:ea typeface="SimSun" pitchFamily="2" charset="-122"/>
              </a:defRPr>
            </a:lvl7pPr>
            <a:lvl8pPr marL="1371600" algn="ctr" rtl="0" fontAlgn="base">
              <a:spcBef>
                <a:spcPct val="0"/>
              </a:spcBef>
              <a:spcAft>
                <a:spcPct val="0"/>
              </a:spcAft>
              <a:defRPr sz="3600">
                <a:solidFill>
                  <a:srgbClr val="FFFF00"/>
                </a:solidFill>
                <a:latin typeface="Verdana" pitchFamily="34" charset="0"/>
                <a:ea typeface="SimSun" pitchFamily="2" charset="-122"/>
              </a:defRPr>
            </a:lvl8pPr>
            <a:lvl9pPr marL="1828800" algn="ctr" rtl="0" fontAlgn="base">
              <a:spcBef>
                <a:spcPct val="0"/>
              </a:spcBef>
              <a:spcAft>
                <a:spcPct val="0"/>
              </a:spcAft>
              <a:defRPr sz="3600">
                <a:solidFill>
                  <a:srgbClr val="FFFF00"/>
                </a:solidFill>
                <a:latin typeface="Verdana" pitchFamily="34" charset="0"/>
                <a:ea typeface="SimSun"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3200" b="0" i="0" u="none" strike="noStrike" kern="0" cap="none" spc="0" normalizeH="0" baseline="0" noProof="0" dirty="0">
                <a:ln>
                  <a:noFill/>
                </a:ln>
                <a:solidFill>
                  <a:srgbClr val="FFFF00"/>
                </a:solidFill>
                <a:effectLst/>
                <a:uLnTx/>
                <a:uFillTx/>
                <a:latin typeface="Verdana"/>
                <a:ea typeface="SimSun"/>
                <a:cs typeface="+mj-cs"/>
              </a:rPr>
              <a:t>When</a:t>
            </a:r>
            <a:r>
              <a:rPr kumimoji="0" lang="en-US" altLang="en-US" sz="3200" b="0" i="0" u="none" strike="noStrike" kern="0" cap="none" spc="0" normalizeH="0" noProof="0" dirty="0">
                <a:ln>
                  <a:noFill/>
                </a:ln>
                <a:solidFill>
                  <a:srgbClr val="FFFF00"/>
                </a:solidFill>
                <a:effectLst/>
                <a:uLnTx/>
                <a:uFillTx/>
                <a:latin typeface="Verdana"/>
                <a:ea typeface="SimSun"/>
                <a:cs typeface="+mj-cs"/>
              </a:rPr>
              <a:t> Should I say service is a Cloud?</a:t>
            </a:r>
            <a:endParaRPr kumimoji="0" lang="en-US" altLang="en-US" sz="3200" b="0" i="0" u="none" strike="noStrike" kern="0" cap="none" spc="0" normalizeH="0" baseline="0" noProof="0" dirty="0">
              <a:ln>
                <a:noFill/>
              </a:ln>
              <a:solidFill>
                <a:srgbClr val="FFFF00"/>
              </a:solidFill>
              <a:effectLst/>
              <a:uLnTx/>
              <a:uFillTx/>
              <a:latin typeface="Verdana"/>
              <a:ea typeface="SimSun"/>
              <a:cs typeface="+mj-cs"/>
            </a:endParaRPr>
          </a:p>
        </p:txBody>
      </p:sp>
      <p:sp>
        <p:nvSpPr>
          <p:cNvPr id="2" name="TextBox 1"/>
          <p:cNvSpPr txBox="1"/>
          <p:nvPr/>
        </p:nvSpPr>
        <p:spPr>
          <a:xfrm>
            <a:off x="819135" y="1724399"/>
            <a:ext cx="9994004" cy="707886"/>
          </a:xfrm>
          <a:prstGeom prst="rect">
            <a:avLst/>
          </a:prstGeom>
          <a:noFill/>
        </p:spPr>
        <p:txBody>
          <a:bodyPr wrap="square" rtlCol="0">
            <a:spAutoFit/>
          </a:bodyPr>
          <a:lstStyle/>
          <a:p>
            <a:pPr marL="342900" indent="-342900">
              <a:buClr>
                <a:srgbClr val="FF0000"/>
              </a:buClr>
              <a:buFont typeface="Wingdings" panose="05000000000000000000" pitchFamily="2" charset="2"/>
              <a:buChar char="q"/>
            </a:pPr>
            <a:r>
              <a:rPr lang="en-US" sz="4000" dirty="0">
                <a:latin typeface="Verdana" panose="020B0604030504040204" pitchFamily="34" charset="0"/>
                <a:ea typeface="Verdana" panose="020B0604030504040204" pitchFamily="34" charset="0"/>
                <a:cs typeface="Verdana" panose="020B0604030504040204" pitchFamily="34" charset="0"/>
              </a:rPr>
              <a:t>Elastic in nature</a:t>
            </a:r>
          </a:p>
        </p:txBody>
      </p:sp>
      <p:sp>
        <p:nvSpPr>
          <p:cNvPr id="3" name="Rectangle 2"/>
          <p:cNvSpPr/>
          <p:nvPr/>
        </p:nvSpPr>
        <p:spPr>
          <a:xfrm>
            <a:off x="920435" y="2635081"/>
            <a:ext cx="8023537" cy="646331"/>
          </a:xfrm>
          <a:prstGeom prst="rect">
            <a:avLst/>
          </a:prstGeom>
        </p:spPr>
        <p:txBody>
          <a:bodyPr wrap="square">
            <a:spAutoFit/>
          </a:bodyPr>
          <a:lstStyle/>
          <a:p>
            <a:pPr marL="342900" indent="-342900">
              <a:buClr>
                <a:srgbClr val="FF0000"/>
              </a:buClr>
              <a:buFont typeface="Wingdings" panose="05000000000000000000"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Scalable in nature</a:t>
            </a:r>
          </a:p>
        </p:txBody>
      </p:sp>
      <p:sp>
        <p:nvSpPr>
          <p:cNvPr id="8" name="Rectangle 7"/>
          <p:cNvSpPr/>
          <p:nvPr/>
        </p:nvSpPr>
        <p:spPr>
          <a:xfrm>
            <a:off x="920435" y="3555825"/>
            <a:ext cx="8023537" cy="646331"/>
          </a:xfrm>
          <a:prstGeom prst="rect">
            <a:avLst/>
          </a:prstGeom>
        </p:spPr>
        <p:txBody>
          <a:bodyPr wrap="square">
            <a:spAutoFit/>
          </a:bodyPr>
          <a:lstStyle/>
          <a:p>
            <a:pPr marL="342900" indent="-342900">
              <a:buClr>
                <a:srgbClr val="FF0000"/>
              </a:buClr>
              <a:buFont typeface="Wingdings" panose="05000000000000000000"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On Demand Access</a:t>
            </a:r>
          </a:p>
        </p:txBody>
      </p:sp>
      <p:sp>
        <p:nvSpPr>
          <p:cNvPr id="9" name="Rectangle 8"/>
          <p:cNvSpPr/>
          <p:nvPr/>
        </p:nvSpPr>
        <p:spPr>
          <a:xfrm>
            <a:off x="920435" y="4514119"/>
            <a:ext cx="8023537" cy="646331"/>
          </a:xfrm>
          <a:prstGeom prst="rect">
            <a:avLst/>
          </a:prstGeom>
        </p:spPr>
        <p:txBody>
          <a:bodyPr wrap="square">
            <a:spAutoFit/>
          </a:bodyPr>
          <a:lstStyle/>
          <a:p>
            <a:pPr marL="342900" indent="-342900">
              <a:buClr>
                <a:srgbClr val="FF0000"/>
              </a:buClr>
              <a:buFont typeface="Wingdings" panose="05000000000000000000"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Any Time any where</a:t>
            </a:r>
          </a:p>
        </p:txBody>
      </p:sp>
      <p:sp>
        <p:nvSpPr>
          <p:cNvPr id="10" name="Rectangle 9"/>
          <p:cNvSpPr/>
          <p:nvPr/>
        </p:nvSpPr>
        <p:spPr>
          <a:xfrm>
            <a:off x="819135" y="5315634"/>
            <a:ext cx="8757633" cy="646331"/>
          </a:xfrm>
          <a:prstGeom prst="rect">
            <a:avLst/>
          </a:prstGeom>
        </p:spPr>
        <p:txBody>
          <a:bodyPr wrap="square">
            <a:spAutoFit/>
          </a:bodyPr>
          <a:lstStyle/>
          <a:p>
            <a:pPr marL="342900" indent="-342900">
              <a:buClr>
                <a:srgbClr val="FF0000"/>
              </a:buClr>
              <a:buFont typeface="Wingdings" panose="05000000000000000000"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Accessible through API or browser</a:t>
            </a:r>
          </a:p>
        </p:txBody>
      </p:sp>
      <p:sp>
        <p:nvSpPr>
          <p:cNvPr id="11" name="Rectangle 10"/>
          <p:cNvSpPr/>
          <p:nvPr/>
        </p:nvSpPr>
        <p:spPr>
          <a:xfrm>
            <a:off x="6096000" y="1552106"/>
            <a:ext cx="8757633" cy="646331"/>
          </a:xfrm>
          <a:prstGeom prst="rect">
            <a:avLst/>
          </a:prstGeom>
        </p:spPr>
        <p:txBody>
          <a:bodyPr wrap="square">
            <a:spAutoFit/>
          </a:bodyPr>
          <a:lstStyle/>
          <a:p>
            <a:pPr marL="342900" indent="-342900">
              <a:buClr>
                <a:srgbClr val="FF0000"/>
              </a:buClr>
              <a:buFont typeface="Wingdings" panose="05000000000000000000"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Metering</a:t>
            </a:r>
          </a:p>
        </p:txBody>
      </p:sp>
      <p:sp>
        <p:nvSpPr>
          <p:cNvPr id="12" name="Rectangle 11"/>
          <p:cNvSpPr/>
          <p:nvPr/>
        </p:nvSpPr>
        <p:spPr>
          <a:xfrm>
            <a:off x="6095999" y="2203890"/>
            <a:ext cx="8757633" cy="646331"/>
          </a:xfrm>
          <a:prstGeom prst="rect">
            <a:avLst/>
          </a:prstGeom>
        </p:spPr>
        <p:txBody>
          <a:bodyPr wrap="square">
            <a:spAutoFit/>
          </a:bodyPr>
          <a:lstStyle/>
          <a:p>
            <a:pPr marL="342900" indent="-342900">
              <a:buClr>
                <a:srgbClr val="FF0000"/>
              </a:buClr>
              <a:buFont typeface="Wingdings" panose="05000000000000000000"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Dynamic Provisioning</a:t>
            </a:r>
          </a:p>
        </p:txBody>
      </p:sp>
      <p:sp>
        <p:nvSpPr>
          <p:cNvPr id="5" name="Slide Number Placeholder 4"/>
          <p:cNvSpPr>
            <a:spLocks noGrp="1"/>
          </p:cNvSpPr>
          <p:nvPr>
            <p:ph type="sldNum" sz="quarter" idx="12"/>
          </p:nvPr>
        </p:nvSpPr>
        <p:spPr/>
        <p:txBody>
          <a:bodyPr/>
          <a:lstStyle/>
          <a:p>
            <a:fld id="{2019AD06-451C-413E-AF31-86503C137FDF}" type="slidenum">
              <a:rPr lang="en-US" smtClean="0"/>
              <a:pPr/>
              <a:t>7</a:t>
            </a:fld>
            <a:endParaRPr lang="en-US"/>
          </a:p>
        </p:txBody>
      </p:sp>
    </p:spTree>
    <p:extLst>
      <p:ext uri="{BB962C8B-B14F-4D97-AF65-F5344CB8AC3E}">
        <p14:creationId xmlns:p14="http://schemas.microsoft.com/office/powerpoint/2010/main" val="2659955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8" grpId="0"/>
      <p:bldP spid="9" grpId="0"/>
      <p:bldP spid="10" grpId="0"/>
      <p:bldP spid="11"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2"/>
          <p:cNvSpPr>
            <a:spLocks noGrp="1"/>
          </p:cNvSpPr>
          <p:nvPr>
            <p:ph type="title"/>
          </p:nvPr>
        </p:nvSpPr>
        <p:spPr>
          <a:xfrm>
            <a:off x="0" y="5624"/>
            <a:ext cx="12192000" cy="1325563"/>
          </a:xfrm>
          <a:solidFill>
            <a:schemeClr val="accent5"/>
          </a:solidFill>
        </p:spPr>
        <p:txBody>
          <a:bodyPr/>
          <a:lstStyle/>
          <a:p>
            <a:r>
              <a:rPr lang="en-AU" altLang="en-US" sz="3600" kern="0" dirty="0">
                <a:solidFill>
                  <a:srgbClr val="FFFF00"/>
                </a:solidFill>
                <a:latin typeface="Verdana"/>
                <a:ea typeface="SimSun"/>
              </a:rPr>
              <a:t>                 Rentable Cloud Services</a:t>
            </a:r>
            <a:endParaRPr lang="en-AU" altLang="en-US" dirty="0">
              <a:latin typeface="Verdana" panose="020B0604030504040204" pitchFamily="34" charset="0"/>
              <a:ea typeface="Verdana" panose="020B0604030504040204" pitchFamily="34" charset="0"/>
              <a:cs typeface="Verdana" panose="020B0604030504040204" pitchFamily="34" charset="0"/>
            </a:endParaRPr>
          </a:p>
        </p:txBody>
      </p:sp>
      <p:sp>
        <p:nvSpPr>
          <p:cNvPr id="92" name="Rectangle 3"/>
          <p:cNvSpPr txBox="1">
            <a:spLocks noChangeArrowheads="1"/>
          </p:cNvSpPr>
          <p:nvPr/>
        </p:nvSpPr>
        <p:spPr bwMode="auto">
          <a:xfrm>
            <a:off x="2473816" y="1676400"/>
            <a:ext cx="4419600" cy="445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0" tIns="45692" rIns="91380" bIns="45692" numCol="1" anchor="t" anchorCtr="0" compatLnSpc="1">
            <a:prstTxWarp prst="textNoShape">
              <a:avLst/>
            </a:prstTxWarp>
          </a:bodyPr>
          <a:lstStyle>
            <a:lvl1pPr marL="342900" indent="-342900" algn="l" rtl="0" eaLnBrk="0" fontAlgn="base" hangingPunct="0">
              <a:spcBef>
                <a:spcPct val="20000"/>
              </a:spcBef>
              <a:spcAft>
                <a:spcPct val="0"/>
              </a:spcAft>
              <a:buClr>
                <a:schemeClr val="accent2"/>
              </a:buClr>
              <a:buSzPct val="60000"/>
              <a:buFont typeface="Wingdings" panose="05000000000000000000" pitchFamily="2" charset="2"/>
              <a:buChar char="n"/>
              <a:defRPr sz="28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000">
                <a:solidFill>
                  <a:schemeClr val="tx1"/>
                </a:solidFill>
                <a:latin typeface="Times New Roman" pitchFamily="18" charset="0"/>
                <a:ea typeface="+mn-ea"/>
                <a:cs typeface="Times New Roman" pitchFamily="18" charset="0"/>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1800">
                <a:solidFill>
                  <a:schemeClr val="tx1"/>
                </a:solidFill>
                <a:latin typeface="Times New Roman" pitchFamily="18" charset="0"/>
                <a:ea typeface="+mn-ea"/>
                <a:cs typeface="Times New Roman" pitchFamily="18" charset="0"/>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1800">
                <a:solidFill>
                  <a:schemeClr val="tx1"/>
                </a:solidFill>
                <a:latin typeface="Times New Roman" pitchFamily="18" charset="0"/>
                <a:ea typeface="+mn-ea"/>
                <a:cs typeface="Times New Roman" pitchFamily="18" charset="0"/>
              </a:defRPr>
            </a:lvl5pPr>
            <a:lvl6pPr marL="2514600" indent="-228600" algn="l" rtl="0" fontAlgn="base">
              <a:spcBef>
                <a:spcPct val="20000"/>
              </a:spcBef>
              <a:spcAft>
                <a:spcPct val="0"/>
              </a:spcAft>
              <a:buClr>
                <a:schemeClr val="accent1"/>
              </a:buClr>
              <a:buSzPct val="50000"/>
              <a:buFont typeface="Wingdings" pitchFamily="2" charset="2"/>
              <a:buChar char="n"/>
              <a:defRPr sz="1800">
                <a:solidFill>
                  <a:schemeClr val="tx1"/>
                </a:solidFill>
                <a:latin typeface="Times New Roman" pitchFamily="18" charset="0"/>
                <a:ea typeface="+mn-ea"/>
                <a:cs typeface="Times New Roman" pitchFamily="18" charset="0"/>
              </a:defRPr>
            </a:lvl6pPr>
            <a:lvl7pPr marL="2971800" indent="-228600" algn="l" rtl="0" fontAlgn="base">
              <a:spcBef>
                <a:spcPct val="20000"/>
              </a:spcBef>
              <a:spcAft>
                <a:spcPct val="0"/>
              </a:spcAft>
              <a:buClr>
                <a:schemeClr val="accent1"/>
              </a:buClr>
              <a:buSzPct val="50000"/>
              <a:buFont typeface="Wingdings" pitchFamily="2" charset="2"/>
              <a:buChar char="n"/>
              <a:defRPr sz="1800">
                <a:solidFill>
                  <a:schemeClr val="tx1"/>
                </a:solidFill>
                <a:latin typeface="Times New Roman" pitchFamily="18" charset="0"/>
                <a:ea typeface="+mn-ea"/>
                <a:cs typeface="Times New Roman" pitchFamily="18" charset="0"/>
              </a:defRPr>
            </a:lvl7pPr>
            <a:lvl8pPr marL="3429000" indent="-228600" algn="l" rtl="0" fontAlgn="base">
              <a:spcBef>
                <a:spcPct val="20000"/>
              </a:spcBef>
              <a:spcAft>
                <a:spcPct val="0"/>
              </a:spcAft>
              <a:buClr>
                <a:schemeClr val="accent1"/>
              </a:buClr>
              <a:buSzPct val="50000"/>
              <a:buFont typeface="Wingdings" pitchFamily="2" charset="2"/>
              <a:buChar char="n"/>
              <a:defRPr sz="1800">
                <a:solidFill>
                  <a:schemeClr val="tx1"/>
                </a:solidFill>
                <a:latin typeface="Times New Roman" pitchFamily="18" charset="0"/>
                <a:ea typeface="+mn-ea"/>
                <a:cs typeface="Times New Roman" pitchFamily="18" charset="0"/>
              </a:defRPr>
            </a:lvl8pPr>
            <a:lvl9pPr marL="3886200" indent="-228600" algn="l" rtl="0" fontAlgn="base">
              <a:spcBef>
                <a:spcPct val="20000"/>
              </a:spcBef>
              <a:spcAft>
                <a:spcPct val="0"/>
              </a:spcAft>
              <a:buClr>
                <a:schemeClr val="accent1"/>
              </a:buClr>
              <a:buSzPct val="50000"/>
              <a:buFont typeface="Wingdings" pitchFamily="2" charset="2"/>
              <a:buChar char="n"/>
              <a:defRPr sz="1800">
                <a:solidFill>
                  <a:schemeClr val="tx1"/>
                </a:solidFill>
                <a:latin typeface="Times New Roman" pitchFamily="18" charset="0"/>
                <a:ea typeface="+mn-ea"/>
                <a:cs typeface="Times New Roman" pitchFamily="18" charset="0"/>
              </a:defRPr>
            </a:lvl9pPr>
          </a:lstStyle>
          <a:p>
            <a:pPr marL="342900" marR="0" lvl="0" indent="-342900" algn="l" defTabSz="914400" rtl="0" eaLnBrk="1" fontAlgn="base" latinLnBrk="0" hangingPunct="1">
              <a:lnSpc>
                <a:spcPct val="100000"/>
              </a:lnSpc>
              <a:spcBef>
                <a:spcPct val="20000"/>
              </a:spcBef>
              <a:spcAft>
                <a:spcPct val="0"/>
              </a:spcAft>
              <a:buClr>
                <a:srgbClr val="FFCF01"/>
              </a:buClr>
              <a:buSzPct val="60000"/>
              <a:buFont typeface="Wingdings" panose="05000000000000000000" pitchFamily="2" charset="2"/>
              <a:buChar char="n"/>
              <a:tabLst/>
              <a:defRPr/>
            </a:pPr>
            <a:r>
              <a:rPr kumimoji="0" lang="en-AU" altLang="en-US" sz="2400" b="0" i="0" u="none" strike="noStrike" kern="0" cap="none" spc="0" normalizeH="0" baseline="0" noProof="0">
                <a:ln>
                  <a:noFill/>
                </a:ln>
                <a:solidFill>
                  <a:srgbClr val="0000FF"/>
                </a:solidFill>
                <a:effectLst/>
                <a:uLnTx/>
                <a:uFillTx/>
                <a:latin typeface="Tahoma"/>
                <a:ea typeface="SimSun"/>
                <a:cs typeface="Tahoma"/>
              </a:rPr>
              <a:t>Infrastructure as a Service (IaaS)</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AU" altLang="en-US" sz="2000" b="0" i="0" u="none" strike="noStrike" kern="0" cap="none" spc="0" normalizeH="0" baseline="0" noProof="0">
                <a:ln>
                  <a:noFill/>
                </a:ln>
                <a:solidFill>
                  <a:srgbClr val="000000"/>
                </a:solidFill>
                <a:effectLst/>
                <a:uLnTx/>
                <a:uFillTx/>
                <a:latin typeface="Arial" pitchFamily="34" charset="0"/>
                <a:ea typeface="SimSun"/>
                <a:cs typeface="Arial" pitchFamily="34" charset="0"/>
              </a:rPr>
              <a:t>CPU, Storage: Amazon.com, Nirvanix, GoGrid….</a:t>
            </a:r>
          </a:p>
          <a:p>
            <a:pPr marL="342900" marR="0" lvl="0" indent="-342900" algn="l" defTabSz="914400" rtl="0" eaLnBrk="1" fontAlgn="base" latinLnBrk="0" hangingPunct="1">
              <a:lnSpc>
                <a:spcPct val="100000"/>
              </a:lnSpc>
              <a:spcBef>
                <a:spcPct val="20000"/>
              </a:spcBef>
              <a:spcAft>
                <a:spcPct val="0"/>
              </a:spcAft>
              <a:buClr>
                <a:srgbClr val="FFCF01"/>
              </a:buClr>
              <a:buSzPct val="60000"/>
              <a:buFont typeface="Wingdings" panose="05000000000000000000" pitchFamily="2" charset="2"/>
              <a:buChar char="n"/>
              <a:tabLst/>
              <a:defRPr/>
            </a:pPr>
            <a:r>
              <a:rPr kumimoji="0" lang="en-AU" altLang="en-US" sz="2400" b="0" i="0" u="none" strike="noStrike" kern="0" cap="none" spc="0" normalizeH="0" baseline="0" noProof="0">
                <a:ln>
                  <a:noFill/>
                </a:ln>
                <a:solidFill>
                  <a:srgbClr val="0000FF"/>
                </a:solidFill>
                <a:effectLst/>
                <a:uLnTx/>
                <a:uFillTx/>
                <a:latin typeface="Tahoma"/>
                <a:ea typeface="SimSun"/>
                <a:cs typeface="Tahoma"/>
              </a:rPr>
              <a:t>Platform as a Service (PaaS)</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AU" altLang="en-US" sz="2000" b="0" i="0" u="none" strike="noStrike" kern="0" cap="none" spc="0" normalizeH="0" baseline="0" noProof="0">
                <a:ln>
                  <a:noFill/>
                </a:ln>
                <a:solidFill>
                  <a:srgbClr val="000000"/>
                </a:solidFill>
                <a:effectLst/>
                <a:uLnTx/>
                <a:uFillTx/>
                <a:latin typeface="Arial" pitchFamily="34" charset="0"/>
                <a:ea typeface="SimSun"/>
                <a:cs typeface="Arial" pitchFamily="34" charset="0"/>
              </a:rPr>
              <a:t>Google App Engine, Microsoft Azure, Manjrasoft Aneka..</a:t>
            </a:r>
          </a:p>
          <a:p>
            <a:pPr marL="342900" marR="0" lvl="0" indent="-342900" algn="l" defTabSz="914400" rtl="0" eaLnBrk="1" fontAlgn="base" latinLnBrk="0" hangingPunct="1">
              <a:lnSpc>
                <a:spcPct val="100000"/>
              </a:lnSpc>
              <a:spcBef>
                <a:spcPct val="20000"/>
              </a:spcBef>
              <a:spcAft>
                <a:spcPct val="0"/>
              </a:spcAft>
              <a:buClr>
                <a:srgbClr val="FFCF01"/>
              </a:buClr>
              <a:buSzPct val="60000"/>
              <a:buFont typeface="Wingdings" panose="05000000000000000000" pitchFamily="2" charset="2"/>
              <a:buChar char="n"/>
              <a:tabLst/>
              <a:defRPr/>
            </a:pPr>
            <a:r>
              <a:rPr kumimoji="0" lang="en-AU" altLang="en-US" sz="2400" b="0" i="0" u="none" strike="noStrike" kern="0" cap="none" spc="0" normalizeH="0" baseline="0" noProof="0">
                <a:ln>
                  <a:noFill/>
                </a:ln>
                <a:solidFill>
                  <a:srgbClr val="0000FF"/>
                </a:solidFill>
                <a:effectLst/>
                <a:uLnTx/>
                <a:uFillTx/>
                <a:latin typeface="Tahoma"/>
                <a:ea typeface="SimSun"/>
                <a:cs typeface="Tahoma"/>
              </a:rPr>
              <a:t>Software as a Service (SaaS)</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AU" altLang="en-US" sz="2000" b="0" i="0" u="none" strike="noStrike" kern="0" cap="none" spc="0" normalizeH="0" baseline="0" noProof="0">
                <a:ln>
                  <a:noFill/>
                </a:ln>
                <a:solidFill>
                  <a:srgbClr val="000000"/>
                </a:solidFill>
                <a:effectLst/>
                <a:uLnTx/>
                <a:uFillTx/>
                <a:latin typeface="Arial" pitchFamily="34" charset="0"/>
                <a:ea typeface="SimSun"/>
                <a:cs typeface="Arial" pitchFamily="34" charset="0"/>
              </a:rPr>
              <a:t>SalesForce.Com</a:t>
            </a:r>
            <a:endParaRPr kumimoji="0" lang="en-US" altLang="en-US" sz="2000" b="0" i="0" u="none" strike="noStrike" kern="0" cap="none" spc="0" normalizeH="0" baseline="0" noProof="0" dirty="0">
              <a:ln>
                <a:noFill/>
              </a:ln>
              <a:solidFill>
                <a:srgbClr val="000000"/>
              </a:solidFill>
              <a:effectLst/>
              <a:uLnTx/>
              <a:uFillTx/>
              <a:latin typeface="Arial" pitchFamily="34" charset="0"/>
              <a:ea typeface="SimSun"/>
              <a:cs typeface="Arial" pitchFamily="34" charset="0"/>
            </a:endParaRPr>
          </a:p>
        </p:txBody>
      </p:sp>
      <p:sp>
        <p:nvSpPr>
          <p:cNvPr id="93" name="Rectangle 41"/>
          <p:cNvSpPr>
            <a:spLocks noChangeArrowheads="1"/>
          </p:cNvSpPr>
          <p:nvPr/>
        </p:nvSpPr>
        <p:spPr bwMode="auto">
          <a:xfrm>
            <a:off x="7350616" y="4419600"/>
            <a:ext cx="2895600" cy="762000"/>
          </a:xfrm>
          <a:prstGeom prst="rect">
            <a:avLst/>
          </a:prstGeom>
          <a:solidFill>
            <a:srgbClr val="FFCC99"/>
          </a:solidFill>
          <a:ln w="9525" algn="ctr">
            <a:solidFill>
              <a:srgbClr val="000000"/>
            </a:solidFill>
            <a:miter lim="800000"/>
            <a:headEnd/>
            <a:tailEnd/>
          </a:ln>
        </p:spPr>
        <p:txBody>
          <a:bodyPr wrap="none" lIns="91380" tIns="45692" rIns="91380" bIns="45692" anchor="ctr"/>
          <a:lstStyle>
            <a:lvl1pPr eaLnBrk="0" hangingPunct="0">
              <a:defRPr sz="1200">
                <a:solidFill>
                  <a:schemeClr val="tx1"/>
                </a:solidFill>
                <a:latin typeface="Verdana" panose="020B0604030504040204" pitchFamily="34" charset="0"/>
                <a:ea typeface="SimSun" panose="02010600030101010101" pitchFamily="2" charset="-122"/>
              </a:defRPr>
            </a:lvl1pPr>
            <a:lvl2pPr marL="742950" indent="-285750" eaLnBrk="0" hangingPunct="0">
              <a:defRPr sz="1200">
                <a:solidFill>
                  <a:schemeClr val="tx1"/>
                </a:solidFill>
                <a:latin typeface="Verdana" panose="020B0604030504040204" pitchFamily="34" charset="0"/>
                <a:ea typeface="SimSun" panose="02010600030101010101" pitchFamily="2" charset="-122"/>
              </a:defRPr>
            </a:lvl2pPr>
            <a:lvl3pPr marL="1143000" indent="-228600" eaLnBrk="0" hangingPunct="0">
              <a:defRPr sz="1200">
                <a:solidFill>
                  <a:schemeClr val="tx1"/>
                </a:solidFill>
                <a:latin typeface="Verdana" panose="020B0604030504040204" pitchFamily="34" charset="0"/>
                <a:ea typeface="SimSun" panose="02010600030101010101" pitchFamily="2" charset="-122"/>
              </a:defRPr>
            </a:lvl3pPr>
            <a:lvl4pPr marL="1600200" indent="-228600" eaLnBrk="0" hangingPunct="0">
              <a:defRPr sz="1200">
                <a:solidFill>
                  <a:schemeClr val="tx1"/>
                </a:solidFill>
                <a:latin typeface="Verdana" panose="020B0604030504040204" pitchFamily="34" charset="0"/>
                <a:ea typeface="SimSun" panose="02010600030101010101" pitchFamily="2" charset="-122"/>
              </a:defRPr>
            </a:lvl4pPr>
            <a:lvl5pPr marL="2057400" indent="-228600" eaLnBrk="0" hangingPunct="0">
              <a:defRPr sz="1200">
                <a:solidFill>
                  <a:schemeClr val="tx1"/>
                </a:solidFill>
                <a:latin typeface="Verdan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AU" alt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rPr>
              <a:t>Infrastructure as a Service (IaaS)</a:t>
            </a:r>
            <a:endParaRPr kumimoji="0" lang="en-US" alt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94" name="Rectangle 42"/>
          <p:cNvSpPr>
            <a:spLocks noChangeArrowheads="1"/>
          </p:cNvSpPr>
          <p:nvPr/>
        </p:nvSpPr>
        <p:spPr bwMode="auto">
          <a:xfrm>
            <a:off x="7350616" y="2209800"/>
            <a:ext cx="2895600" cy="762000"/>
          </a:xfrm>
          <a:prstGeom prst="rect">
            <a:avLst/>
          </a:prstGeom>
          <a:solidFill>
            <a:srgbClr val="00FFFF"/>
          </a:solidFill>
          <a:ln w="9525" algn="ctr">
            <a:solidFill>
              <a:srgbClr val="000000"/>
            </a:solidFill>
            <a:miter lim="800000"/>
            <a:headEnd/>
            <a:tailEnd/>
          </a:ln>
        </p:spPr>
        <p:txBody>
          <a:bodyPr wrap="none" lIns="91380" tIns="45692" rIns="91380" bIns="45692" anchor="ctr"/>
          <a:lstStyle>
            <a:lvl1pPr eaLnBrk="0" hangingPunct="0">
              <a:defRPr sz="1200">
                <a:solidFill>
                  <a:schemeClr val="tx1"/>
                </a:solidFill>
                <a:latin typeface="Verdana" panose="020B0604030504040204" pitchFamily="34" charset="0"/>
                <a:ea typeface="SimSun" panose="02010600030101010101" pitchFamily="2" charset="-122"/>
              </a:defRPr>
            </a:lvl1pPr>
            <a:lvl2pPr marL="742950" indent="-285750" eaLnBrk="0" hangingPunct="0">
              <a:defRPr sz="1200">
                <a:solidFill>
                  <a:schemeClr val="tx1"/>
                </a:solidFill>
                <a:latin typeface="Verdana" panose="020B0604030504040204" pitchFamily="34" charset="0"/>
                <a:ea typeface="SimSun" panose="02010600030101010101" pitchFamily="2" charset="-122"/>
              </a:defRPr>
            </a:lvl2pPr>
            <a:lvl3pPr marL="1143000" indent="-228600" eaLnBrk="0" hangingPunct="0">
              <a:defRPr sz="1200">
                <a:solidFill>
                  <a:schemeClr val="tx1"/>
                </a:solidFill>
                <a:latin typeface="Verdana" panose="020B0604030504040204" pitchFamily="34" charset="0"/>
                <a:ea typeface="SimSun" panose="02010600030101010101" pitchFamily="2" charset="-122"/>
              </a:defRPr>
            </a:lvl3pPr>
            <a:lvl4pPr marL="1600200" indent="-228600" eaLnBrk="0" hangingPunct="0">
              <a:defRPr sz="1200">
                <a:solidFill>
                  <a:schemeClr val="tx1"/>
                </a:solidFill>
                <a:latin typeface="Verdana" panose="020B0604030504040204" pitchFamily="34" charset="0"/>
                <a:ea typeface="SimSun" panose="02010600030101010101" pitchFamily="2" charset="-122"/>
              </a:defRPr>
            </a:lvl4pPr>
            <a:lvl5pPr marL="2057400" indent="-228600" eaLnBrk="0" hangingPunct="0">
              <a:defRPr sz="1200">
                <a:solidFill>
                  <a:schemeClr val="tx1"/>
                </a:solidFill>
                <a:latin typeface="Verdan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AU" alt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rPr>
              <a:t>Software as a Service (SaaS)</a:t>
            </a:r>
            <a:endParaRPr kumimoji="0" lang="en-US" alt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95" name="Rectangle 43"/>
          <p:cNvSpPr>
            <a:spLocks noChangeArrowheads="1"/>
          </p:cNvSpPr>
          <p:nvPr/>
        </p:nvSpPr>
        <p:spPr bwMode="auto">
          <a:xfrm>
            <a:off x="7350616" y="3276600"/>
            <a:ext cx="2895600" cy="762000"/>
          </a:xfrm>
          <a:prstGeom prst="rect">
            <a:avLst/>
          </a:prstGeom>
          <a:solidFill>
            <a:srgbClr val="CCFFCC"/>
          </a:solidFill>
          <a:ln w="9525" algn="ctr">
            <a:solidFill>
              <a:srgbClr val="000000"/>
            </a:solidFill>
            <a:miter lim="800000"/>
            <a:headEnd/>
            <a:tailEnd/>
          </a:ln>
        </p:spPr>
        <p:txBody>
          <a:bodyPr wrap="none" lIns="91380" tIns="45692" rIns="91380" bIns="45692" anchor="ctr"/>
          <a:lstStyle>
            <a:lvl1pPr eaLnBrk="0" hangingPunct="0">
              <a:defRPr sz="1200">
                <a:solidFill>
                  <a:schemeClr val="tx1"/>
                </a:solidFill>
                <a:latin typeface="Verdana" panose="020B0604030504040204" pitchFamily="34" charset="0"/>
                <a:ea typeface="SimSun" panose="02010600030101010101" pitchFamily="2" charset="-122"/>
              </a:defRPr>
            </a:lvl1pPr>
            <a:lvl2pPr marL="742950" indent="-285750" eaLnBrk="0" hangingPunct="0">
              <a:defRPr sz="1200">
                <a:solidFill>
                  <a:schemeClr val="tx1"/>
                </a:solidFill>
                <a:latin typeface="Verdana" panose="020B0604030504040204" pitchFamily="34" charset="0"/>
                <a:ea typeface="SimSun" panose="02010600030101010101" pitchFamily="2" charset="-122"/>
              </a:defRPr>
            </a:lvl2pPr>
            <a:lvl3pPr marL="1143000" indent="-228600" eaLnBrk="0" hangingPunct="0">
              <a:defRPr sz="1200">
                <a:solidFill>
                  <a:schemeClr val="tx1"/>
                </a:solidFill>
                <a:latin typeface="Verdana" panose="020B0604030504040204" pitchFamily="34" charset="0"/>
                <a:ea typeface="SimSun" panose="02010600030101010101" pitchFamily="2" charset="-122"/>
              </a:defRPr>
            </a:lvl3pPr>
            <a:lvl4pPr marL="1600200" indent="-228600" eaLnBrk="0" hangingPunct="0">
              <a:defRPr sz="1200">
                <a:solidFill>
                  <a:schemeClr val="tx1"/>
                </a:solidFill>
                <a:latin typeface="Verdana" panose="020B0604030504040204" pitchFamily="34" charset="0"/>
                <a:ea typeface="SimSun" panose="02010600030101010101" pitchFamily="2" charset="-122"/>
              </a:defRPr>
            </a:lvl4pPr>
            <a:lvl5pPr marL="2057400" indent="-228600" eaLnBrk="0" hangingPunct="0">
              <a:defRPr sz="1200">
                <a:solidFill>
                  <a:schemeClr val="tx1"/>
                </a:solidFill>
                <a:latin typeface="Verdan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AU" alt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rPr>
              <a:t>Platform as a Service (PaaS)</a:t>
            </a:r>
            <a:endParaRPr kumimoji="0" lang="en-US" alt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pic>
        <p:nvPicPr>
          <p:cNvPr id="9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2416" y="5981700"/>
            <a:ext cx="14287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9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816" y="5943600"/>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98"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5016" y="5867400"/>
            <a:ext cx="100171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99"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8016" y="5638800"/>
            <a:ext cx="133191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00" name="Picture 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521816" y="5654675"/>
            <a:ext cx="9144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60216" y="5867400"/>
            <a:ext cx="121920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02" name="Picture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560416" y="5867400"/>
            <a:ext cx="1095375"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3" name="TextBox 15"/>
          <p:cNvSpPr txBox="1">
            <a:spLocks noChangeArrowheads="1"/>
          </p:cNvSpPr>
          <p:nvPr/>
        </p:nvSpPr>
        <p:spPr bwMode="auto">
          <a:xfrm>
            <a:off x="9142904" y="6019800"/>
            <a:ext cx="4095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a:solidFill>
                  <a:schemeClr val="tx1"/>
                </a:solidFill>
                <a:latin typeface="Verdana" panose="020B0604030504040204" pitchFamily="34" charset="0"/>
                <a:ea typeface="SimSun" panose="02010600030101010101" pitchFamily="2" charset="-122"/>
              </a:defRPr>
            </a:lvl1pPr>
            <a:lvl2pPr marL="742950" indent="-285750" eaLnBrk="0" hangingPunct="0">
              <a:defRPr sz="1200">
                <a:solidFill>
                  <a:schemeClr val="tx1"/>
                </a:solidFill>
                <a:latin typeface="Verdana" panose="020B0604030504040204" pitchFamily="34" charset="0"/>
                <a:ea typeface="SimSun" panose="02010600030101010101" pitchFamily="2" charset="-122"/>
              </a:defRPr>
            </a:lvl2pPr>
            <a:lvl3pPr marL="1143000" indent="-228600" eaLnBrk="0" hangingPunct="0">
              <a:defRPr sz="1200">
                <a:solidFill>
                  <a:schemeClr val="tx1"/>
                </a:solidFill>
                <a:latin typeface="Verdana" panose="020B0604030504040204" pitchFamily="34" charset="0"/>
                <a:ea typeface="SimSun" panose="02010600030101010101" pitchFamily="2" charset="-122"/>
              </a:defRPr>
            </a:lvl3pPr>
            <a:lvl4pPr marL="1600200" indent="-228600" eaLnBrk="0" hangingPunct="0">
              <a:defRPr sz="1200">
                <a:solidFill>
                  <a:schemeClr val="tx1"/>
                </a:solidFill>
                <a:latin typeface="Verdana" panose="020B0604030504040204" pitchFamily="34" charset="0"/>
                <a:ea typeface="SimSun" panose="02010600030101010101" pitchFamily="2" charset="-122"/>
              </a:defRPr>
            </a:lvl4pPr>
            <a:lvl5pPr marL="2057400" indent="-228600" eaLnBrk="0" hangingPunct="0">
              <a:defRPr sz="1200">
                <a:solidFill>
                  <a:schemeClr val="tx1"/>
                </a:solidFill>
                <a:latin typeface="Verdan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9pPr>
          </a:lstStyle>
          <a:p>
            <a:pPr algn="ctr" eaLnBrk="1" fontAlgn="base" hangingPunct="1">
              <a:spcBef>
                <a:spcPct val="0"/>
              </a:spcBef>
              <a:spcAft>
                <a:spcPct val="0"/>
              </a:spcAft>
            </a:pPr>
            <a:r>
              <a:rPr lang="en-AU" altLang="en-US">
                <a:solidFill>
                  <a:srgbClr val="000000"/>
                </a:solidFill>
                <a:cs typeface="Tahoma"/>
              </a:rPr>
              <a:t>....</a:t>
            </a:r>
          </a:p>
        </p:txBody>
      </p:sp>
      <p:sp>
        <p:nvSpPr>
          <p:cNvPr id="3" name="Slide Number Placeholder 2"/>
          <p:cNvSpPr>
            <a:spLocks noGrp="1"/>
          </p:cNvSpPr>
          <p:nvPr>
            <p:ph type="sldNum" sz="quarter" idx="12"/>
          </p:nvPr>
        </p:nvSpPr>
        <p:spPr/>
        <p:txBody>
          <a:bodyPr/>
          <a:lstStyle/>
          <a:p>
            <a:fld id="{2019AD06-451C-413E-AF31-86503C137FDF}" type="slidenum">
              <a:rPr lang="en-US" smtClean="0"/>
              <a:pPr/>
              <a:t>8</a:t>
            </a:fld>
            <a:endParaRPr lang="en-US"/>
          </a:p>
        </p:txBody>
      </p:sp>
    </p:spTree>
    <p:extLst>
      <p:ext uri="{BB962C8B-B14F-4D97-AF65-F5344CB8AC3E}">
        <p14:creationId xmlns:p14="http://schemas.microsoft.com/office/powerpoint/2010/main" val="30647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2"/>
          <p:cNvSpPr>
            <a:spLocks noGrp="1"/>
          </p:cNvSpPr>
          <p:nvPr>
            <p:ph type="title"/>
          </p:nvPr>
        </p:nvSpPr>
        <p:spPr>
          <a:xfrm>
            <a:off x="0" y="6456"/>
            <a:ext cx="12192000" cy="1325563"/>
          </a:xfrm>
          <a:solidFill>
            <a:schemeClr val="accent5"/>
          </a:solidFill>
        </p:spPr>
        <p:txBody>
          <a:bodyPr/>
          <a:lstStyle/>
          <a:p>
            <a:r>
              <a:rPr lang="en-AU" altLang="en-US" sz="3600" kern="0" dirty="0">
                <a:solidFill>
                  <a:srgbClr val="FFFF00"/>
                </a:solidFill>
                <a:latin typeface="Verdana"/>
                <a:ea typeface="SimSun"/>
              </a:rPr>
              <a:t>                 </a:t>
            </a:r>
            <a:endParaRPr lang="en-AU" altLang="en-US" dirty="0">
              <a:latin typeface="Verdana" panose="020B0604030504040204" pitchFamily="34" charset="0"/>
              <a:ea typeface="Verdana" panose="020B0604030504040204" pitchFamily="34" charset="0"/>
              <a:cs typeface="Verdana" panose="020B0604030504040204" pitchFamily="34" charset="0"/>
            </a:endParaRPr>
          </a:p>
        </p:txBody>
      </p:sp>
      <p:grpSp>
        <p:nvGrpSpPr>
          <p:cNvPr id="17" name="Group 71"/>
          <p:cNvGrpSpPr>
            <a:grpSpLocks/>
          </p:cNvGrpSpPr>
          <p:nvPr/>
        </p:nvGrpSpPr>
        <p:grpSpPr bwMode="auto">
          <a:xfrm>
            <a:off x="4617075" y="1566863"/>
            <a:ext cx="2895600" cy="5113337"/>
            <a:chOff x="2016" y="987"/>
            <a:chExt cx="1824" cy="3221"/>
          </a:xfrm>
        </p:grpSpPr>
        <p:grpSp>
          <p:nvGrpSpPr>
            <p:cNvPr id="18" name="Group 5"/>
            <p:cNvGrpSpPr>
              <a:grpSpLocks/>
            </p:cNvGrpSpPr>
            <p:nvPr/>
          </p:nvGrpSpPr>
          <p:grpSpPr bwMode="auto">
            <a:xfrm>
              <a:off x="2016" y="987"/>
              <a:ext cx="1824" cy="816"/>
              <a:chOff x="4554" y="2181"/>
              <a:chExt cx="958" cy="873"/>
            </a:xfrm>
          </p:grpSpPr>
          <p:sp>
            <p:nvSpPr>
              <p:cNvPr id="22" name="Freeform 6"/>
              <p:cNvSpPr>
                <a:spLocks/>
              </p:cNvSpPr>
              <p:nvPr/>
            </p:nvSpPr>
            <p:spPr bwMode="auto">
              <a:xfrm>
                <a:off x="4602" y="2229"/>
                <a:ext cx="910" cy="825"/>
              </a:xfrm>
              <a:custGeom>
                <a:avLst/>
                <a:gdLst>
                  <a:gd name="T0" fmla="*/ 0 w 3800"/>
                  <a:gd name="T1" fmla="*/ 0 h 3433"/>
                  <a:gd name="T2" fmla="*/ 0 w 3800"/>
                  <a:gd name="T3" fmla="*/ 0 h 3433"/>
                  <a:gd name="T4" fmla="*/ 0 w 3800"/>
                  <a:gd name="T5" fmla="*/ 0 h 3433"/>
                  <a:gd name="T6" fmla="*/ 0 w 3800"/>
                  <a:gd name="T7" fmla="*/ 0 h 3433"/>
                  <a:gd name="T8" fmla="*/ 0 w 3800"/>
                  <a:gd name="T9" fmla="*/ 0 h 3433"/>
                  <a:gd name="T10" fmla="*/ 0 w 3800"/>
                  <a:gd name="T11" fmla="*/ 0 h 3433"/>
                  <a:gd name="T12" fmla="*/ 0 w 3800"/>
                  <a:gd name="T13" fmla="*/ 0 h 3433"/>
                  <a:gd name="T14" fmla="*/ 0 w 3800"/>
                  <a:gd name="T15" fmla="*/ 0 h 3433"/>
                  <a:gd name="T16" fmla="*/ 0 w 3800"/>
                  <a:gd name="T17" fmla="*/ 0 h 3433"/>
                  <a:gd name="T18" fmla="*/ 0 w 3800"/>
                  <a:gd name="T19" fmla="*/ 0 h 3433"/>
                  <a:gd name="T20" fmla="*/ 0 w 3800"/>
                  <a:gd name="T21" fmla="*/ 0 h 3433"/>
                  <a:gd name="T22" fmla="*/ 0 w 3800"/>
                  <a:gd name="T23" fmla="*/ 0 h 3433"/>
                  <a:gd name="T24" fmla="*/ 0 w 3800"/>
                  <a:gd name="T25" fmla="*/ 0 h 3433"/>
                  <a:gd name="T26" fmla="*/ 0 w 3800"/>
                  <a:gd name="T27" fmla="*/ 0 h 3433"/>
                  <a:gd name="T28" fmla="*/ 0 w 3800"/>
                  <a:gd name="T29" fmla="*/ 0 h 3433"/>
                  <a:gd name="T30" fmla="*/ 0 w 3800"/>
                  <a:gd name="T31" fmla="*/ 0 h 3433"/>
                  <a:gd name="T32" fmla="*/ 0 w 3800"/>
                  <a:gd name="T33" fmla="*/ 0 h 3433"/>
                  <a:gd name="T34" fmla="*/ 0 w 3800"/>
                  <a:gd name="T35" fmla="*/ 0 h 3433"/>
                  <a:gd name="T36" fmla="*/ 0 w 3800"/>
                  <a:gd name="T37" fmla="*/ 0 h 3433"/>
                  <a:gd name="T38" fmla="*/ 0 w 3800"/>
                  <a:gd name="T39" fmla="*/ 0 h 3433"/>
                  <a:gd name="T40" fmla="*/ 0 w 3800"/>
                  <a:gd name="T41" fmla="*/ 0 h 3433"/>
                  <a:gd name="T42" fmla="*/ 0 w 3800"/>
                  <a:gd name="T43" fmla="*/ 0 h 3433"/>
                  <a:gd name="T44" fmla="*/ 0 w 3800"/>
                  <a:gd name="T45" fmla="*/ 0 h 3433"/>
                  <a:gd name="T46" fmla="*/ 0 w 3800"/>
                  <a:gd name="T47" fmla="*/ 0 h 3433"/>
                  <a:gd name="T48" fmla="*/ 0 w 3800"/>
                  <a:gd name="T49" fmla="*/ 0 h 3433"/>
                  <a:gd name="T50" fmla="*/ 0 w 3800"/>
                  <a:gd name="T51" fmla="*/ 0 h 3433"/>
                  <a:gd name="T52" fmla="*/ 0 w 3800"/>
                  <a:gd name="T53" fmla="*/ 0 h 3433"/>
                  <a:gd name="T54" fmla="*/ 0 w 3800"/>
                  <a:gd name="T55" fmla="*/ 0 h 3433"/>
                  <a:gd name="T56" fmla="*/ 0 w 3800"/>
                  <a:gd name="T57" fmla="*/ 0 h 3433"/>
                  <a:gd name="T58" fmla="*/ 0 w 3800"/>
                  <a:gd name="T59" fmla="*/ 0 h 3433"/>
                  <a:gd name="T60" fmla="*/ 0 w 3800"/>
                  <a:gd name="T61" fmla="*/ 0 h 3433"/>
                  <a:gd name="T62" fmla="*/ 0 w 3800"/>
                  <a:gd name="T63" fmla="*/ 0 h 3433"/>
                  <a:gd name="T64" fmla="*/ 0 w 3800"/>
                  <a:gd name="T65" fmla="*/ 0 h 3433"/>
                  <a:gd name="T66" fmla="*/ 0 w 3800"/>
                  <a:gd name="T67" fmla="*/ 0 h 3433"/>
                  <a:gd name="T68" fmla="*/ 0 w 3800"/>
                  <a:gd name="T69" fmla="*/ 0 h 3433"/>
                  <a:gd name="T70" fmla="*/ 0 w 3800"/>
                  <a:gd name="T71" fmla="*/ 0 h 343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800"/>
                  <a:gd name="T109" fmla="*/ 0 h 3433"/>
                  <a:gd name="T110" fmla="*/ 3800 w 3800"/>
                  <a:gd name="T111" fmla="*/ 3433 h 343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800" h="3433">
                    <a:moveTo>
                      <a:pt x="343" y="1142"/>
                    </a:moveTo>
                    <a:cubicBezTo>
                      <a:pt x="148" y="1167"/>
                      <a:pt x="0" y="1370"/>
                      <a:pt x="0" y="1612"/>
                    </a:cubicBezTo>
                    <a:cubicBezTo>
                      <a:pt x="0" y="1780"/>
                      <a:pt x="72" y="1935"/>
                      <a:pt x="189" y="2020"/>
                    </a:cubicBezTo>
                    <a:lnTo>
                      <a:pt x="187" y="2014"/>
                    </a:lnTo>
                    <a:cubicBezTo>
                      <a:pt x="121" y="2101"/>
                      <a:pt x="84" y="2216"/>
                      <a:pt x="84" y="2336"/>
                    </a:cubicBezTo>
                    <a:cubicBezTo>
                      <a:pt x="84" y="2596"/>
                      <a:pt x="256" y="2806"/>
                      <a:pt x="468" y="2806"/>
                    </a:cubicBezTo>
                    <a:cubicBezTo>
                      <a:pt x="482" y="2806"/>
                      <a:pt x="497" y="2805"/>
                      <a:pt x="512" y="2803"/>
                    </a:cubicBezTo>
                    <a:lnTo>
                      <a:pt x="510" y="2806"/>
                    </a:lnTo>
                    <a:cubicBezTo>
                      <a:pt x="631" y="3066"/>
                      <a:pt x="856" y="3227"/>
                      <a:pt x="1099" y="3227"/>
                    </a:cubicBezTo>
                    <a:cubicBezTo>
                      <a:pt x="1223" y="3227"/>
                      <a:pt x="1344" y="3186"/>
                      <a:pt x="1449" y="3107"/>
                    </a:cubicBezTo>
                    <a:lnTo>
                      <a:pt x="1448" y="3108"/>
                    </a:lnTo>
                    <a:cubicBezTo>
                      <a:pt x="1558" y="3311"/>
                      <a:pt x="1744" y="3433"/>
                      <a:pt x="1942" y="3433"/>
                    </a:cubicBezTo>
                    <a:cubicBezTo>
                      <a:pt x="2204" y="3433"/>
                      <a:pt x="2435" y="3222"/>
                      <a:pt x="2510" y="2913"/>
                    </a:cubicBezTo>
                    <a:lnTo>
                      <a:pt x="2511" y="2917"/>
                    </a:lnTo>
                    <a:cubicBezTo>
                      <a:pt x="2592" y="2979"/>
                      <a:pt x="2685" y="3012"/>
                      <a:pt x="2780" y="3012"/>
                    </a:cubicBezTo>
                    <a:cubicBezTo>
                      <a:pt x="3060" y="3012"/>
                      <a:pt x="3287" y="2735"/>
                      <a:pt x="3289" y="2392"/>
                    </a:cubicBezTo>
                    <a:lnTo>
                      <a:pt x="3288" y="2390"/>
                    </a:lnTo>
                    <a:cubicBezTo>
                      <a:pt x="3582" y="2339"/>
                      <a:pt x="3800" y="2030"/>
                      <a:pt x="3800" y="1665"/>
                    </a:cubicBezTo>
                    <a:cubicBezTo>
                      <a:pt x="3800" y="1504"/>
                      <a:pt x="3756" y="1347"/>
                      <a:pt x="3677" y="1219"/>
                    </a:cubicBezTo>
                    <a:lnTo>
                      <a:pt x="3675" y="1218"/>
                    </a:lnTo>
                    <a:cubicBezTo>
                      <a:pt x="3700" y="1146"/>
                      <a:pt x="3713" y="1069"/>
                      <a:pt x="3713" y="991"/>
                    </a:cubicBezTo>
                    <a:cubicBezTo>
                      <a:pt x="3713" y="730"/>
                      <a:pt x="3572" y="501"/>
                      <a:pt x="3368" y="433"/>
                    </a:cubicBezTo>
                    <a:lnTo>
                      <a:pt x="3369" y="432"/>
                    </a:lnTo>
                    <a:cubicBezTo>
                      <a:pt x="3333" y="182"/>
                      <a:pt x="3155" y="1"/>
                      <a:pt x="2949" y="1"/>
                    </a:cubicBezTo>
                    <a:cubicBezTo>
                      <a:pt x="2823" y="0"/>
                      <a:pt x="2704" y="68"/>
                      <a:pt x="2623" y="186"/>
                    </a:cubicBezTo>
                    <a:lnTo>
                      <a:pt x="2623" y="187"/>
                    </a:lnTo>
                    <a:cubicBezTo>
                      <a:pt x="2551" y="69"/>
                      <a:pt x="2438" y="1"/>
                      <a:pt x="2318" y="1"/>
                    </a:cubicBezTo>
                    <a:cubicBezTo>
                      <a:pt x="2173" y="0"/>
                      <a:pt x="2039" y="102"/>
                      <a:pt x="1975" y="262"/>
                    </a:cubicBezTo>
                    <a:lnTo>
                      <a:pt x="1976" y="270"/>
                    </a:lnTo>
                    <a:cubicBezTo>
                      <a:pt x="1888" y="163"/>
                      <a:pt x="1770" y="104"/>
                      <a:pt x="1647" y="104"/>
                    </a:cubicBezTo>
                    <a:cubicBezTo>
                      <a:pt x="1473" y="104"/>
                      <a:pt x="1314" y="222"/>
                      <a:pt x="1232" y="410"/>
                    </a:cubicBezTo>
                    <a:lnTo>
                      <a:pt x="1231" y="414"/>
                    </a:lnTo>
                    <a:cubicBezTo>
                      <a:pt x="1140" y="349"/>
                      <a:pt x="1036" y="314"/>
                      <a:pt x="931" y="314"/>
                    </a:cubicBezTo>
                    <a:cubicBezTo>
                      <a:pt x="603" y="314"/>
                      <a:pt x="337" y="641"/>
                      <a:pt x="337" y="1044"/>
                    </a:cubicBezTo>
                    <a:cubicBezTo>
                      <a:pt x="337" y="1077"/>
                      <a:pt x="339" y="1110"/>
                      <a:pt x="342" y="1143"/>
                    </a:cubicBezTo>
                    <a:lnTo>
                      <a:pt x="343" y="1142"/>
                    </a:lnTo>
                    <a:close/>
                  </a:path>
                </a:pathLst>
              </a:custGeom>
              <a:solidFill>
                <a:srgbClr val="C0C0C0"/>
              </a:solidFill>
              <a:ln w="0">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23" name="Freeform 7"/>
              <p:cNvSpPr>
                <a:spLocks/>
              </p:cNvSpPr>
              <p:nvPr/>
            </p:nvSpPr>
            <p:spPr bwMode="auto">
              <a:xfrm>
                <a:off x="4554" y="2181"/>
                <a:ext cx="910" cy="825"/>
              </a:xfrm>
              <a:custGeom>
                <a:avLst/>
                <a:gdLst>
                  <a:gd name="T0" fmla="*/ 0 w 3800"/>
                  <a:gd name="T1" fmla="*/ 0 h 3433"/>
                  <a:gd name="T2" fmla="*/ 0 w 3800"/>
                  <a:gd name="T3" fmla="*/ 0 h 3433"/>
                  <a:gd name="T4" fmla="*/ 0 w 3800"/>
                  <a:gd name="T5" fmla="*/ 0 h 3433"/>
                  <a:gd name="T6" fmla="*/ 0 w 3800"/>
                  <a:gd name="T7" fmla="*/ 0 h 3433"/>
                  <a:gd name="T8" fmla="*/ 0 w 3800"/>
                  <a:gd name="T9" fmla="*/ 0 h 3433"/>
                  <a:gd name="T10" fmla="*/ 0 w 3800"/>
                  <a:gd name="T11" fmla="*/ 0 h 3433"/>
                  <a:gd name="T12" fmla="*/ 0 w 3800"/>
                  <a:gd name="T13" fmla="*/ 0 h 3433"/>
                  <a:gd name="T14" fmla="*/ 0 w 3800"/>
                  <a:gd name="T15" fmla="*/ 0 h 3433"/>
                  <a:gd name="T16" fmla="*/ 0 w 3800"/>
                  <a:gd name="T17" fmla="*/ 0 h 3433"/>
                  <a:gd name="T18" fmla="*/ 0 w 3800"/>
                  <a:gd name="T19" fmla="*/ 0 h 3433"/>
                  <a:gd name="T20" fmla="*/ 0 w 3800"/>
                  <a:gd name="T21" fmla="*/ 0 h 3433"/>
                  <a:gd name="T22" fmla="*/ 0 w 3800"/>
                  <a:gd name="T23" fmla="*/ 0 h 3433"/>
                  <a:gd name="T24" fmla="*/ 0 w 3800"/>
                  <a:gd name="T25" fmla="*/ 0 h 3433"/>
                  <a:gd name="T26" fmla="*/ 0 w 3800"/>
                  <a:gd name="T27" fmla="*/ 0 h 3433"/>
                  <a:gd name="T28" fmla="*/ 0 w 3800"/>
                  <a:gd name="T29" fmla="*/ 0 h 3433"/>
                  <a:gd name="T30" fmla="*/ 0 w 3800"/>
                  <a:gd name="T31" fmla="*/ 0 h 3433"/>
                  <a:gd name="T32" fmla="*/ 0 w 3800"/>
                  <a:gd name="T33" fmla="*/ 0 h 3433"/>
                  <a:gd name="T34" fmla="*/ 0 w 3800"/>
                  <a:gd name="T35" fmla="*/ 0 h 3433"/>
                  <a:gd name="T36" fmla="*/ 0 w 3800"/>
                  <a:gd name="T37" fmla="*/ 0 h 3433"/>
                  <a:gd name="T38" fmla="*/ 0 w 3800"/>
                  <a:gd name="T39" fmla="*/ 0 h 3433"/>
                  <a:gd name="T40" fmla="*/ 0 w 3800"/>
                  <a:gd name="T41" fmla="*/ 0 h 3433"/>
                  <a:gd name="T42" fmla="*/ 0 w 3800"/>
                  <a:gd name="T43" fmla="*/ 0 h 3433"/>
                  <a:gd name="T44" fmla="*/ 0 w 3800"/>
                  <a:gd name="T45" fmla="*/ 0 h 3433"/>
                  <a:gd name="T46" fmla="*/ 0 w 3800"/>
                  <a:gd name="T47" fmla="*/ 0 h 3433"/>
                  <a:gd name="T48" fmla="*/ 0 w 3800"/>
                  <a:gd name="T49" fmla="*/ 0 h 3433"/>
                  <a:gd name="T50" fmla="*/ 0 w 3800"/>
                  <a:gd name="T51" fmla="*/ 0 h 3433"/>
                  <a:gd name="T52" fmla="*/ 0 w 3800"/>
                  <a:gd name="T53" fmla="*/ 0 h 3433"/>
                  <a:gd name="T54" fmla="*/ 0 w 3800"/>
                  <a:gd name="T55" fmla="*/ 0 h 3433"/>
                  <a:gd name="T56" fmla="*/ 0 w 3800"/>
                  <a:gd name="T57" fmla="*/ 0 h 3433"/>
                  <a:gd name="T58" fmla="*/ 0 w 3800"/>
                  <a:gd name="T59" fmla="*/ 0 h 3433"/>
                  <a:gd name="T60" fmla="*/ 0 w 3800"/>
                  <a:gd name="T61" fmla="*/ 0 h 3433"/>
                  <a:gd name="T62" fmla="*/ 0 w 3800"/>
                  <a:gd name="T63" fmla="*/ 0 h 3433"/>
                  <a:gd name="T64" fmla="*/ 0 w 3800"/>
                  <a:gd name="T65" fmla="*/ 0 h 3433"/>
                  <a:gd name="T66" fmla="*/ 0 w 3800"/>
                  <a:gd name="T67" fmla="*/ 0 h 3433"/>
                  <a:gd name="T68" fmla="*/ 0 w 3800"/>
                  <a:gd name="T69" fmla="*/ 0 h 3433"/>
                  <a:gd name="T70" fmla="*/ 0 w 3800"/>
                  <a:gd name="T71" fmla="*/ 0 h 343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800"/>
                  <a:gd name="T109" fmla="*/ 0 h 3433"/>
                  <a:gd name="T110" fmla="*/ 3800 w 3800"/>
                  <a:gd name="T111" fmla="*/ 3433 h 343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800" h="3433">
                    <a:moveTo>
                      <a:pt x="343" y="1142"/>
                    </a:moveTo>
                    <a:cubicBezTo>
                      <a:pt x="148" y="1167"/>
                      <a:pt x="0" y="1370"/>
                      <a:pt x="0" y="1612"/>
                    </a:cubicBezTo>
                    <a:cubicBezTo>
                      <a:pt x="0" y="1780"/>
                      <a:pt x="72" y="1935"/>
                      <a:pt x="189" y="2020"/>
                    </a:cubicBezTo>
                    <a:lnTo>
                      <a:pt x="187" y="2014"/>
                    </a:lnTo>
                    <a:cubicBezTo>
                      <a:pt x="121" y="2101"/>
                      <a:pt x="84" y="2216"/>
                      <a:pt x="84" y="2336"/>
                    </a:cubicBezTo>
                    <a:cubicBezTo>
                      <a:pt x="84" y="2596"/>
                      <a:pt x="256" y="2806"/>
                      <a:pt x="468" y="2806"/>
                    </a:cubicBezTo>
                    <a:cubicBezTo>
                      <a:pt x="482" y="2806"/>
                      <a:pt x="497" y="2805"/>
                      <a:pt x="512" y="2803"/>
                    </a:cubicBezTo>
                    <a:lnTo>
                      <a:pt x="510" y="2806"/>
                    </a:lnTo>
                    <a:cubicBezTo>
                      <a:pt x="631" y="3066"/>
                      <a:pt x="856" y="3227"/>
                      <a:pt x="1099" y="3227"/>
                    </a:cubicBezTo>
                    <a:cubicBezTo>
                      <a:pt x="1223" y="3227"/>
                      <a:pt x="1344" y="3186"/>
                      <a:pt x="1449" y="3107"/>
                    </a:cubicBezTo>
                    <a:lnTo>
                      <a:pt x="1448" y="3108"/>
                    </a:lnTo>
                    <a:cubicBezTo>
                      <a:pt x="1558" y="3311"/>
                      <a:pt x="1744" y="3433"/>
                      <a:pt x="1942" y="3433"/>
                    </a:cubicBezTo>
                    <a:cubicBezTo>
                      <a:pt x="2204" y="3433"/>
                      <a:pt x="2435" y="3222"/>
                      <a:pt x="2510" y="2913"/>
                    </a:cubicBezTo>
                    <a:lnTo>
                      <a:pt x="2511" y="2917"/>
                    </a:lnTo>
                    <a:cubicBezTo>
                      <a:pt x="2592" y="2979"/>
                      <a:pt x="2685" y="3012"/>
                      <a:pt x="2780" y="3012"/>
                    </a:cubicBezTo>
                    <a:cubicBezTo>
                      <a:pt x="3060" y="3012"/>
                      <a:pt x="3287" y="2735"/>
                      <a:pt x="3289" y="2392"/>
                    </a:cubicBezTo>
                    <a:lnTo>
                      <a:pt x="3288" y="2390"/>
                    </a:lnTo>
                    <a:cubicBezTo>
                      <a:pt x="3582" y="2339"/>
                      <a:pt x="3800" y="2030"/>
                      <a:pt x="3800" y="1665"/>
                    </a:cubicBezTo>
                    <a:cubicBezTo>
                      <a:pt x="3800" y="1504"/>
                      <a:pt x="3756" y="1347"/>
                      <a:pt x="3677" y="1219"/>
                    </a:cubicBezTo>
                    <a:lnTo>
                      <a:pt x="3675" y="1218"/>
                    </a:lnTo>
                    <a:cubicBezTo>
                      <a:pt x="3700" y="1146"/>
                      <a:pt x="3713" y="1069"/>
                      <a:pt x="3713" y="991"/>
                    </a:cubicBezTo>
                    <a:cubicBezTo>
                      <a:pt x="3713" y="730"/>
                      <a:pt x="3572" y="501"/>
                      <a:pt x="3368" y="433"/>
                    </a:cubicBezTo>
                    <a:lnTo>
                      <a:pt x="3369" y="432"/>
                    </a:lnTo>
                    <a:cubicBezTo>
                      <a:pt x="3333" y="182"/>
                      <a:pt x="3155" y="1"/>
                      <a:pt x="2949" y="1"/>
                    </a:cubicBezTo>
                    <a:cubicBezTo>
                      <a:pt x="2823" y="0"/>
                      <a:pt x="2704" y="68"/>
                      <a:pt x="2623" y="186"/>
                    </a:cubicBezTo>
                    <a:lnTo>
                      <a:pt x="2623" y="187"/>
                    </a:lnTo>
                    <a:cubicBezTo>
                      <a:pt x="2551" y="69"/>
                      <a:pt x="2438" y="1"/>
                      <a:pt x="2318" y="1"/>
                    </a:cubicBezTo>
                    <a:cubicBezTo>
                      <a:pt x="2173" y="0"/>
                      <a:pt x="2039" y="102"/>
                      <a:pt x="1975" y="262"/>
                    </a:cubicBezTo>
                    <a:lnTo>
                      <a:pt x="1976" y="270"/>
                    </a:lnTo>
                    <a:cubicBezTo>
                      <a:pt x="1888" y="163"/>
                      <a:pt x="1770" y="104"/>
                      <a:pt x="1647" y="104"/>
                    </a:cubicBezTo>
                    <a:cubicBezTo>
                      <a:pt x="1473" y="104"/>
                      <a:pt x="1314" y="222"/>
                      <a:pt x="1232" y="410"/>
                    </a:cubicBezTo>
                    <a:lnTo>
                      <a:pt x="1231" y="414"/>
                    </a:lnTo>
                    <a:cubicBezTo>
                      <a:pt x="1140" y="349"/>
                      <a:pt x="1036" y="314"/>
                      <a:pt x="931" y="314"/>
                    </a:cubicBezTo>
                    <a:cubicBezTo>
                      <a:pt x="603" y="314"/>
                      <a:pt x="337" y="641"/>
                      <a:pt x="337" y="1044"/>
                    </a:cubicBezTo>
                    <a:cubicBezTo>
                      <a:pt x="337" y="1077"/>
                      <a:pt x="339" y="1110"/>
                      <a:pt x="342" y="1143"/>
                    </a:cubicBezTo>
                    <a:lnTo>
                      <a:pt x="343" y="1142"/>
                    </a:lnTo>
                    <a:close/>
                  </a:path>
                </a:pathLst>
              </a:custGeom>
              <a:solidFill>
                <a:srgbClr val="C0C0C0"/>
              </a:solidFill>
              <a:ln w="0">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24" name="Freeform 8"/>
              <p:cNvSpPr>
                <a:spLocks/>
              </p:cNvSpPr>
              <p:nvPr/>
            </p:nvSpPr>
            <p:spPr bwMode="auto">
              <a:xfrm>
                <a:off x="4554" y="2181"/>
                <a:ext cx="910" cy="825"/>
              </a:xfrm>
              <a:custGeom>
                <a:avLst/>
                <a:gdLst>
                  <a:gd name="T0" fmla="*/ 0 w 3800"/>
                  <a:gd name="T1" fmla="*/ 0 h 3433"/>
                  <a:gd name="T2" fmla="*/ 0 w 3800"/>
                  <a:gd name="T3" fmla="*/ 0 h 3433"/>
                  <a:gd name="T4" fmla="*/ 0 w 3800"/>
                  <a:gd name="T5" fmla="*/ 0 h 3433"/>
                  <a:gd name="T6" fmla="*/ 0 w 3800"/>
                  <a:gd name="T7" fmla="*/ 0 h 3433"/>
                  <a:gd name="T8" fmla="*/ 0 w 3800"/>
                  <a:gd name="T9" fmla="*/ 0 h 3433"/>
                  <a:gd name="T10" fmla="*/ 0 w 3800"/>
                  <a:gd name="T11" fmla="*/ 0 h 3433"/>
                  <a:gd name="T12" fmla="*/ 0 w 3800"/>
                  <a:gd name="T13" fmla="*/ 0 h 3433"/>
                  <a:gd name="T14" fmla="*/ 0 w 3800"/>
                  <a:gd name="T15" fmla="*/ 0 h 3433"/>
                  <a:gd name="T16" fmla="*/ 0 w 3800"/>
                  <a:gd name="T17" fmla="*/ 0 h 3433"/>
                  <a:gd name="T18" fmla="*/ 0 w 3800"/>
                  <a:gd name="T19" fmla="*/ 0 h 3433"/>
                  <a:gd name="T20" fmla="*/ 0 w 3800"/>
                  <a:gd name="T21" fmla="*/ 0 h 3433"/>
                  <a:gd name="T22" fmla="*/ 0 w 3800"/>
                  <a:gd name="T23" fmla="*/ 0 h 3433"/>
                  <a:gd name="T24" fmla="*/ 0 w 3800"/>
                  <a:gd name="T25" fmla="*/ 0 h 3433"/>
                  <a:gd name="T26" fmla="*/ 0 w 3800"/>
                  <a:gd name="T27" fmla="*/ 0 h 3433"/>
                  <a:gd name="T28" fmla="*/ 0 w 3800"/>
                  <a:gd name="T29" fmla="*/ 0 h 3433"/>
                  <a:gd name="T30" fmla="*/ 0 w 3800"/>
                  <a:gd name="T31" fmla="*/ 0 h 3433"/>
                  <a:gd name="T32" fmla="*/ 0 w 3800"/>
                  <a:gd name="T33" fmla="*/ 0 h 3433"/>
                  <a:gd name="T34" fmla="*/ 0 w 3800"/>
                  <a:gd name="T35" fmla="*/ 0 h 3433"/>
                  <a:gd name="T36" fmla="*/ 0 w 3800"/>
                  <a:gd name="T37" fmla="*/ 0 h 3433"/>
                  <a:gd name="T38" fmla="*/ 0 w 3800"/>
                  <a:gd name="T39" fmla="*/ 0 h 3433"/>
                  <a:gd name="T40" fmla="*/ 0 w 3800"/>
                  <a:gd name="T41" fmla="*/ 0 h 3433"/>
                  <a:gd name="T42" fmla="*/ 0 w 3800"/>
                  <a:gd name="T43" fmla="*/ 0 h 3433"/>
                  <a:gd name="T44" fmla="*/ 0 w 3800"/>
                  <a:gd name="T45" fmla="*/ 0 h 3433"/>
                  <a:gd name="T46" fmla="*/ 0 w 3800"/>
                  <a:gd name="T47" fmla="*/ 0 h 3433"/>
                  <a:gd name="T48" fmla="*/ 0 w 3800"/>
                  <a:gd name="T49" fmla="*/ 0 h 3433"/>
                  <a:gd name="T50" fmla="*/ 0 w 3800"/>
                  <a:gd name="T51" fmla="*/ 0 h 3433"/>
                  <a:gd name="T52" fmla="*/ 0 w 3800"/>
                  <a:gd name="T53" fmla="*/ 0 h 3433"/>
                  <a:gd name="T54" fmla="*/ 0 w 3800"/>
                  <a:gd name="T55" fmla="*/ 0 h 3433"/>
                  <a:gd name="T56" fmla="*/ 0 w 3800"/>
                  <a:gd name="T57" fmla="*/ 0 h 3433"/>
                  <a:gd name="T58" fmla="*/ 0 w 3800"/>
                  <a:gd name="T59" fmla="*/ 0 h 3433"/>
                  <a:gd name="T60" fmla="*/ 0 w 3800"/>
                  <a:gd name="T61" fmla="*/ 0 h 3433"/>
                  <a:gd name="T62" fmla="*/ 0 w 3800"/>
                  <a:gd name="T63" fmla="*/ 0 h 3433"/>
                  <a:gd name="T64" fmla="*/ 0 w 3800"/>
                  <a:gd name="T65" fmla="*/ 0 h 3433"/>
                  <a:gd name="T66" fmla="*/ 0 w 3800"/>
                  <a:gd name="T67" fmla="*/ 0 h 3433"/>
                  <a:gd name="T68" fmla="*/ 0 w 3800"/>
                  <a:gd name="T69" fmla="*/ 0 h 3433"/>
                  <a:gd name="T70" fmla="*/ 0 w 3800"/>
                  <a:gd name="T71" fmla="*/ 0 h 343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800"/>
                  <a:gd name="T109" fmla="*/ 0 h 3433"/>
                  <a:gd name="T110" fmla="*/ 3800 w 3800"/>
                  <a:gd name="T111" fmla="*/ 3433 h 343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800" h="3433">
                    <a:moveTo>
                      <a:pt x="343" y="1142"/>
                    </a:moveTo>
                    <a:cubicBezTo>
                      <a:pt x="148" y="1167"/>
                      <a:pt x="0" y="1370"/>
                      <a:pt x="0" y="1612"/>
                    </a:cubicBezTo>
                    <a:cubicBezTo>
                      <a:pt x="0" y="1780"/>
                      <a:pt x="72" y="1935"/>
                      <a:pt x="189" y="2020"/>
                    </a:cubicBezTo>
                    <a:lnTo>
                      <a:pt x="187" y="2014"/>
                    </a:lnTo>
                    <a:cubicBezTo>
                      <a:pt x="121" y="2101"/>
                      <a:pt x="84" y="2216"/>
                      <a:pt x="84" y="2336"/>
                    </a:cubicBezTo>
                    <a:cubicBezTo>
                      <a:pt x="84" y="2596"/>
                      <a:pt x="256" y="2806"/>
                      <a:pt x="468" y="2806"/>
                    </a:cubicBezTo>
                    <a:cubicBezTo>
                      <a:pt x="482" y="2806"/>
                      <a:pt x="497" y="2805"/>
                      <a:pt x="512" y="2803"/>
                    </a:cubicBezTo>
                    <a:lnTo>
                      <a:pt x="510" y="2806"/>
                    </a:lnTo>
                    <a:cubicBezTo>
                      <a:pt x="631" y="3066"/>
                      <a:pt x="856" y="3227"/>
                      <a:pt x="1099" y="3227"/>
                    </a:cubicBezTo>
                    <a:cubicBezTo>
                      <a:pt x="1223" y="3227"/>
                      <a:pt x="1344" y="3186"/>
                      <a:pt x="1449" y="3107"/>
                    </a:cubicBezTo>
                    <a:lnTo>
                      <a:pt x="1448" y="3108"/>
                    </a:lnTo>
                    <a:cubicBezTo>
                      <a:pt x="1558" y="3311"/>
                      <a:pt x="1744" y="3433"/>
                      <a:pt x="1942" y="3433"/>
                    </a:cubicBezTo>
                    <a:cubicBezTo>
                      <a:pt x="2204" y="3433"/>
                      <a:pt x="2435" y="3222"/>
                      <a:pt x="2510" y="2913"/>
                    </a:cubicBezTo>
                    <a:lnTo>
                      <a:pt x="2511" y="2917"/>
                    </a:lnTo>
                    <a:cubicBezTo>
                      <a:pt x="2592" y="2979"/>
                      <a:pt x="2685" y="3012"/>
                      <a:pt x="2780" y="3012"/>
                    </a:cubicBezTo>
                    <a:cubicBezTo>
                      <a:pt x="3060" y="3012"/>
                      <a:pt x="3287" y="2735"/>
                      <a:pt x="3289" y="2392"/>
                    </a:cubicBezTo>
                    <a:lnTo>
                      <a:pt x="3288" y="2390"/>
                    </a:lnTo>
                    <a:cubicBezTo>
                      <a:pt x="3582" y="2339"/>
                      <a:pt x="3800" y="2030"/>
                      <a:pt x="3800" y="1665"/>
                    </a:cubicBezTo>
                    <a:cubicBezTo>
                      <a:pt x="3800" y="1504"/>
                      <a:pt x="3756" y="1347"/>
                      <a:pt x="3677" y="1219"/>
                    </a:cubicBezTo>
                    <a:lnTo>
                      <a:pt x="3675" y="1218"/>
                    </a:lnTo>
                    <a:cubicBezTo>
                      <a:pt x="3700" y="1146"/>
                      <a:pt x="3713" y="1069"/>
                      <a:pt x="3713" y="991"/>
                    </a:cubicBezTo>
                    <a:cubicBezTo>
                      <a:pt x="3713" y="730"/>
                      <a:pt x="3572" y="501"/>
                      <a:pt x="3368" y="433"/>
                    </a:cubicBezTo>
                    <a:lnTo>
                      <a:pt x="3369" y="432"/>
                    </a:lnTo>
                    <a:cubicBezTo>
                      <a:pt x="3333" y="182"/>
                      <a:pt x="3155" y="1"/>
                      <a:pt x="2949" y="1"/>
                    </a:cubicBezTo>
                    <a:cubicBezTo>
                      <a:pt x="2823" y="0"/>
                      <a:pt x="2704" y="68"/>
                      <a:pt x="2623" y="186"/>
                    </a:cubicBezTo>
                    <a:lnTo>
                      <a:pt x="2623" y="187"/>
                    </a:lnTo>
                    <a:cubicBezTo>
                      <a:pt x="2551" y="69"/>
                      <a:pt x="2438" y="1"/>
                      <a:pt x="2318" y="1"/>
                    </a:cubicBezTo>
                    <a:cubicBezTo>
                      <a:pt x="2173" y="0"/>
                      <a:pt x="2039" y="102"/>
                      <a:pt x="1975" y="262"/>
                    </a:cubicBezTo>
                    <a:lnTo>
                      <a:pt x="1976" y="270"/>
                    </a:lnTo>
                    <a:cubicBezTo>
                      <a:pt x="1888" y="163"/>
                      <a:pt x="1770" y="104"/>
                      <a:pt x="1647" y="104"/>
                    </a:cubicBezTo>
                    <a:cubicBezTo>
                      <a:pt x="1473" y="104"/>
                      <a:pt x="1314" y="222"/>
                      <a:pt x="1232" y="410"/>
                    </a:cubicBezTo>
                    <a:lnTo>
                      <a:pt x="1231" y="414"/>
                    </a:lnTo>
                    <a:cubicBezTo>
                      <a:pt x="1140" y="349"/>
                      <a:pt x="1036" y="314"/>
                      <a:pt x="931" y="314"/>
                    </a:cubicBezTo>
                    <a:cubicBezTo>
                      <a:pt x="603" y="314"/>
                      <a:pt x="337" y="641"/>
                      <a:pt x="337" y="1044"/>
                    </a:cubicBezTo>
                    <a:cubicBezTo>
                      <a:pt x="337" y="1077"/>
                      <a:pt x="339" y="1110"/>
                      <a:pt x="342" y="1143"/>
                    </a:cubicBezTo>
                    <a:lnTo>
                      <a:pt x="343" y="1142"/>
                    </a:lnTo>
                    <a:close/>
                  </a:path>
                </a:pathLst>
              </a:custGeom>
              <a:solidFill>
                <a:srgbClr val="FFFFFF"/>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25" name="Freeform 9"/>
              <p:cNvSpPr>
                <a:spLocks/>
              </p:cNvSpPr>
              <p:nvPr/>
            </p:nvSpPr>
            <p:spPr bwMode="auto">
              <a:xfrm>
                <a:off x="4599" y="2667"/>
                <a:ext cx="54" cy="15"/>
              </a:xfrm>
              <a:custGeom>
                <a:avLst/>
                <a:gdLst>
                  <a:gd name="T0" fmla="*/ 0 w 54"/>
                  <a:gd name="T1" fmla="*/ 0 h 15"/>
                  <a:gd name="T2" fmla="*/ 47 w 54"/>
                  <a:gd name="T3" fmla="*/ 15 h 15"/>
                  <a:gd name="T4" fmla="*/ 54 w 54"/>
                  <a:gd name="T5" fmla="*/ 15 h 15"/>
                  <a:gd name="T6" fmla="*/ 0 60000 65536"/>
                  <a:gd name="T7" fmla="*/ 0 60000 65536"/>
                  <a:gd name="T8" fmla="*/ 0 60000 65536"/>
                  <a:gd name="T9" fmla="*/ 0 w 54"/>
                  <a:gd name="T10" fmla="*/ 0 h 15"/>
                  <a:gd name="T11" fmla="*/ 54 w 54"/>
                  <a:gd name="T12" fmla="*/ 15 h 15"/>
                </a:gdLst>
                <a:ahLst/>
                <a:cxnLst>
                  <a:cxn ang="T6">
                    <a:pos x="T0" y="T1"/>
                  </a:cxn>
                  <a:cxn ang="T7">
                    <a:pos x="T2" y="T3"/>
                  </a:cxn>
                  <a:cxn ang="T8">
                    <a:pos x="T4" y="T5"/>
                  </a:cxn>
                </a:cxnLst>
                <a:rect l="T9" t="T10" r="T11" b="T12"/>
                <a:pathLst>
                  <a:path w="54" h="15">
                    <a:moveTo>
                      <a:pt x="0" y="0"/>
                    </a:moveTo>
                    <a:cubicBezTo>
                      <a:pt x="14" y="10"/>
                      <a:pt x="30" y="15"/>
                      <a:pt x="47" y="15"/>
                    </a:cubicBezTo>
                    <a:cubicBezTo>
                      <a:pt x="49" y="15"/>
                      <a:pt x="51" y="15"/>
                      <a:pt x="54" y="15"/>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26" name="Freeform 10"/>
              <p:cNvSpPr>
                <a:spLocks/>
              </p:cNvSpPr>
              <p:nvPr/>
            </p:nvSpPr>
            <p:spPr bwMode="auto">
              <a:xfrm>
                <a:off x="4676" y="2847"/>
                <a:ext cx="24" cy="8"/>
              </a:xfrm>
              <a:custGeom>
                <a:avLst/>
                <a:gdLst>
                  <a:gd name="T0" fmla="*/ 0 w 24"/>
                  <a:gd name="T1" fmla="*/ 8 h 8"/>
                  <a:gd name="T2" fmla="*/ 24 w 24"/>
                  <a:gd name="T3" fmla="*/ 0 h 8"/>
                  <a:gd name="T4" fmla="*/ 0 60000 65536"/>
                  <a:gd name="T5" fmla="*/ 0 60000 65536"/>
                  <a:gd name="T6" fmla="*/ 0 w 24"/>
                  <a:gd name="T7" fmla="*/ 0 h 8"/>
                  <a:gd name="T8" fmla="*/ 24 w 24"/>
                  <a:gd name="T9" fmla="*/ 8 h 8"/>
                </a:gdLst>
                <a:ahLst/>
                <a:cxnLst>
                  <a:cxn ang="T4">
                    <a:pos x="T0" y="T1"/>
                  </a:cxn>
                  <a:cxn ang="T5">
                    <a:pos x="T2" y="T3"/>
                  </a:cxn>
                </a:cxnLst>
                <a:rect l="T6" t="T7" r="T8" b="T9"/>
                <a:pathLst>
                  <a:path w="24" h="8">
                    <a:moveTo>
                      <a:pt x="0" y="8"/>
                    </a:moveTo>
                    <a:cubicBezTo>
                      <a:pt x="9" y="6"/>
                      <a:pt x="16" y="4"/>
                      <a:pt x="24"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27" name="Freeform 11"/>
              <p:cNvSpPr>
                <a:spLocks/>
              </p:cNvSpPr>
              <p:nvPr/>
            </p:nvSpPr>
            <p:spPr bwMode="auto">
              <a:xfrm>
                <a:off x="4887" y="2895"/>
                <a:ext cx="14" cy="33"/>
              </a:xfrm>
              <a:custGeom>
                <a:avLst/>
                <a:gdLst>
                  <a:gd name="T0" fmla="*/ 0 w 14"/>
                  <a:gd name="T1" fmla="*/ 0 h 33"/>
                  <a:gd name="T2" fmla="*/ 14 w 14"/>
                  <a:gd name="T3" fmla="*/ 33 h 33"/>
                  <a:gd name="T4" fmla="*/ 0 60000 65536"/>
                  <a:gd name="T5" fmla="*/ 0 60000 65536"/>
                  <a:gd name="T6" fmla="*/ 0 w 14"/>
                  <a:gd name="T7" fmla="*/ 0 h 33"/>
                  <a:gd name="T8" fmla="*/ 14 w 14"/>
                  <a:gd name="T9" fmla="*/ 33 h 33"/>
                </a:gdLst>
                <a:ahLst/>
                <a:cxnLst>
                  <a:cxn ang="T4">
                    <a:pos x="T0" y="T1"/>
                  </a:cxn>
                  <a:cxn ang="T5">
                    <a:pos x="T2" y="T3"/>
                  </a:cxn>
                </a:cxnLst>
                <a:rect l="T6" t="T7" r="T8" b="T9"/>
                <a:pathLst>
                  <a:path w="14" h="33">
                    <a:moveTo>
                      <a:pt x="0" y="0"/>
                    </a:moveTo>
                    <a:cubicBezTo>
                      <a:pt x="3" y="11"/>
                      <a:pt x="8" y="23"/>
                      <a:pt x="14" y="33"/>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28" name="Freeform 12"/>
              <p:cNvSpPr>
                <a:spLocks/>
              </p:cNvSpPr>
              <p:nvPr/>
            </p:nvSpPr>
            <p:spPr bwMode="auto">
              <a:xfrm>
                <a:off x="5155" y="2845"/>
                <a:ext cx="6" cy="36"/>
              </a:xfrm>
              <a:custGeom>
                <a:avLst/>
                <a:gdLst>
                  <a:gd name="T0" fmla="*/ 0 w 6"/>
                  <a:gd name="T1" fmla="*/ 36 h 36"/>
                  <a:gd name="T2" fmla="*/ 6 w 6"/>
                  <a:gd name="T3" fmla="*/ 0 h 36"/>
                  <a:gd name="T4" fmla="*/ 0 60000 65536"/>
                  <a:gd name="T5" fmla="*/ 0 60000 65536"/>
                  <a:gd name="T6" fmla="*/ 0 w 6"/>
                  <a:gd name="T7" fmla="*/ 0 h 36"/>
                  <a:gd name="T8" fmla="*/ 6 w 6"/>
                  <a:gd name="T9" fmla="*/ 36 h 36"/>
                </a:gdLst>
                <a:ahLst/>
                <a:cxnLst>
                  <a:cxn ang="T4">
                    <a:pos x="T0" y="T1"/>
                  </a:cxn>
                  <a:cxn ang="T5">
                    <a:pos x="T2" y="T3"/>
                  </a:cxn>
                </a:cxnLst>
                <a:rect l="T6" t="T7" r="T8" b="T9"/>
                <a:pathLst>
                  <a:path w="6" h="36">
                    <a:moveTo>
                      <a:pt x="0" y="36"/>
                    </a:moveTo>
                    <a:cubicBezTo>
                      <a:pt x="3" y="24"/>
                      <a:pt x="5" y="12"/>
                      <a:pt x="6"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29" name="Freeform 13"/>
              <p:cNvSpPr>
                <a:spLocks/>
              </p:cNvSpPr>
              <p:nvPr/>
            </p:nvSpPr>
            <p:spPr bwMode="auto">
              <a:xfrm>
                <a:off x="5273" y="2620"/>
                <a:ext cx="69" cy="136"/>
              </a:xfrm>
              <a:custGeom>
                <a:avLst/>
                <a:gdLst>
                  <a:gd name="T0" fmla="*/ 69 w 69"/>
                  <a:gd name="T1" fmla="*/ 136 h 136"/>
                  <a:gd name="T2" fmla="*/ 69 w 69"/>
                  <a:gd name="T3" fmla="*/ 135 h 136"/>
                  <a:gd name="T4" fmla="*/ 0 w 69"/>
                  <a:gd name="T5" fmla="*/ 0 h 136"/>
                  <a:gd name="T6" fmla="*/ 0 60000 65536"/>
                  <a:gd name="T7" fmla="*/ 0 60000 65536"/>
                  <a:gd name="T8" fmla="*/ 0 60000 65536"/>
                  <a:gd name="T9" fmla="*/ 0 w 69"/>
                  <a:gd name="T10" fmla="*/ 0 h 136"/>
                  <a:gd name="T11" fmla="*/ 69 w 69"/>
                  <a:gd name="T12" fmla="*/ 136 h 136"/>
                </a:gdLst>
                <a:ahLst/>
                <a:cxnLst>
                  <a:cxn ang="T6">
                    <a:pos x="T0" y="T1"/>
                  </a:cxn>
                  <a:cxn ang="T7">
                    <a:pos x="T2" y="T3"/>
                  </a:cxn>
                  <a:cxn ang="T8">
                    <a:pos x="T4" y="T5"/>
                  </a:cxn>
                </a:cxnLst>
                <a:rect l="T9" t="T10" r="T11" b="T12"/>
                <a:pathLst>
                  <a:path w="69" h="136">
                    <a:moveTo>
                      <a:pt x="69" y="136"/>
                    </a:moveTo>
                    <a:cubicBezTo>
                      <a:pt x="69" y="135"/>
                      <a:pt x="69" y="135"/>
                      <a:pt x="69" y="135"/>
                    </a:cubicBezTo>
                    <a:cubicBezTo>
                      <a:pt x="69" y="77"/>
                      <a:pt x="42" y="25"/>
                      <a:pt x="0"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30" name="Freeform 14"/>
              <p:cNvSpPr>
                <a:spLocks/>
              </p:cNvSpPr>
              <p:nvPr/>
            </p:nvSpPr>
            <p:spPr bwMode="auto">
              <a:xfrm>
                <a:off x="5404" y="2474"/>
                <a:ext cx="30" cy="51"/>
              </a:xfrm>
              <a:custGeom>
                <a:avLst/>
                <a:gdLst>
                  <a:gd name="T0" fmla="*/ 0 w 30"/>
                  <a:gd name="T1" fmla="*/ 51 h 51"/>
                  <a:gd name="T2" fmla="*/ 30 w 30"/>
                  <a:gd name="T3" fmla="*/ 0 h 51"/>
                  <a:gd name="T4" fmla="*/ 0 60000 65536"/>
                  <a:gd name="T5" fmla="*/ 0 60000 65536"/>
                  <a:gd name="T6" fmla="*/ 0 w 30"/>
                  <a:gd name="T7" fmla="*/ 0 h 51"/>
                  <a:gd name="T8" fmla="*/ 30 w 30"/>
                  <a:gd name="T9" fmla="*/ 51 h 51"/>
                </a:gdLst>
                <a:ahLst/>
                <a:cxnLst>
                  <a:cxn ang="T4">
                    <a:pos x="T0" y="T1"/>
                  </a:cxn>
                  <a:cxn ang="T5">
                    <a:pos x="T2" y="T3"/>
                  </a:cxn>
                </a:cxnLst>
                <a:rect l="T6" t="T7" r="T8" b="T9"/>
                <a:pathLst>
                  <a:path w="30" h="51">
                    <a:moveTo>
                      <a:pt x="0" y="51"/>
                    </a:moveTo>
                    <a:cubicBezTo>
                      <a:pt x="13" y="37"/>
                      <a:pt x="23" y="20"/>
                      <a:pt x="30"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31" name="Freeform 15"/>
              <p:cNvSpPr>
                <a:spLocks/>
              </p:cNvSpPr>
              <p:nvPr/>
            </p:nvSpPr>
            <p:spPr bwMode="auto">
              <a:xfrm>
                <a:off x="5361" y="2285"/>
                <a:ext cx="2" cy="24"/>
              </a:xfrm>
              <a:custGeom>
                <a:avLst/>
                <a:gdLst>
                  <a:gd name="T0" fmla="*/ 2 w 2"/>
                  <a:gd name="T1" fmla="*/ 24 h 24"/>
                  <a:gd name="T2" fmla="*/ 2 w 2"/>
                  <a:gd name="T3" fmla="*/ 23 h 24"/>
                  <a:gd name="T4" fmla="*/ 0 w 2"/>
                  <a:gd name="T5" fmla="*/ 0 h 24"/>
                  <a:gd name="T6" fmla="*/ 0 60000 65536"/>
                  <a:gd name="T7" fmla="*/ 0 60000 65536"/>
                  <a:gd name="T8" fmla="*/ 0 60000 65536"/>
                  <a:gd name="T9" fmla="*/ 0 w 2"/>
                  <a:gd name="T10" fmla="*/ 0 h 24"/>
                  <a:gd name="T11" fmla="*/ 2 w 2"/>
                  <a:gd name="T12" fmla="*/ 24 h 24"/>
                </a:gdLst>
                <a:ahLst/>
                <a:cxnLst>
                  <a:cxn ang="T6">
                    <a:pos x="T0" y="T1"/>
                  </a:cxn>
                  <a:cxn ang="T7">
                    <a:pos x="T2" y="T3"/>
                  </a:cxn>
                  <a:cxn ang="T8">
                    <a:pos x="T4" y="T5"/>
                  </a:cxn>
                </a:cxnLst>
                <a:rect l="T9" t="T10" r="T11" b="T12"/>
                <a:pathLst>
                  <a:path w="2" h="24">
                    <a:moveTo>
                      <a:pt x="2" y="24"/>
                    </a:moveTo>
                    <a:cubicBezTo>
                      <a:pt x="2" y="24"/>
                      <a:pt x="2" y="23"/>
                      <a:pt x="2" y="23"/>
                    </a:cubicBezTo>
                    <a:cubicBezTo>
                      <a:pt x="2" y="15"/>
                      <a:pt x="1" y="7"/>
                      <a:pt x="0"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32" name="Freeform 16"/>
              <p:cNvSpPr>
                <a:spLocks/>
              </p:cNvSpPr>
              <p:nvPr/>
            </p:nvSpPr>
            <p:spPr bwMode="auto">
              <a:xfrm>
                <a:off x="5167" y="2226"/>
                <a:ext cx="15" cy="31"/>
              </a:xfrm>
              <a:custGeom>
                <a:avLst/>
                <a:gdLst>
                  <a:gd name="T0" fmla="*/ 15 w 15"/>
                  <a:gd name="T1" fmla="*/ 0 h 31"/>
                  <a:gd name="T2" fmla="*/ 0 w 15"/>
                  <a:gd name="T3" fmla="*/ 31 h 31"/>
                  <a:gd name="T4" fmla="*/ 0 60000 65536"/>
                  <a:gd name="T5" fmla="*/ 0 60000 65536"/>
                  <a:gd name="T6" fmla="*/ 0 w 15"/>
                  <a:gd name="T7" fmla="*/ 0 h 31"/>
                  <a:gd name="T8" fmla="*/ 15 w 15"/>
                  <a:gd name="T9" fmla="*/ 31 h 31"/>
                </a:gdLst>
                <a:ahLst/>
                <a:cxnLst>
                  <a:cxn ang="T4">
                    <a:pos x="T0" y="T1"/>
                  </a:cxn>
                  <a:cxn ang="T5">
                    <a:pos x="T2" y="T3"/>
                  </a:cxn>
                </a:cxnLst>
                <a:rect l="T6" t="T7" r="T8" b="T9"/>
                <a:pathLst>
                  <a:path w="15" h="31">
                    <a:moveTo>
                      <a:pt x="15" y="0"/>
                    </a:moveTo>
                    <a:cubicBezTo>
                      <a:pt x="9" y="9"/>
                      <a:pt x="3" y="20"/>
                      <a:pt x="0" y="31"/>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33" name="Freeform 17"/>
              <p:cNvSpPr>
                <a:spLocks/>
              </p:cNvSpPr>
              <p:nvPr/>
            </p:nvSpPr>
            <p:spPr bwMode="auto">
              <a:xfrm>
                <a:off x="5019" y="2244"/>
                <a:ext cx="8" cy="27"/>
              </a:xfrm>
              <a:custGeom>
                <a:avLst/>
                <a:gdLst>
                  <a:gd name="T0" fmla="*/ 8 w 8"/>
                  <a:gd name="T1" fmla="*/ 0 h 27"/>
                  <a:gd name="T2" fmla="*/ 0 w 8"/>
                  <a:gd name="T3" fmla="*/ 27 h 27"/>
                  <a:gd name="T4" fmla="*/ 0 60000 65536"/>
                  <a:gd name="T5" fmla="*/ 0 60000 65536"/>
                  <a:gd name="T6" fmla="*/ 0 w 8"/>
                  <a:gd name="T7" fmla="*/ 0 h 27"/>
                  <a:gd name="T8" fmla="*/ 8 w 8"/>
                  <a:gd name="T9" fmla="*/ 27 h 27"/>
                </a:gdLst>
                <a:ahLst/>
                <a:cxnLst>
                  <a:cxn ang="T4">
                    <a:pos x="T0" y="T1"/>
                  </a:cxn>
                  <a:cxn ang="T5">
                    <a:pos x="T2" y="T3"/>
                  </a:cxn>
                </a:cxnLst>
                <a:rect l="T6" t="T7" r="T8" b="T9"/>
                <a:pathLst>
                  <a:path w="8" h="27">
                    <a:moveTo>
                      <a:pt x="8" y="0"/>
                    </a:moveTo>
                    <a:cubicBezTo>
                      <a:pt x="4" y="9"/>
                      <a:pt x="2" y="18"/>
                      <a:pt x="0" y="27"/>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34" name="Freeform 18"/>
              <p:cNvSpPr>
                <a:spLocks/>
              </p:cNvSpPr>
              <p:nvPr/>
            </p:nvSpPr>
            <p:spPr bwMode="auto">
              <a:xfrm>
                <a:off x="4849" y="2281"/>
                <a:ext cx="27" cy="26"/>
              </a:xfrm>
              <a:custGeom>
                <a:avLst/>
                <a:gdLst>
                  <a:gd name="T0" fmla="*/ 27 w 27"/>
                  <a:gd name="T1" fmla="*/ 26 h 26"/>
                  <a:gd name="T2" fmla="*/ 0 w 27"/>
                  <a:gd name="T3" fmla="*/ 0 h 26"/>
                  <a:gd name="T4" fmla="*/ 0 60000 65536"/>
                  <a:gd name="T5" fmla="*/ 0 60000 65536"/>
                  <a:gd name="T6" fmla="*/ 0 w 27"/>
                  <a:gd name="T7" fmla="*/ 0 h 26"/>
                  <a:gd name="T8" fmla="*/ 27 w 27"/>
                  <a:gd name="T9" fmla="*/ 26 h 26"/>
                </a:gdLst>
                <a:ahLst/>
                <a:cxnLst>
                  <a:cxn ang="T4">
                    <a:pos x="T0" y="T1"/>
                  </a:cxn>
                  <a:cxn ang="T5">
                    <a:pos x="T2" y="T3"/>
                  </a:cxn>
                </a:cxnLst>
                <a:rect l="T6" t="T7" r="T8" b="T9"/>
                <a:pathLst>
                  <a:path w="27" h="26">
                    <a:moveTo>
                      <a:pt x="27" y="26"/>
                    </a:moveTo>
                    <a:cubicBezTo>
                      <a:pt x="19" y="16"/>
                      <a:pt x="10" y="7"/>
                      <a:pt x="0"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35" name="Freeform 19"/>
              <p:cNvSpPr>
                <a:spLocks/>
              </p:cNvSpPr>
              <p:nvPr/>
            </p:nvSpPr>
            <p:spPr bwMode="auto">
              <a:xfrm>
                <a:off x="4636" y="2456"/>
                <a:ext cx="5" cy="27"/>
              </a:xfrm>
              <a:custGeom>
                <a:avLst/>
                <a:gdLst>
                  <a:gd name="T0" fmla="*/ 0 w 5"/>
                  <a:gd name="T1" fmla="*/ 0 h 27"/>
                  <a:gd name="T2" fmla="*/ 5 w 5"/>
                  <a:gd name="T3" fmla="*/ 27 h 27"/>
                  <a:gd name="T4" fmla="*/ 0 60000 65536"/>
                  <a:gd name="T5" fmla="*/ 0 60000 65536"/>
                  <a:gd name="T6" fmla="*/ 0 w 5"/>
                  <a:gd name="T7" fmla="*/ 0 h 27"/>
                  <a:gd name="T8" fmla="*/ 5 w 5"/>
                  <a:gd name="T9" fmla="*/ 27 h 27"/>
                </a:gdLst>
                <a:ahLst/>
                <a:cxnLst>
                  <a:cxn ang="T4">
                    <a:pos x="T0" y="T1"/>
                  </a:cxn>
                  <a:cxn ang="T5">
                    <a:pos x="T2" y="T3"/>
                  </a:cxn>
                </a:cxnLst>
                <a:rect l="T6" t="T7" r="T8" b="T9"/>
                <a:pathLst>
                  <a:path w="5" h="27">
                    <a:moveTo>
                      <a:pt x="0" y="0"/>
                    </a:moveTo>
                    <a:cubicBezTo>
                      <a:pt x="1" y="9"/>
                      <a:pt x="2" y="18"/>
                      <a:pt x="5" y="27"/>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grpSp>
        <p:sp>
          <p:nvSpPr>
            <p:cNvPr id="19" name="Text Box 37"/>
            <p:cNvSpPr txBox="1">
              <a:spLocks noChangeArrowheads="1"/>
            </p:cNvSpPr>
            <p:nvPr/>
          </p:nvSpPr>
          <p:spPr bwMode="auto">
            <a:xfrm>
              <a:off x="2103" y="1200"/>
              <a:ext cx="1584" cy="372"/>
            </a:xfrm>
            <a:prstGeom prst="rect">
              <a:avLst/>
            </a:prstGeom>
            <a:solidFill>
              <a:srgbClr val="00FF00"/>
            </a:solidFill>
            <a:ln w="9525" algn="ctr">
              <a:solidFill>
                <a:srgbClr val="000000"/>
              </a:solidFill>
              <a:miter lim="800000"/>
              <a:headEnd/>
              <a:tailEnd/>
            </a:ln>
          </p:spPr>
          <p:txBody>
            <a:bodyPr lIns="91380" tIns="45692" rIns="91380" bIns="45692">
              <a:spAutoFit/>
            </a:bodyPr>
            <a:lstStyle>
              <a:lvl1pPr eaLnBrk="0" hangingPunct="0">
                <a:defRPr sz="1200">
                  <a:solidFill>
                    <a:schemeClr val="tx1"/>
                  </a:solidFill>
                  <a:latin typeface="Verdana" panose="020B0604030504040204" pitchFamily="34" charset="0"/>
                  <a:ea typeface="SimSun" panose="02010600030101010101" pitchFamily="2" charset="-122"/>
                </a:defRPr>
              </a:lvl1pPr>
              <a:lvl2pPr marL="742950" indent="-285750" eaLnBrk="0" hangingPunct="0">
                <a:defRPr sz="1200">
                  <a:solidFill>
                    <a:schemeClr val="tx1"/>
                  </a:solidFill>
                  <a:latin typeface="Verdana" panose="020B0604030504040204" pitchFamily="34" charset="0"/>
                  <a:ea typeface="SimSun" panose="02010600030101010101" pitchFamily="2" charset="-122"/>
                </a:defRPr>
              </a:lvl2pPr>
              <a:lvl3pPr marL="1143000" indent="-228600" eaLnBrk="0" hangingPunct="0">
                <a:defRPr sz="1200">
                  <a:solidFill>
                    <a:schemeClr val="tx1"/>
                  </a:solidFill>
                  <a:latin typeface="Verdana" panose="020B0604030504040204" pitchFamily="34" charset="0"/>
                  <a:ea typeface="SimSun" panose="02010600030101010101" pitchFamily="2" charset="-122"/>
                </a:defRPr>
              </a:lvl3pPr>
              <a:lvl4pPr marL="1600200" indent="-228600" eaLnBrk="0" hangingPunct="0">
                <a:defRPr sz="1200">
                  <a:solidFill>
                    <a:schemeClr val="tx1"/>
                  </a:solidFill>
                  <a:latin typeface="Verdana" panose="020B0604030504040204" pitchFamily="34" charset="0"/>
                  <a:ea typeface="SimSun" panose="02010600030101010101" pitchFamily="2" charset="-122"/>
                </a:defRPr>
              </a:lvl4pPr>
              <a:lvl5pPr marL="2057400" indent="-228600" eaLnBrk="0" hangingPunct="0">
                <a:defRPr sz="1200">
                  <a:solidFill>
                    <a:schemeClr val="tx1"/>
                  </a:solidFill>
                  <a:latin typeface="Verdan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AU" altLang="en-US" sz="1600" b="1" i="0" u="none" strike="noStrike" kern="0" cap="none" spc="0" normalizeH="0" baseline="0" noProof="0">
                  <a:ln>
                    <a:noFill/>
                  </a:ln>
                  <a:solidFill>
                    <a:srgbClr val="0000FF"/>
                  </a:solidFill>
                  <a:effectLst/>
                  <a:uLnTx/>
                  <a:uFillTx/>
                  <a:latin typeface="Verdana" panose="020B0604030504040204" pitchFamily="34" charset="0"/>
                  <a:ea typeface="SimSun" panose="02010600030101010101" pitchFamily="2" charset="-122"/>
                  <a:cs typeface="Tahoma"/>
                </a:rPr>
                <a:t>Private/Enterprise Clouds</a:t>
              </a:r>
              <a:endParaRPr kumimoji="0" lang="en-US" altLang="en-US" sz="1600" b="1" i="0" u="none" strike="noStrike" kern="0" cap="none" spc="0" normalizeH="0" baseline="0" noProof="0">
                <a:ln>
                  <a:noFill/>
                </a:ln>
                <a:solidFill>
                  <a:srgbClr val="0000FF"/>
                </a:solidFill>
                <a:effectLst/>
                <a:uLnTx/>
                <a:uFillTx/>
                <a:latin typeface="Verdana" panose="020B0604030504040204" pitchFamily="34" charset="0"/>
                <a:ea typeface="SimSun" panose="02010600030101010101" pitchFamily="2" charset="-122"/>
                <a:cs typeface="Tahoma"/>
              </a:endParaRPr>
            </a:p>
          </p:txBody>
        </p:sp>
        <p:pic>
          <p:nvPicPr>
            <p:cNvPr id="20" name="Picture 6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2" y="3216"/>
              <a:ext cx="1506" cy="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1" name="AutoShape 64"/>
            <p:cNvSpPr>
              <a:spLocks noChangeArrowheads="1"/>
            </p:cNvSpPr>
            <p:nvPr/>
          </p:nvSpPr>
          <p:spPr bwMode="auto">
            <a:xfrm>
              <a:off x="2208" y="1920"/>
              <a:ext cx="1440" cy="1104"/>
            </a:xfrm>
            <a:prstGeom prst="roundRect">
              <a:avLst>
                <a:gd name="adj" fmla="val 16667"/>
              </a:avLst>
            </a:prstGeom>
            <a:solidFill>
              <a:srgbClr val="00FF00"/>
            </a:solidFill>
            <a:ln w="9525" algn="ctr">
              <a:solidFill>
                <a:srgbClr val="000000"/>
              </a:solidFill>
              <a:round/>
              <a:headEnd/>
              <a:tailEnd/>
            </a:ln>
          </p:spPr>
          <p:txBody>
            <a:bodyPr wrap="none" lIns="91380" tIns="45692" rIns="91380" bIns="45692" anchor="ctr"/>
            <a:lstStyle>
              <a:lvl1pPr eaLnBrk="0" hangingPunct="0">
                <a:defRPr sz="1200">
                  <a:solidFill>
                    <a:schemeClr val="tx1"/>
                  </a:solidFill>
                  <a:latin typeface="Verdana" panose="020B0604030504040204" pitchFamily="34" charset="0"/>
                  <a:ea typeface="SimSun" panose="02010600030101010101" pitchFamily="2" charset="-122"/>
                </a:defRPr>
              </a:lvl1pPr>
              <a:lvl2pPr marL="742950" indent="-285750" eaLnBrk="0" hangingPunct="0">
                <a:defRPr sz="1200">
                  <a:solidFill>
                    <a:schemeClr val="tx1"/>
                  </a:solidFill>
                  <a:latin typeface="Verdana" panose="020B0604030504040204" pitchFamily="34" charset="0"/>
                  <a:ea typeface="SimSun" panose="02010600030101010101" pitchFamily="2" charset="-122"/>
                </a:defRPr>
              </a:lvl2pPr>
              <a:lvl3pPr marL="1143000" indent="-228600" eaLnBrk="0" hangingPunct="0">
                <a:defRPr sz="1200">
                  <a:solidFill>
                    <a:schemeClr val="tx1"/>
                  </a:solidFill>
                  <a:latin typeface="Verdana" panose="020B0604030504040204" pitchFamily="34" charset="0"/>
                  <a:ea typeface="SimSun" panose="02010600030101010101" pitchFamily="2" charset="-122"/>
                </a:defRPr>
              </a:lvl3pPr>
              <a:lvl4pPr marL="1600200" indent="-228600" eaLnBrk="0" hangingPunct="0">
                <a:defRPr sz="1200">
                  <a:solidFill>
                    <a:schemeClr val="tx1"/>
                  </a:solidFill>
                  <a:latin typeface="Verdana" panose="020B0604030504040204" pitchFamily="34" charset="0"/>
                  <a:ea typeface="SimSun" panose="02010600030101010101" pitchFamily="2" charset="-122"/>
                </a:defRPr>
              </a:lvl4pPr>
              <a:lvl5pPr marL="2057400" indent="-228600" eaLnBrk="0" hangingPunct="0">
                <a:defRPr sz="1200">
                  <a:solidFill>
                    <a:schemeClr val="tx1"/>
                  </a:solidFill>
                  <a:latin typeface="Verdan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AU" altLang="en-US" sz="1400" b="1" i="0" u="none" strike="noStrike" kern="0" cap="none" spc="0" normalizeH="0" baseline="0" noProof="0">
                  <a:ln>
                    <a:noFill/>
                  </a:ln>
                  <a:solidFill>
                    <a:srgbClr val="0000FF"/>
                  </a:solidFill>
                  <a:effectLst/>
                  <a:uLnTx/>
                  <a:uFillTx/>
                  <a:latin typeface="Verdana" panose="020B0604030504040204" pitchFamily="34" charset="0"/>
                  <a:ea typeface="SimSun" panose="02010600030101010101" pitchFamily="2" charset="-122"/>
                  <a:cs typeface="Tahoma"/>
                </a:rPr>
                <a:t>Cloud model run </a:t>
              </a:r>
              <a:br>
                <a:rPr kumimoji="0" lang="en-AU" altLang="en-US" sz="1400" b="1" i="0" u="none" strike="noStrike" kern="0" cap="none" spc="0" normalizeH="0" baseline="0" noProof="0">
                  <a:ln>
                    <a:noFill/>
                  </a:ln>
                  <a:solidFill>
                    <a:srgbClr val="0000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0000FF"/>
                  </a:solidFill>
                  <a:effectLst/>
                  <a:uLnTx/>
                  <a:uFillTx/>
                  <a:latin typeface="Verdana" panose="020B0604030504040204" pitchFamily="34" charset="0"/>
                  <a:ea typeface="SimSun" panose="02010600030101010101" pitchFamily="2" charset="-122"/>
                  <a:cs typeface="Tahoma"/>
                </a:rPr>
                <a:t>within a company’s </a:t>
              </a:r>
              <a:br>
                <a:rPr kumimoji="0" lang="en-AU" altLang="en-US" sz="1400" b="1" i="0" u="none" strike="noStrike" kern="0" cap="none" spc="0" normalizeH="0" baseline="0" noProof="0">
                  <a:ln>
                    <a:noFill/>
                  </a:ln>
                  <a:solidFill>
                    <a:srgbClr val="0000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0000FF"/>
                  </a:solidFill>
                  <a:effectLst/>
                  <a:uLnTx/>
                  <a:uFillTx/>
                  <a:latin typeface="Verdana" panose="020B0604030504040204" pitchFamily="34" charset="0"/>
                  <a:ea typeface="SimSun" panose="02010600030101010101" pitchFamily="2" charset="-122"/>
                  <a:cs typeface="Tahoma"/>
                </a:rPr>
                <a:t>own Data Center / </a:t>
              </a:r>
              <a:br>
                <a:rPr kumimoji="0" lang="en-AU" altLang="en-US" sz="1400" b="1" i="0" u="none" strike="noStrike" kern="0" cap="none" spc="0" normalizeH="0" baseline="0" noProof="0">
                  <a:ln>
                    <a:noFill/>
                  </a:ln>
                  <a:solidFill>
                    <a:srgbClr val="0000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0000FF"/>
                  </a:solidFill>
                  <a:effectLst/>
                  <a:uLnTx/>
                  <a:uFillTx/>
                  <a:latin typeface="Verdana" panose="020B0604030504040204" pitchFamily="34" charset="0"/>
                  <a:ea typeface="SimSun" panose="02010600030101010101" pitchFamily="2" charset="-122"/>
                  <a:cs typeface="Tahoma"/>
                </a:rPr>
                <a:t>infrastructure for</a:t>
              </a:r>
              <a:br>
                <a:rPr kumimoji="0" lang="en-AU" altLang="en-US" sz="1400" b="1" i="0" u="none" strike="noStrike" kern="0" cap="none" spc="0" normalizeH="0" baseline="0" noProof="0">
                  <a:ln>
                    <a:noFill/>
                  </a:ln>
                  <a:solidFill>
                    <a:srgbClr val="0000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0000FF"/>
                  </a:solidFill>
                  <a:effectLst/>
                  <a:uLnTx/>
                  <a:uFillTx/>
                  <a:latin typeface="Verdana" panose="020B0604030504040204" pitchFamily="34" charset="0"/>
                  <a:ea typeface="SimSun" panose="02010600030101010101" pitchFamily="2" charset="-122"/>
                  <a:cs typeface="Tahoma"/>
                </a:rPr>
                <a:t>internal and/or</a:t>
              </a:r>
              <a:br>
                <a:rPr kumimoji="0" lang="en-AU" altLang="en-US" sz="1400" b="1" i="0" u="none" strike="noStrike" kern="0" cap="none" spc="0" normalizeH="0" baseline="0" noProof="0">
                  <a:ln>
                    <a:noFill/>
                  </a:ln>
                  <a:solidFill>
                    <a:srgbClr val="0000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0000FF"/>
                  </a:solidFill>
                  <a:effectLst/>
                  <a:uLnTx/>
                  <a:uFillTx/>
                  <a:latin typeface="Verdana" panose="020B0604030504040204" pitchFamily="34" charset="0"/>
                  <a:ea typeface="SimSun" panose="02010600030101010101" pitchFamily="2" charset="-122"/>
                  <a:cs typeface="Tahoma"/>
                </a:rPr>
                <a:t> partners use.</a:t>
              </a:r>
            </a:p>
          </p:txBody>
        </p:sp>
      </p:grpSp>
      <p:grpSp>
        <p:nvGrpSpPr>
          <p:cNvPr id="36" name="Group 70"/>
          <p:cNvGrpSpPr>
            <a:grpSpLocks/>
          </p:cNvGrpSpPr>
          <p:nvPr/>
        </p:nvGrpSpPr>
        <p:grpSpPr bwMode="auto">
          <a:xfrm>
            <a:off x="1569075" y="1524000"/>
            <a:ext cx="2819400" cy="5186363"/>
            <a:chOff x="96" y="960"/>
            <a:chExt cx="1776" cy="3267"/>
          </a:xfrm>
        </p:grpSpPr>
        <p:grpSp>
          <p:nvGrpSpPr>
            <p:cNvPr id="37" name="Group 20"/>
            <p:cNvGrpSpPr>
              <a:grpSpLocks/>
            </p:cNvGrpSpPr>
            <p:nvPr/>
          </p:nvGrpSpPr>
          <p:grpSpPr bwMode="auto">
            <a:xfrm>
              <a:off x="96" y="960"/>
              <a:ext cx="1776" cy="864"/>
              <a:chOff x="4554" y="2181"/>
              <a:chExt cx="958" cy="873"/>
            </a:xfrm>
          </p:grpSpPr>
          <p:sp>
            <p:nvSpPr>
              <p:cNvPr id="41" name="Freeform 21"/>
              <p:cNvSpPr>
                <a:spLocks/>
              </p:cNvSpPr>
              <p:nvPr/>
            </p:nvSpPr>
            <p:spPr bwMode="auto">
              <a:xfrm>
                <a:off x="4602" y="2229"/>
                <a:ext cx="910" cy="825"/>
              </a:xfrm>
              <a:custGeom>
                <a:avLst/>
                <a:gdLst>
                  <a:gd name="T0" fmla="*/ 0 w 3800"/>
                  <a:gd name="T1" fmla="*/ 0 h 3433"/>
                  <a:gd name="T2" fmla="*/ 0 w 3800"/>
                  <a:gd name="T3" fmla="*/ 0 h 3433"/>
                  <a:gd name="T4" fmla="*/ 0 w 3800"/>
                  <a:gd name="T5" fmla="*/ 0 h 3433"/>
                  <a:gd name="T6" fmla="*/ 0 w 3800"/>
                  <a:gd name="T7" fmla="*/ 0 h 3433"/>
                  <a:gd name="T8" fmla="*/ 0 w 3800"/>
                  <a:gd name="T9" fmla="*/ 0 h 3433"/>
                  <a:gd name="T10" fmla="*/ 0 w 3800"/>
                  <a:gd name="T11" fmla="*/ 0 h 3433"/>
                  <a:gd name="T12" fmla="*/ 0 w 3800"/>
                  <a:gd name="T13" fmla="*/ 0 h 3433"/>
                  <a:gd name="T14" fmla="*/ 0 w 3800"/>
                  <a:gd name="T15" fmla="*/ 0 h 3433"/>
                  <a:gd name="T16" fmla="*/ 0 w 3800"/>
                  <a:gd name="T17" fmla="*/ 0 h 3433"/>
                  <a:gd name="T18" fmla="*/ 0 w 3800"/>
                  <a:gd name="T19" fmla="*/ 0 h 3433"/>
                  <a:gd name="T20" fmla="*/ 0 w 3800"/>
                  <a:gd name="T21" fmla="*/ 0 h 3433"/>
                  <a:gd name="T22" fmla="*/ 0 w 3800"/>
                  <a:gd name="T23" fmla="*/ 0 h 3433"/>
                  <a:gd name="T24" fmla="*/ 0 w 3800"/>
                  <a:gd name="T25" fmla="*/ 0 h 3433"/>
                  <a:gd name="T26" fmla="*/ 0 w 3800"/>
                  <a:gd name="T27" fmla="*/ 0 h 3433"/>
                  <a:gd name="T28" fmla="*/ 0 w 3800"/>
                  <a:gd name="T29" fmla="*/ 0 h 3433"/>
                  <a:gd name="T30" fmla="*/ 0 w 3800"/>
                  <a:gd name="T31" fmla="*/ 0 h 3433"/>
                  <a:gd name="T32" fmla="*/ 0 w 3800"/>
                  <a:gd name="T33" fmla="*/ 0 h 3433"/>
                  <a:gd name="T34" fmla="*/ 0 w 3800"/>
                  <a:gd name="T35" fmla="*/ 0 h 3433"/>
                  <a:gd name="T36" fmla="*/ 0 w 3800"/>
                  <a:gd name="T37" fmla="*/ 0 h 3433"/>
                  <a:gd name="T38" fmla="*/ 0 w 3800"/>
                  <a:gd name="T39" fmla="*/ 0 h 3433"/>
                  <a:gd name="T40" fmla="*/ 0 w 3800"/>
                  <a:gd name="T41" fmla="*/ 0 h 3433"/>
                  <a:gd name="T42" fmla="*/ 0 w 3800"/>
                  <a:gd name="T43" fmla="*/ 0 h 3433"/>
                  <a:gd name="T44" fmla="*/ 0 w 3800"/>
                  <a:gd name="T45" fmla="*/ 0 h 3433"/>
                  <a:gd name="T46" fmla="*/ 0 w 3800"/>
                  <a:gd name="T47" fmla="*/ 0 h 3433"/>
                  <a:gd name="T48" fmla="*/ 0 w 3800"/>
                  <a:gd name="T49" fmla="*/ 0 h 3433"/>
                  <a:gd name="T50" fmla="*/ 0 w 3800"/>
                  <a:gd name="T51" fmla="*/ 0 h 3433"/>
                  <a:gd name="T52" fmla="*/ 0 w 3800"/>
                  <a:gd name="T53" fmla="*/ 0 h 3433"/>
                  <a:gd name="T54" fmla="*/ 0 w 3800"/>
                  <a:gd name="T55" fmla="*/ 0 h 3433"/>
                  <a:gd name="T56" fmla="*/ 0 w 3800"/>
                  <a:gd name="T57" fmla="*/ 0 h 3433"/>
                  <a:gd name="T58" fmla="*/ 0 w 3800"/>
                  <a:gd name="T59" fmla="*/ 0 h 3433"/>
                  <a:gd name="T60" fmla="*/ 0 w 3800"/>
                  <a:gd name="T61" fmla="*/ 0 h 3433"/>
                  <a:gd name="T62" fmla="*/ 0 w 3800"/>
                  <a:gd name="T63" fmla="*/ 0 h 3433"/>
                  <a:gd name="T64" fmla="*/ 0 w 3800"/>
                  <a:gd name="T65" fmla="*/ 0 h 3433"/>
                  <a:gd name="T66" fmla="*/ 0 w 3800"/>
                  <a:gd name="T67" fmla="*/ 0 h 3433"/>
                  <a:gd name="T68" fmla="*/ 0 w 3800"/>
                  <a:gd name="T69" fmla="*/ 0 h 3433"/>
                  <a:gd name="T70" fmla="*/ 0 w 3800"/>
                  <a:gd name="T71" fmla="*/ 0 h 343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800"/>
                  <a:gd name="T109" fmla="*/ 0 h 3433"/>
                  <a:gd name="T110" fmla="*/ 3800 w 3800"/>
                  <a:gd name="T111" fmla="*/ 3433 h 343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800" h="3433">
                    <a:moveTo>
                      <a:pt x="343" y="1142"/>
                    </a:moveTo>
                    <a:cubicBezTo>
                      <a:pt x="148" y="1167"/>
                      <a:pt x="0" y="1370"/>
                      <a:pt x="0" y="1612"/>
                    </a:cubicBezTo>
                    <a:cubicBezTo>
                      <a:pt x="0" y="1780"/>
                      <a:pt x="72" y="1935"/>
                      <a:pt x="189" y="2020"/>
                    </a:cubicBezTo>
                    <a:lnTo>
                      <a:pt x="187" y="2014"/>
                    </a:lnTo>
                    <a:cubicBezTo>
                      <a:pt x="121" y="2101"/>
                      <a:pt x="84" y="2216"/>
                      <a:pt x="84" y="2336"/>
                    </a:cubicBezTo>
                    <a:cubicBezTo>
                      <a:pt x="84" y="2596"/>
                      <a:pt x="256" y="2806"/>
                      <a:pt x="468" y="2806"/>
                    </a:cubicBezTo>
                    <a:cubicBezTo>
                      <a:pt x="482" y="2806"/>
                      <a:pt x="497" y="2805"/>
                      <a:pt x="512" y="2803"/>
                    </a:cubicBezTo>
                    <a:lnTo>
                      <a:pt x="510" y="2806"/>
                    </a:lnTo>
                    <a:cubicBezTo>
                      <a:pt x="631" y="3066"/>
                      <a:pt x="856" y="3227"/>
                      <a:pt x="1099" y="3227"/>
                    </a:cubicBezTo>
                    <a:cubicBezTo>
                      <a:pt x="1223" y="3227"/>
                      <a:pt x="1344" y="3186"/>
                      <a:pt x="1449" y="3107"/>
                    </a:cubicBezTo>
                    <a:lnTo>
                      <a:pt x="1448" y="3108"/>
                    </a:lnTo>
                    <a:cubicBezTo>
                      <a:pt x="1558" y="3311"/>
                      <a:pt x="1744" y="3433"/>
                      <a:pt x="1942" y="3433"/>
                    </a:cubicBezTo>
                    <a:cubicBezTo>
                      <a:pt x="2204" y="3433"/>
                      <a:pt x="2435" y="3222"/>
                      <a:pt x="2510" y="2913"/>
                    </a:cubicBezTo>
                    <a:lnTo>
                      <a:pt x="2511" y="2917"/>
                    </a:lnTo>
                    <a:cubicBezTo>
                      <a:pt x="2592" y="2979"/>
                      <a:pt x="2685" y="3012"/>
                      <a:pt x="2780" y="3012"/>
                    </a:cubicBezTo>
                    <a:cubicBezTo>
                      <a:pt x="3060" y="3012"/>
                      <a:pt x="3287" y="2735"/>
                      <a:pt x="3289" y="2392"/>
                    </a:cubicBezTo>
                    <a:lnTo>
                      <a:pt x="3288" y="2390"/>
                    </a:lnTo>
                    <a:cubicBezTo>
                      <a:pt x="3582" y="2339"/>
                      <a:pt x="3800" y="2030"/>
                      <a:pt x="3800" y="1665"/>
                    </a:cubicBezTo>
                    <a:cubicBezTo>
                      <a:pt x="3800" y="1504"/>
                      <a:pt x="3756" y="1347"/>
                      <a:pt x="3677" y="1219"/>
                    </a:cubicBezTo>
                    <a:lnTo>
                      <a:pt x="3675" y="1218"/>
                    </a:lnTo>
                    <a:cubicBezTo>
                      <a:pt x="3700" y="1146"/>
                      <a:pt x="3713" y="1069"/>
                      <a:pt x="3713" y="991"/>
                    </a:cubicBezTo>
                    <a:cubicBezTo>
                      <a:pt x="3713" y="730"/>
                      <a:pt x="3572" y="501"/>
                      <a:pt x="3368" y="433"/>
                    </a:cubicBezTo>
                    <a:lnTo>
                      <a:pt x="3369" y="432"/>
                    </a:lnTo>
                    <a:cubicBezTo>
                      <a:pt x="3333" y="182"/>
                      <a:pt x="3155" y="1"/>
                      <a:pt x="2949" y="1"/>
                    </a:cubicBezTo>
                    <a:cubicBezTo>
                      <a:pt x="2823" y="0"/>
                      <a:pt x="2704" y="68"/>
                      <a:pt x="2623" y="186"/>
                    </a:cubicBezTo>
                    <a:lnTo>
                      <a:pt x="2623" y="187"/>
                    </a:lnTo>
                    <a:cubicBezTo>
                      <a:pt x="2551" y="69"/>
                      <a:pt x="2438" y="1"/>
                      <a:pt x="2318" y="1"/>
                    </a:cubicBezTo>
                    <a:cubicBezTo>
                      <a:pt x="2173" y="0"/>
                      <a:pt x="2039" y="102"/>
                      <a:pt x="1975" y="262"/>
                    </a:cubicBezTo>
                    <a:lnTo>
                      <a:pt x="1976" y="270"/>
                    </a:lnTo>
                    <a:cubicBezTo>
                      <a:pt x="1888" y="163"/>
                      <a:pt x="1770" y="104"/>
                      <a:pt x="1647" y="104"/>
                    </a:cubicBezTo>
                    <a:cubicBezTo>
                      <a:pt x="1473" y="104"/>
                      <a:pt x="1314" y="222"/>
                      <a:pt x="1232" y="410"/>
                    </a:cubicBezTo>
                    <a:lnTo>
                      <a:pt x="1231" y="414"/>
                    </a:lnTo>
                    <a:cubicBezTo>
                      <a:pt x="1140" y="349"/>
                      <a:pt x="1036" y="314"/>
                      <a:pt x="931" y="314"/>
                    </a:cubicBezTo>
                    <a:cubicBezTo>
                      <a:pt x="603" y="314"/>
                      <a:pt x="337" y="641"/>
                      <a:pt x="337" y="1044"/>
                    </a:cubicBezTo>
                    <a:cubicBezTo>
                      <a:pt x="337" y="1077"/>
                      <a:pt x="339" y="1110"/>
                      <a:pt x="342" y="1143"/>
                    </a:cubicBezTo>
                    <a:lnTo>
                      <a:pt x="343" y="1142"/>
                    </a:lnTo>
                    <a:close/>
                  </a:path>
                </a:pathLst>
              </a:custGeom>
              <a:solidFill>
                <a:srgbClr val="C0C0C0"/>
              </a:solidFill>
              <a:ln w="0">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43" name="Freeform 22"/>
              <p:cNvSpPr>
                <a:spLocks/>
              </p:cNvSpPr>
              <p:nvPr/>
            </p:nvSpPr>
            <p:spPr bwMode="auto">
              <a:xfrm>
                <a:off x="4554" y="2181"/>
                <a:ext cx="910" cy="825"/>
              </a:xfrm>
              <a:custGeom>
                <a:avLst/>
                <a:gdLst>
                  <a:gd name="T0" fmla="*/ 0 w 3800"/>
                  <a:gd name="T1" fmla="*/ 0 h 3433"/>
                  <a:gd name="T2" fmla="*/ 0 w 3800"/>
                  <a:gd name="T3" fmla="*/ 0 h 3433"/>
                  <a:gd name="T4" fmla="*/ 0 w 3800"/>
                  <a:gd name="T5" fmla="*/ 0 h 3433"/>
                  <a:gd name="T6" fmla="*/ 0 w 3800"/>
                  <a:gd name="T7" fmla="*/ 0 h 3433"/>
                  <a:gd name="T8" fmla="*/ 0 w 3800"/>
                  <a:gd name="T9" fmla="*/ 0 h 3433"/>
                  <a:gd name="T10" fmla="*/ 0 w 3800"/>
                  <a:gd name="T11" fmla="*/ 0 h 3433"/>
                  <a:gd name="T12" fmla="*/ 0 w 3800"/>
                  <a:gd name="T13" fmla="*/ 0 h 3433"/>
                  <a:gd name="T14" fmla="*/ 0 w 3800"/>
                  <a:gd name="T15" fmla="*/ 0 h 3433"/>
                  <a:gd name="T16" fmla="*/ 0 w 3800"/>
                  <a:gd name="T17" fmla="*/ 0 h 3433"/>
                  <a:gd name="T18" fmla="*/ 0 w 3800"/>
                  <a:gd name="T19" fmla="*/ 0 h 3433"/>
                  <a:gd name="T20" fmla="*/ 0 w 3800"/>
                  <a:gd name="T21" fmla="*/ 0 h 3433"/>
                  <a:gd name="T22" fmla="*/ 0 w 3800"/>
                  <a:gd name="T23" fmla="*/ 0 h 3433"/>
                  <a:gd name="T24" fmla="*/ 0 w 3800"/>
                  <a:gd name="T25" fmla="*/ 0 h 3433"/>
                  <a:gd name="T26" fmla="*/ 0 w 3800"/>
                  <a:gd name="T27" fmla="*/ 0 h 3433"/>
                  <a:gd name="T28" fmla="*/ 0 w 3800"/>
                  <a:gd name="T29" fmla="*/ 0 h 3433"/>
                  <a:gd name="T30" fmla="*/ 0 w 3800"/>
                  <a:gd name="T31" fmla="*/ 0 h 3433"/>
                  <a:gd name="T32" fmla="*/ 0 w 3800"/>
                  <a:gd name="T33" fmla="*/ 0 h 3433"/>
                  <a:gd name="T34" fmla="*/ 0 w 3800"/>
                  <a:gd name="T35" fmla="*/ 0 h 3433"/>
                  <a:gd name="T36" fmla="*/ 0 w 3800"/>
                  <a:gd name="T37" fmla="*/ 0 h 3433"/>
                  <a:gd name="T38" fmla="*/ 0 w 3800"/>
                  <a:gd name="T39" fmla="*/ 0 h 3433"/>
                  <a:gd name="T40" fmla="*/ 0 w 3800"/>
                  <a:gd name="T41" fmla="*/ 0 h 3433"/>
                  <a:gd name="T42" fmla="*/ 0 w 3800"/>
                  <a:gd name="T43" fmla="*/ 0 h 3433"/>
                  <a:gd name="T44" fmla="*/ 0 w 3800"/>
                  <a:gd name="T45" fmla="*/ 0 h 3433"/>
                  <a:gd name="T46" fmla="*/ 0 w 3800"/>
                  <a:gd name="T47" fmla="*/ 0 h 3433"/>
                  <a:gd name="T48" fmla="*/ 0 w 3800"/>
                  <a:gd name="T49" fmla="*/ 0 h 3433"/>
                  <a:gd name="T50" fmla="*/ 0 w 3800"/>
                  <a:gd name="T51" fmla="*/ 0 h 3433"/>
                  <a:gd name="T52" fmla="*/ 0 w 3800"/>
                  <a:gd name="T53" fmla="*/ 0 h 3433"/>
                  <a:gd name="T54" fmla="*/ 0 w 3800"/>
                  <a:gd name="T55" fmla="*/ 0 h 3433"/>
                  <a:gd name="T56" fmla="*/ 0 w 3800"/>
                  <a:gd name="T57" fmla="*/ 0 h 3433"/>
                  <a:gd name="T58" fmla="*/ 0 w 3800"/>
                  <a:gd name="T59" fmla="*/ 0 h 3433"/>
                  <a:gd name="T60" fmla="*/ 0 w 3800"/>
                  <a:gd name="T61" fmla="*/ 0 h 3433"/>
                  <a:gd name="T62" fmla="*/ 0 w 3800"/>
                  <a:gd name="T63" fmla="*/ 0 h 3433"/>
                  <a:gd name="T64" fmla="*/ 0 w 3800"/>
                  <a:gd name="T65" fmla="*/ 0 h 3433"/>
                  <a:gd name="T66" fmla="*/ 0 w 3800"/>
                  <a:gd name="T67" fmla="*/ 0 h 3433"/>
                  <a:gd name="T68" fmla="*/ 0 w 3800"/>
                  <a:gd name="T69" fmla="*/ 0 h 3433"/>
                  <a:gd name="T70" fmla="*/ 0 w 3800"/>
                  <a:gd name="T71" fmla="*/ 0 h 343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800"/>
                  <a:gd name="T109" fmla="*/ 0 h 3433"/>
                  <a:gd name="T110" fmla="*/ 3800 w 3800"/>
                  <a:gd name="T111" fmla="*/ 3433 h 343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800" h="3433">
                    <a:moveTo>
                      <a:pt x="343" y="1142"/>
                    </a:moveTo>
                    <a:cubicBezTo>
                      <a:pt x="148" y="1167"/>
                      <a:pt x="0" y="1370"/>
                      <a:pt x="0" y="1612"/>
                    </a:cubicBezTo>
                    <a:cubicBezTo>
                      <a:pt x="0" y="1780"/>
                      <a:pt x="72" y="1935"/>
                      <a:pt x="189" y="2020"/>
                    </a:cubicBezTo>
                    <a:lnTo>
                      <a:pt x="187" y="2014"/>
                    </a:lnTo>
                    <a:cubicBezTo>
                      <a:pt x="121" y="2101"/>
                      <a:pt x="84" y="2216"/>
                      <a:pt x="84" y="2336"/>
                    </a:cubicBezTo>
                    <a:cubicBezTo>
                      <a:pt x="84" y="2596"/>
                      <a:pt x="256" y="2806"/>
                      <a:pt x="468" y="2806"/>
                    </a:cubicBezTo>
                    <a:cubicBezTo>
                      <a:pt x="482" y="2806"/>
                      <a:pt x="497" y="2805"/>
                      <a:pt x="512" y="2803"/>
                    </a:cubicBezTo>
                    <a:lnTo>
                      <a:pt x="510" y="2806"/>
                    </a:lnTo>
                    <a:cubicBezTo>
                      <a:pt x="631" y="3066"/>
                      <a:pt x="856" y="3227"/>
                      <a:pt x="1099" y="3227"/>
                    </a:cubicBezTo>
                    <a:cubicBezTo>
                      <a:pt x="1223" y="3227"/>
                      <a:pt x="1344" y="3186"/>
                      <a:pt x="1449" y="3107"/>
                    </a:cubicBezTo>
                    <a:lnTo>
                      <a:pt x="1448" y="3108"/>
                    </a:lnTo>
                    <a:cubicBezTo>
                      <a:pt x="1558" y="3311"/>
                      <a:pt x="1744" y="3433"/>
                      <a:pt x="1942" y="3433"/>
                    </a:cubicBezTo>
                    <a:cubicBezTo>
                      <a:pt x="2204" y="3433"/>
                      <a:pt x="2435" y="3222"/>
                      <a:pt x="2510" y="2913"/>
                    </a:cubicBezTo>
                    <a:lnTo>
                      <a:pt x="2511" y="2917"/>
                    </a:lnTo>
                    <a:cubicBezTo>
                      <a:pt x="2592" y="2979"/>
                      <a:pt x="2685" y="3012"/>
                      <a:pt x="2780" y="3012"/>
                    </a:cubicBezTo>
                    <a:cubicBezTo>
                      <a:pt x="3060" y="3012"/>
                      <a:pt x="3287" y="2735"/>
                      <a:pt x="3289" y="2392"/>
                    </a:cubicBezTo>
                    <a:lnTo>
                      <a:pt x="3288" y="2390"/>
                    </a:lnTo>
                    <a:cubicBezTo>
                      <a:pt x="3582" y="2339"/>
                      <a:pt x="3800" y="2030"/>
                      <a:pt x="3800" y="1665"/>
                    </a:cubicBezTo>
                    <a:cubicBezTo>
                      <a:pt x="3800" y="1504"/>
                      <a:pt x="3756" y="1347"/>
                      <a:pt x="3677" y="1219"/>
                    </a:cubicBezTo>
                    <a:lnTo>
                      <a:pt x="3675" y="1218"/>
                    </a:lnTo>
                    <a:cubicBezTo>
                      <a:pt x="3700" y="1146"/>
                      <a:pt x="3713" y="1069"/>
                      <a:pt x="3713" y="991"/>
                    </a:cubicBezTo>
                    <a:cubicBezTo>
                      <a:pt x="3713" y="730"/>
                      <a:pt x="3572" y="501"/>
                      <a:pt x="3368" y="433"/>
                    </a:cubicBezTo>
                    <a:lnTo>
                      <a:pt x="3369" y="432"/>
                    </a:lnTo>
                    <a:cubicBezTo>
                      <a:pt x="3333" y="182"/>
                      <a:pt x="3155" y="1"/>
                      <a:pt x="2949" y="1"/>
                    </a:cubicBezTo>
                    <a:cubicBezTo>
                      <a:pt x="2823" y="0"/>
                      <a:pt x="2704" y="68"/>
                      <a:pt x="2623" y="186"/>
                    </a:cubicBezTo>
                    <a:lnTo>
                      <a:pt x="2623" y="187"/>
                    </a:lnTo>
                    <a:cubicBezTo>
                      <a:pt x="2551" y="69"/>
                      <a:pt x="2438" y="1"/>
                      <a:pt x="2318" y="1"/>
                    </a:cubicBezTo>
                    <a:cubicBezTo>
                      <a:pt x="2173" y="0"/>
                      <a:pt x="2039" y="102"/>
                      <a:pt x="1975" y="262"/>
                    </a:cubicBezTo>
                    <a:lnTo>
                      <a:pt x="1976" y="270"/>
                    </a:lnTo>
                    <a:cubicBezTo>
                      <a:pt x="1888" y="163"/>
                      <a:pt x="1770" y="104"/>
                      <a:pt x="1647" y="104"/>
                    </a:cubicBezTo>
                    <a:cubicBezTo>
                      <a:pt x="1473" y="104"/>
                      <a:pt x="1314" y="222"/>
                      <a:pt x="1232" y="410"/>
                    </a:cubicBezTo>
                    <a:lnTo>
                      <a:pt x="1231" y="414"/>
                    </a:lnTo>
                    <a:cubicBezTo>
                      <a:pt x="1140" y="349"/>
                      <a:pt x="1036" y="314"/>
                      <a:pt x="931" y="314"/>
                    </a:cubicBezTo>
                    <a:cubicBezTo>
                      <a:pt x="603" y="314"/>
                      <a:pt x="337" y="641"/>
                      <a:pt x="337" y="1044"/>
                    </a:cubicBezTo>
                    <a:cubicBezTo>
                      <a:pt x="337" y="1077"/>
                      <a:pt x="339" y="1110"/>
                      <a:pt x="342" y="1143"/>
                    </a:cubicBezTo>
                    <a:lnTo>
                      <a:pt x="343" y="1142"/>
                    </a:lnTo>
                    <a:close/>
                  </a:path>
                </a:pathLst>
              </a:custGeom>
              <a:solidFill>
                <a:srgbClr val="C0C0C0"/>
              </a:solidFill>
              <a:ln w="0">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44" name="Freeform 23"/>
              <p:cNvSpPr>
                <a:spLocks/>
              </p:cNvSpPr>
              <p:nvPr/>
            </p:nvSpPr>
            <p:spPr bwMode="auto">
              <a:xfrm>
                <a:off x="4554" y="2181"/>
                <a:ext cx="910" cy="825"/>
              </a:xfrm>
              <a:custGeom>
                <a:avLst/>
                <a:gdLst>
                  <a:gd name="T0" fmla="*/ 0 w 3800"/>
                  <a:gd name="T1" fmla="*/ 0 h 3433"/>
                  <a:gd name="T2" fmla="*/ 0 w 3800"/>
                  <a:gd name="T3" fmla="*/ 0 h 3433"/>
                  <a:gd name="T4" fmla="*/ 0 w 3800"/>
                  <a:gd name="T5" fmla="*/ 0 h 3433"/>
                  <a:gd name="T6" fmla="*/ 0 w 3800"/>
                  <a:gd name="T7" fmla="*/ 0 h 3433"/>
                  <a:gd name="T8" fmla="*/ 0 w 3800"/>
                  <a:gd name="T9" fmla="*/ 0 h 3433"/>
                  <a:gd name="T10" fmla="*/ 0 w 3800"/>
                  <a:gd name="T11" fmla="*/ 0 h 3433"/>
                  <a:gd name="T12" fmla="*/ 0 w 3800"/>
                  <a:gd name="T13" fmla="*/ 0 h 3433"/>
                  <a:gd name="T14" fmla="*/ 0 w 3800"/>
                  <a:gd name="T15" fmla="*/ 0 h 3433"/>
                  <a:gd name="T16" fmla="*/ 0 w 3800"/>
                  <a:gd name="T17" fmla="*/ 0 h 3433"/>
                  <a:gd name="T18" fmla="*/ 0 w 3800"/>
                  <a:gd name="T19" fmla="*/ 0 h 3433"/>
                  <a:gd name="T20" fmla="*/ 0 w 3800"/>
                  <a:gd name="T21" fmla="*/ 0 h 3433"/>
                  <a:gd name="T22" fmla="*/ 0 w 3800"/>
                  <a:gd name="T23" fmla="*/ 0 h 3433"/>
                  <a:gd name="T24" fmla="*/ 0 w 3800"/>
                  <a:gd name="T25" fmla="*/ 0 h 3433"/>
                  <a:gd name="T26" fmla="*/ 0 w 3800"/>
                  <a:gd name="T27" fmla="*/ 0 h 3433"/>
                  <a:gd name="T28" fmla="*/ 0 w 3800"/>
                  <a:gd name="T29" fmla="*/ 0 h 3433"/>
                  <a:gd name="T30" fmla="*/ 0 w 3800"/>
                  <a:gd name="T31" fmla="*/ 0 h 3433"/>
                  <a:gd name="T32" fmla="*/ 0 w 3800"/>
                  <a:gd name="T33" fmla="*/ 0 h 3433"/>
                  <a:gd name="T34" fmla="*/ 0 w 3800"/>
                  <a:gd name="T35" fmla="*/ 0 h 3433"/>
                  <a:gd name="T36" fmla="*/ 0 w 3800"/>
                  <a:gd name="T37" fmla="*/ 0 h 3433"/>
                  <a:gd name="T38" fmla="*/ 0 w 3800"/>
                  <a:gd name="T39" fmla="*/ 0 h 3433"/>
                  <a:gd name="T40" fmla="*/ 0 w 3800"/>
                  <a:gd name="T41" fmla="*/ 0 h 3433"/>
                  <a:gd name="T42" fmla="*/ 0 w 3800"/>
                  <a:gd name="T43" fmla="*/ 0 h 3433"/>
                  <a:gd name="T44" fmla="*/ 0 w 3800"/>
                  <a:gd name="T45" fmla="*/ 0 h 3433"/>
                  <a:gd name="T46" fmla="*/ 0 w 3800"/>
                  <a:gd name="T47" fmla="*/ 0 h 3433"/>
                  <a:gd name="T48" fmla="*/ 0 w 3800"/>
                  <a:gd name="T49" fmla="*/ 0 h 3433"/>
                  <a:gd name="T50" fmla="*/ 0 w 3800"/>
                  <a:gd name="T51" fmla="*/ 0 h 3433"/>
                  <a:gd name="T52" fmla="*/ 0 w 3800"/>
                  <a:gd name="T53" fmla="*/ 0 h 3433"/>
                  <a:gd name="T54" fmla="*/ 0 w 3800"/>
                  <a:gd name="T55" fmla="*/ 0 h 3433"/>
                  <a:gd name="T56" fmla="*/ 0 w 3800"/>
                  <a:gd name="T57" fmla="*/ 0 h 3433"/>
                  <a:gd name="T58" fmla="*/ 0 w 3800"/>
                  <a:gd name="T59" fmla="*/ 0 h 3433"/>
                  <a:gd name="T60" fmla="*/ 0 w 3800"/>
                  <a:gd name="T61" fmla="*/ 0 h 3433"/>
                  <a:gd name="T62" fmla="*/ 0 w 3800"/>
                  <a:gd name="T63" fmla="*/ 0 h 3433"/>
                  <a:gd name="T64" fmla="*/ 0 w 3800"/>
                  <a:gd name="T65" fmla="*/ 0 h 3433"/>
                  <a:gd name="T66" fmla="*/ 0 w 3800"/>
                  <a:gd name="T67" fmla="*/ 0 h 3433"/>
                  <a:gd name="T68" fmla="*/ 0 w 3800"/>
                  <a:gd name="T69" fmla="*/ 0 h 3433"/>
                  <a:gd name="T70" fmla="*/ 0 w 3800"/>
                  <a:gd name="T71" fmla="*/ 0 h 343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800"/>
                  <a:gd name="T109" fmla="*/ 0 h 3433"/>
                  <a:gd name="T110" fmla="*/ 3800 w 3800"/>
                  <a:gd name="T111" fmla="*/ 3433 h 343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800" h="3433">
                    <a:moveTo>
                      <a:pt x="343" y="1142"/>
                    </a:moveTo>
                    <a:cubicBezTo>
                      <a:pt x="148" y="1167"/>
                      <a:pt x="0" y="1370"/>
                      <a:pt x="0" y="1612"/>
                    </a:cubicBezTo>
                    <a:cubicBezTo>
                      <a:pt x="0" y="1780"/>
                      <a:pt x="72" y="1935"/>
                      <a:pt x="189" y="2020"/>
                    </a:cubicBezTo>
                    <a:lnTo>
                      <a:pt x="187" y="2014"/>
                    </a:lnTo>
                    <a:cubicBezTo>
                      <a:pt x="121" y="2101"/>
                      <a:pt x="84" y="2216"/>
                      <a:pt x="84" y="2336"/>
                    </a:cubicBezTo>
                    <a:cubicBezTo>
                      <a:pt x="84" y="2596"/>
                      <a:pt x="256" y="2806"/>
                      <a:pt x="468" y="2806"/>
                    </a:cubicBezTo>
                    <a:cubicBezTo>
                      <a:pt x="482" y="2806"/>
                      <a:pt x="497" y="2805"/>
                      <a:pt x="512" y="2803"/>
                    </a:cubicBezTo>
                    <a:lnTo>
                      <a:pt x="510" y="2806"/>
                    </a:lnTo>
                    <a:cubicBezTo>
                      <a:pt x="631" y="3066"/>
                      <a:pt x="856" y="3227"/>
                      <a:pt x="1099" y="3227"/>
                    </a:cubicBezTo>
                    <a:cubicBezTo>
                      <a:pt x="1223" y="3227"/>
                      <a:pt x="1344" y="3186"/>
                      <a:pt x="1449" y="3107"/>
                    </a:cubicBezTo>
                    <a:lnTo>
                      <a:pt x="1448" y="3108"/>
                    </a:lnTo>
                    <a:cubicBezTo>
                      <a:pt x="1558" y="3311"/>
                      <a:pt x="1744" y="3433"/>
                      <a:pt x="1942" y="3433"/>
                    </a:cubicBezTo>
                    <a:cubicBezTo>
                      <a:pt x="2204" y="3433"/>
                      <a:pt x="2435" y="3222"/>
                      <a:pt x="2510" y="2913"/>
                    </a:cubicBezTo>
                    <a:lnTo>
                      <a:pt x="2511" y="2917"/>
                    </a:lnTo>
                    <a:cubicBezTo>
                      <a:pt x="2592" y="2979"/>
                      <a:pt x="2685" y="3012"/>
                      <a:pt x="2780" y="3012"/>
                    </a:cubicBezTo>
                    <a:cubicBezTo>
                      <a:pt x="3060" y="3012"/>
                      <a:pt x="3287" y="2735"/>
                      <a:pt x="3289" y="2392"/>
                    </a:cubicBezTo>
                    <a:lnTo>
                      <a:pt x="3288" y="2390"/>
                    </a:lnTo>
                    <a:cubicBezTo>
                      <a:pt x="3582" y="2339"/>
                      <a:pt x="3800" y="2030"/>
                      <a:pt x="3800" y="1665"/>
                    </a:cubicBezTo>
                    <a:cubicBezTo>
                      <a:pt x="3800" y="1504"/>
                      <a:pt x="3756" y="1347"/>
                      <a:pt x="3677" y="1219"/>
                    </a:cubicBezTo>
                    <a:lnTo>
                      <a:pt x="3675" y="1218"/>
                    </a:lnTo>
                    <a:cubicBezTo>
                      <a:pt x="3700" y="1146"/>
                      <a:pt x="3713" y="1069"/>
                      <a:pt x="3713" y="991"/>
                    </a:cubicBezTo>
                    <a:cubicBezTo>
                      <a:pt x="3713" y="730"/>
                      <a:pt x="3572" y="501"/>
                      <a:pt x="3368" y="433"/>
                    </a:cubicBezTo>
                    <a:lnTo>
                      <a:pt x="3369" y="432"/>
                    </a:lnTo>
                    <a:cubicBezTo>
                      <a:pt x="3333" y="182"/>
                      <a:pt x="3155" y="1"/>
                      <a:pt x="2949" y="1"/>
                    </a:cubicBezTo>
                    <a:cubicBezTo>
                      <a:pt x="2823" y="0"/>
                      <a:pt x="2704" y="68"/>
                      <a:pt x="2623" y="186"/>
                    </a:cubicBezTo>
                    <a:lnTo>
                      <a:pt x="2623" y="187"/>
                    </a:lnTo>
                    <a:cubicBezTo>
                      <a:pt x="2551" y="69"/>
                      <a:pt x="2438" y="1"/>
                      <a:pt x="2318" y="1"/>
                    </a:cubicBezTo>
                    <a:cubicBezTo>
                      <a:pt x="2173" y="0"/>
                      <a:pt x="2039" y="102"/>
                      <a:pt x="1975" y="262"/>
                    </a:cubicBezTo>
                    <a:lnTo>
                      <a:pt x="1976" y="270"/>
                    </a:lnTo>
                    <a:cubicBezTo>
                      <a:pt x="1888" y="163"/>
                      <a:pt x="1770" y="104"/>
                      <a:pt x="1647" y="104"/>
                    </a:cubicBezTo>
                    <a:cubicBezTo>
                      <a:pt x="1473" y="104"/>
                      <a:pt x="1314" y="222"/>
                      <a:pt x="1232" y="410"/>
                    </a:cubicBezTo>
                    <a:lnTo>
                      <a:pt x="1231" y="414"/>
                    </a:lnTo>
                    <a:cubicBezTo>
                      <a:pt x="1140" y="349"/>
                      <a:pt x="1036" y="314"/>
                      <a:pt x="931" y="314"/>
                    </a:cubicBezTo>
                    <a:cubicBezTo>
                      <a:pt x="603" y="314"/>
                      <a:pt x="337" y="641"/>
                      <a:pt x="337" y="1044"/>
                    </a:cubicBezTo>
                    <a:cubicBezTo>
                      <a:pt x="337" y="1077"/>
                      <a:pt x="339" y="1110"/>
                      <a:pt x="342" y="1143"/>
                    </a:cubicBezTo>
                    <a:lnTo>
                      <a:pt x="343" y="1142"/>
                    </a:lnTo>
                    <a:close/>
                  </a:path>
                </a:pathLst>
              </a:custGeom>
              <a:solidFill>
                <a:srgbClr val="FFFFFF"/>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45" name="Freeform 24"/>
              <p:cNvSpPr>
                <a:spLocks/>
              </p:cNvSpPr>
              <p:nvPr/>
            </p:nvSpPr>
            <p:spPr bwMode="auto">
              <a:xfrm>
                <a:off x="4599" y="2667"/>
                <a:ext cx="54" cy="15"/>
              </a:xfrm>
              <a:custGeom>
                <a:avLst/>
                <a:gdLst>
                  <a:gd name="T0" fmla="*/ 0 w 54"/>
                  <a:gd name="T1" fmla="*/ 0 h 15"/>
                  <a:gd name="T2" fmla="*/ 47 w 54"/>
                  <a:gd name="T3" fmla="*/ 15 h 15"/>
                  <a:gd name="T4" fmla="*/ 54 w 54"/>
                  <a:gd name="T5" fmla="*/ 15 h 15"/>
                  <a:gd name="T6" fmla="*/ 0 60000 65536"/>
                  <a:gd name="T7" fmla="*/ 0 60000 65536"/>
                  <a:gd name="T8" fmla="*/ 0 60000 65536"/>
                  <a:gd name="T9" fmla="*/ 0 w 54"/>
                  <a:gd name="T10" fmla="*/ 0 h 15"/>
                  <a:gd name="T11" fmla="*/ 54 w 54"/>
                  <a:gd name="T12" fmla="*/ 15 h 15"/>
                </a:gdLst>
                <a:ahLst/>
                <a:cxnLst>
                  <a:cxn ang="T6">
                    <a:pos x="T0" y="T1"/>
                  </a:cxn>
                  <a:cxn ang="T7">
                    <a:pos x="T2" y="T3"/>
                  </a:cxn>
                  <a:cxn ang="T8">
                    <a:pos x="T4" y="T5"/>
                  </a:cxn>
                </a:cxnLst>
                <a:rect l="T9" t="T10" r="T11" b="T12"/>
                <a:pathLst>
                  <a:path w="54" h="15">
                    <a:moveTo>
                      <a:pt x="0" y="0"/>
                    </a:moveTo>
                    <a:cubicBezTo>
                      <a:pt x="14" y="10"/>
                      <a:pt x="30" y="15"/>
                      <a:pt x="47" y="15"/>
                    </a:cubicBezTo>
                    <a:cubicBezTo>
                      <a:pt x="49" y="15"/>
                      <a:pt x="51" y="15"/>
                      <a:pt x="54" y="15"/>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46" name="Freeform 25"/>
              <p:cNvSpPr>
                <a:spLocks/>
              </p:cNvSpPr>
              <p:nvPr/>
            </p:nvSpPr>
            <p:spPr bwMode="auto">
              <a:xfrm>
                <a:off x="4676" y="2847"/>
                <a:ext cx="24" cy="8"/>
              </a:xfrm>
              <a:custGeom>
                <a:avLst/>
                <a:gdLst>
                  <a:gd name="T0" fmla="*/ 0 w 24"/>
                  <a:gd name="T1" fmla="*/ 8 h 8"/>
                  <a:gd name="T2" fmla="*/ 24 w 24"/>
                  <a:gd name="T3" fmla="*/ 0 h 8"/>
                  <a:gd name="T4" fmla="*/ 0 60000 65536"/>
                  <a:gd name="T5" fmla="*/ 0 60000 65536"/>
                  <a:gd name="T6" fmla="*/ 0 w 24"/>
                  <a:gd name="T7" fmla="*/ 0 h 8"/>
                  <a:gd name="T8" fmla="*/ 24 w 24"/>
                  <a:gd name="T9" fmla="*/ 8 h 8"/>
                </a:gdLst>
                <a:ahLst/>
                <a:cxnLst>
                  <a:cxn ang="T4">
                    <a:pos x="T0" y="T1"/>
                  </a:cxn>
                  <a:cxn ang="T5">
                    <a:pos x="T2" y="T3"/>
                  </a:cxn>
                </a:cxnLst>
                <a:rect l="T6" t="T7" r="T8" b="T9"/>
                <a:pathLst>
                  <a:path w="24" h="8">
                    <a:moveTo>
                      <a:pt x="0" y="8"/>
                    </a:moveTo>
                    <a:cubicBezTo>
                      <a:pt x="9" y="6"/>
                      <a:pt x="16" y="4"/>
                      <a:pt x="24"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47" name="Freeform 26"/>
              <p:cNvSpPr>
                <a:spLocks/>
              </p:cNvSpPr>
              <p:nvPr/>
            </p:nvSpPr>
            <p:spPr bwMode="auto">
              <a:xfrm>
                <a:off x="4887" y="2895"/>
                <a:ext cx="14" cy="33"/>
              </a:xfrm>
              <a:custGeom>
                <a:avLst/>
                <a:gdLst>
                  <a:gd name="T0" fmla="*/ 0 w 14"/>
                  <a:gd name="T1" fmla="*/ 0 h 33"/>
                  <a:gd name="T2" fmla="*/ 14 w 14"/>
                  <a:gd name="T3" fmla="*/ 33 h 33"/>
                  <a:gd name="T4" fmla="*/ 0 60000 65536"/>
                  <a:gd name="T5" fmla="*/ 0 60000 65536"/>
                  <a:gd name="T6" fmla="*/ 0 w 14"/>
                  <a:gd name="T7" fmla="*/ 0 h 33"/>
                  <a:gd name="T8" fmla="*/ 14 w 14"/>
                  <a:gd name="T9" fmla="*/ 33 h 33"/>
                </a:gdLst>
                <a:ahLst/>
                <a:cxnLst>
                  <a:cxn ang="T4">
                    <a:pos x="T0" y="T1"/>
                  </a:cxn>
                  <a:cxn ang="T5">
                    <a:pos x="T2" y="T3"/>
                  </a:cxn>
                </a:cxnLst>
                <a:rect l="T6" t="T7" r="T8" b="T9"/>
                <a:pathLst>
                  <a:path w="14" h="33">
                    <a:moveTo>
                      <a:pt x="0" y="0"/>
                    </a:moveTo>
                    <a:cubicBezTo>
                      <a:pt x="3" y="11"/>
                      <a:pt x="8" y="23"/>
                      <a:pt x="14" y="33"/>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48" name="Freeform 27"/>
              <p:cNvSpPr>
                <a:spLocks/>
              </p:cNvSpPr>
              <p:nvPr/>
            </p:nvSpPr>
            <p:spPr bwMode="auto">
              <a:xfrm>
                <a:off x="5155" y="2845"/>
                <a:ext cx="6" cy="36"/>
              </a:xfrm>
              <a:custGeom>
                <a:avLst/>
                <a:gdLst>
                  <a:gd name="T0" fmla="*/ 0 w 6"/>
                  <a:gd name="T1" fmla="*/ 36 h 36"/>
                  <a:gd name="T2" fmla="*/ 6 w 6"/>
                  <a:gd name="T3" fmla="*/ 0 h 36"/>
                  <a:gd name="T4" fmla="*/ 0 60000 65536"/>
                  <a:gd name="T5" fmla="*/ 0 60000 65536"/>
                  <a:gd name="T6" fmla="*/ 0 w 6"/>
                  <a:gd name="T7" fmla="*/ 0 h 36"/>
                  <a:gd name="T8" fmla="*/ 6 w 6"/>
                  <a:gd name="T9" fmla="*/ 36 h 36"/>
                </a:gdLst>
                <a:ahLst/>
                <a:cxnLst>
                  <a:cxn ang="T4">
                    <a:pos x="T0" y="T1"/>
                  </a:cxn>
                  <a:cxn ang="T5">
                    <a:pos x="T2" y="T3"/>
                  </a:cxn>
                </a:cxnLst>
                <a:rect l="T6" t="T7" r="T8" b="T9"/>
                <a:pathLst>
                  <a:path w="6" h="36">
                    <a:moveTo>
                      <a:pt x="0" y="36"/>
                    </a:moveTo>
                    <a:cubicBezTo>
                      <a:pt x="3" y="24"/>
                      <a:pt x="5" y="12"/>
                      <a:pt x="6"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49" name="Freeform 28"/>
              <p:cNvSpPr>
                <a:spLocks/>
              </p:cNvSpPr>
              <p:nvPr/>
            </p:nvSpPr>
            <p:spPr bwMode="auto">
              <a:xfrm>
                <a:off x="5273" y="2620"/>
                <a:ext cx="69" cy="136"/>
              </a:xfrm>
              <a:custGeom>
                <a:avLst/>
                <a:gdLst>
                  <a:gd name="T0" fmla="*/ 69 w 69"/>
                  <a:gd name="T1" fmla="*/ 136 h 136"/>
                  <a:gd name="T2" fmla="*/ 69 w 69"/>
                  <a:gd name="T3" fmla="*/ 135 h 136"/>
                  <a:gd name="T4" fmla="*/ 0 w 69"/>
                  <a:gd name="T5" fmla="*/ 0 h 136"/>
                  <a:gd name="T6" fmla="*/ 0 60000 65536"/>
                  <a:gd name="T7" fmla="*/ 0 60000 65536"/>
                  <a:gd name="T8" fmla="*/ 0 60000 65536"/>
                  <a:gd name="T9" fmla="*/ 0 w 69"/>
                  <a:gd name="T10" fmla="*/ 0 h 136"/>
                  <a:gd name="T11" fmla="*/ 69 w 69"/>
                  <a:gd name="T12" fmla="*/ 136 h 136"/>
                </a:gdLst>
                <a:ahLst/>
                <a:cxnLst>
                  <a:cxn ang="T6">
                    <a:pos x="T0" y="T1"/>
                  </a:cxn>
                  <a:cxn ang="T7">
                    <a:pos x="T2" y="T3"/>
                  </a:cxn>
                  <a:cxn ang="T8">
                    <a:pos x="T4" y="T5"/>
                  </a:cxn>
                </a:cxnLst>
                <a:rect l="T9" t="T10" r="T11" b="T12"/>
                <a:pathLst>
                  <a:path w="69" h="136">
                    <a:moveTo>
                      <a:pt x="69" y="136"/>
                    </a:moveTo>
                    <a:cubicBezTo>
                      <a:pt x="69" y="135"/>
                      <a:pt x="69" y="135"/>
                      <a:pt x="69" y="135"/>
                    </a:cubicBezTo>
                    <a:cubicBezTo>
                      <a:pt x="69" y="77"/>
                      <a:pt x="42" y="25"/>
                      <a:pt x="0"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50" name="Freeform 29"/>
              <p:cNvSpPr>
                <a:spLocks/>
              </p:cNvSpPr>
              <p:nvPr/>
            </p:nvSpPr>
            <p:spPr bwMode="auto">
              <a:xfrm>
                <a:off x="5404" y="2474"/>
                <a:ext cx="30" cy="51"/>
              </a:xfrm>
              <a:custGeom>
                <a:avLst/>
                <a:gdLst>
                  <a:gd name="T0" fmla="*/ 0 w 30"/>
                  <a:gd name="T1" fmla="*/ 51 h 51"/>
                  <a:gd name="T2" fmla="*/ 30 w 30"/>
                  <a:gd name="T3" fmla="*/ 0 h 51"/>
                  <a:gd name="T4" fmla="*/ 0 60000 65536"/>
                  <a:gd name="T5" fmla="*/ 0 60000 65536"/>
                  <a:gd name="T6" fmla="*/ 0 w 30"/>
                  <a:gd name="T7" fmla="*/ 0 h 51"/>
                  <a:gd name="T8" fmla="*/ 30 w 30"/>
                  <a:gd name="T9" fmla="*/ 51 h 51"/>
                </a:gdLst>
                <a:ahLst/>
                <a:cxnLst>
                  <a:cxn ang="T4">
                    <a:pos x="T0" y="T1"/>
                  </a:cxn>
                  <a:cxn ang="T5">
                    <a:pos x="T2" y="T3"/>
                  </a:cxn>
                </a:cxnLst>
                <a:rect l="T6" t="T7" r="T8" b="T9"/>
                <a:pathLst>
                  <a:path w="30" h="51">
                    <a:moveTo>
                      <a:pt x="0" y="51"/>
                    </a:moveTo>
                    <a:cubicBezTo>
                      <a:pt x="13" y="37"/>
                      <a:pt x="23" y="20"/>
                      <a:pt x="30"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51" name="Freeform 30"/>
              <p:cNvSpPr>
                <a:spLocks/>
              </p:cNvSpPr>
              <p:nvPr/>
            </p:nvSpPr>
            <p:spPr bwMode="auto">
              <a:xfrm>
                <a:off x="5361" y="2285"/>
                <a:ext cx="2" cy="24"/>
              </a:xfrm>
              <a:custGeom>
                <a:avLst/>
                <a:gdLst>
                  <a:gd name="T0" fmla="*/ 2 w 2"/>
                  <a:gd name="T1" fmla="*/ 24 h 24"/>
                  <a:gd name="T2" fmla="*/ 2 w 2"/>
                  <a:gd name="T3" fmla="*/ 23 h 24"/>
                  <a:gd name="T4" fmla="*/ 0 w 2"/>
                  <a:gd name="T5" fmla="*/ 0 h 24"/>
                  <a:gd name="T6" fmla="*/ 0 60000 65536"/>
                  <a:gd name="T7" fmla="*/ 0 60000 65536"/>
                  <a:gd name="T8" fmla="*/ 0 60000 65536"/>
                  <a:gd name="T9" fmla="*/ 0 w 2"/>
                  <a:gd name="T10" fmla="*/ 0 h 24"/>
                  <a:gd name="T11" fmla="*/ 2 w 2"/>
                  <a:gd name="T12" fmla="*/ 24 h 24"/>
                </a:gdLst>
                <a:ahLst/>
                <a:cxnLst>
                  <a:cxn ang="T6">
                    <a:pos x="T0" y="T1"/>
                  </a:cxn>
                  <a:cxn ang="T7">
                    <a:pos x="T2" y="T3"/>
                  </a:cxn>
                  <a:cxn ang="T8">
                    <a:pos x="T4" y="T5"/>
                  </a:cxn>
                </a:cxnLst>
                <a:rect l="T9" t="T10" r="T11" b="T12"/>
                <a:pathLst>
                  <a:path w="2" h="24">
                    <a:moveTo>
                      <a:pt x="2" y="24"/>
                    </a:moveTo>
                    <a:cubicBezTo>
                      <a:pt x="2" y="24"/>
                      <a:pt x="2" y="23"/>
                      <a:pt x="2" y="23"/>
                    </a:cubicBezTo>
                    <a:cubicBezTo>
                      <a:pt x="2" y="15"/>
                      <a:pt x="1" y="7"/>
                      <a:pt x="0"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52" name="Freeform 31"/>
              <p:cNvSpPr>
                <a:spLocks/>
              </p:cNvSpPr>
              <p:nvPr/>
            </p:nvSpPr>
            <p:spPr bwMode="auto">
              <a:xfrm>
                <a:off x="5167" y="2226"/>
                <a:ext cx="15" cy="31"/>
              </a:xfrm>
              <a:custGeom>
                <a:avLst/>
                <a:gdLst>
                  <a:gd name="T0" fmla="*/ 15 w 15"/>
                  <a:gd name="T1" fmla="*/ 0 h 31"/>
                  <a:gd name="T2" fmla="*/ 0 w 15"/>
                  <a:gd name="T3" fmla="*/ 31 h 31"/>
                  <a:gd name="T4" fmla="*/ 0 60000 65536"/>
                  <a:gd name="T5" fmla="*/ 0 60000 65536"/>
                  <a:gd name="T6" fmla="*/ 0 w 15"/>
                  <a:gd name="T7" fmla="*/ 0 h 31"/>
                  <a:gd name="T8" fmla="*/ 15 w 15"/>
                  <a:gd name="T9" fmla="*/ 31 h 31"/>
                </a:gdLst>
                <a:ahLst/>
                <a:cxnLst>
                  <a:cxn ang="T4">
                    <a:pos x="T0" y="T1"/>
                  </a:cxn>
                  <a:cxn ang="T5">
                    <a:pos x="T2" y="T3"/>
                  </a:cxn>
                </a:cxnLst>
                <a:rect l="T6" t="T7" r="T8" b="T9"/>
                <a:pathLst>
                  <a:path w="15" h="31">
                    <a:moveTo>
                      <a:pt x="15" y="0"/>
                    </a:moveTo>
                    <a:cubicBezTo>
                      <a:pt x="9" y="9"/>
                      <a:pt x="3" y="20"/>
                      <a:pt x="0" y="31"/>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53" name="Freeform 32"/>
              <p:cNvSpPr>
                <a:spLocks/>
              </p:cNvSpPr>
              <p:nvPr/>
            </p:nvSpPr>
            <p:spPr bwMode="auto">
              <a:xfrm>
                <a:off x="5019" y="2244"/>
                <a:ext cx="8" cy="27"/>
              </a:xfrm>
              <a:custGeom>
                <a:avLst/>
                <a:gdLst>
                  <a:gd name="T0" fmla="*/ 8 w 8"/>
                  <a:gd name="T1" fmla="*/ 0 h 27"/>
                  <a:gd name="T2" fmla="*/ 0 w 8"/>
                  <a:gd name="T3" fmla="*/ 27 h 27"/>
                  <a:gd name="T4" fmla="*/ 0 60000 65536"/>
                  <a:gd name="T5" fmla="*/ 0 60000 65536"/>
                  <a:gd name="T6" fmla="*/ 0 w 8"/>
                  <a:gd name="T7" fmla="*/ 0 h 27"/>
                  <a:gd name="T8" fmla="*/ 8 w 8"/>
                  <a:gd name="T9" fmla="*/ 27 h 27"/>
                </a:gdLst>
                <a:ahLst/>
                <a:cxnLst>
                  <a:cxn ang="T4">
                    <a:pos x="T0" y="T1"/>
                  </a:cxn>
                  <a:cxn ang="T5">
                    <a:pos x="T2" y="T3"/>
                  </a:cxn>
                </a:cxnLst>
                <a:rect l="T6" t="T7" r="T8" b="T9"/>
                <a:pathLst>
                  <a:path w="8" h="27">
                    <a:moveTo>
                      <a:pt x="8" y="0"/>
                    </a:moveTo>
                    <a:cubicBezTo>
                      <a:pt x="4" y="9"/>
                      <a:pt x="2" y="18"/>
                      <a:pt x="0" y="27"/>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54" name="Freeform 33"/>
              <p:cNvSpPr>
                <a:spLocks/>
              </p:cNvSpPr>
              <p:nvPr/>
            </p:nvSpPr>
            <p:spPr bwMode="auto">
              <a:xfrm>
                <a:off x="4849" y="2281"/>
                <a:ext cx="27" cy="26"/>
              </a:xfrm>
              <a:custGeom>
                <a:avLst/>
                <a:gdLst>
                  <a:gd name="T0" fmla="*/ 27 w 27"/>
                  <a:gd name="T1" fmla="*/ 26 h 26"/>
                  <a:gd name="T2" fmla="*/ 0 w 27"/>
                  <a:gd name="T3" fmla="*/ 0 h 26"/>
                  <a:gd name="T4" fmla="*/ 0 60000 65536"/>
                  <a:gd name="T5" fmla="*/ 0 60000 65536"/>
                  <a:gd name="T6" fmla="*/ 0 w 27"/>
                  <a:gd name="T7" fmla="*/ 0 h 26"/>
                  <a:gd name="T8" fmla="*/ 27 w 27"/>
                  <a:gd name="T9" fmla="*/ 26 h 26"/>
                </a:gdLst>
                <a:ahLst/>
                <a:cxnLst>
                  <a:cxn ang="T4">
                    <a:pos x="T0" y="T1"/>
                  </a:cxn>
                  <a:cxn ang="T5">
                    <a:pos x="T2" y="T3"/>
                  </a:cxn>
                </a:cxnLst>
                <a:rect l="T6" t="T7" r="T8" b="T9"/>
                <a:pathLst>
                  <a:path w="27" h="26">
                    <a:moveTo>
                      <a:pt x="27" y="26"/>
                    </a:moveTo>
                    <a:cubicBezTo>
                      <a:pt x="19" y="16"/>
                      <a:pt x="10" y="7"/>
                      <a:pt x="0"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55" name="Freeform 34"/>
              <p:cNvSpPr>
                <a:spLocks/>
              </p:cNvSpPr>
              <p:nvPr/>
            </p:nvSpPr>
            <p:spPr bwMode="auto">
              <a:xfrm>
                <a:off x="4636" y="2456"/>
                <a:ext cx="5" cy="27"/>
              </a:xfrm>
              <a:custGeom>
                <a:avLst/>
                <a:gdLst>
                  <a:gd name="T0" fmla="*/ 0 w 5"/>
                  <a:gd name="T1" fmla="*/ 0 h 27"/>
                  <a:gd name="T2" fmla="*/ 5 w 5"/>
                  <a:gd name="T3" fmla="*/ 27 h 27"/>
                  <a:gd name="T4" fmla="*/ 0 60000 65536"/>
                  <a:gd name="T5" fmla="*/ 0 60000 65536"/>
                  <a:gd name="T6" fmla="*/ 0 w 5"/>
                  <a:gd name="T7" fmla="*/ 0 h 27"/>
                  <a:gd name="T8" fmla="*/ 5 w 5"/>
                  <a:gd name="T9" fmla="*/ 27 h 27"/>
                </a:gdLst>
                <a:ahLst/>
                <a:cxnLst>
                  <a:cxn ang="T4">
                    <a:pos x="T0" y="T1"/>
                  </a:cxn>
                  <a:cxn ang="T5">
                    <a:pos x="T2" y="T3"/>
                  </a:cxn>
                </a:cxnLst>
                <a:rect l="T6" t="T7" r="T8" b="T9"/>
                <a:pathLst>
                  <a:path w="5" h="27">
                    <a:moveTo>
                      <a:pt x="0" y="0"/>
                    </a:moveTo>
                    <a:cubicBezTo>
                      <a:pt x="1" y="9"/>
                      <a:pt x="2" y="18"/>
                      <a:pt x="5" y="27"/>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grpSp>
        <p:sp>
          <p:nvSpPr>
            <p:cNvPr id="38" name="Text Box 36"/>
            <p:cNvSpPr txBox="1">
              <a:spLocks noChangeArrowheads="1"/>
            </p:cNvSpPr>
            <p:nvPr/>
          </p:nvSpPr>
          <p:spPr bwMode="auto">
            <a:xfrm>
              <a:off x="144" y="1218"/>
              <a:ext cx="1584" cy="372"/>
            </a:xfrm>
            <a:prstGeom prst="rect">
              <a:avLst/>
            </a:prstGeom>
            <a:solidFill>
              <a:srgbClr val="FF0000"/>
            </a:solidFill>
            <a:ln w="9525" algn="ctr">
              <a:solidFill>
                <a:srgbClr val="000000"/>
              </a:solidFill>
              <a:miter lim="800000"/>
              <a:headEnd/>
              <a:tailEnd/>
            </a:ln>
          </p:spPr>
          <p:txBody>
            <a:bodyPr lIns="91380" tIns="45692" rIns="91380" bIns="45692">
              <a:spAutoFit/>
            </a:bodyPr>
            <a:lstStyle>
              <a:lvl1pPr eaLnBrk="0" hangingPunct="0">
                <a:defRPr sz="1200">
                  <a:solidFill>
                    <a:schemeClr val="tx1"/>
                  </a:solidFill>
                  <a:latin typeface="Verdana" panose="020B0604030504040204" pitchFamily="34" charset="0"/>
                  <a:ea typeface="SimSun" panose="02010600030101010101" pitchFamily="2" charset="-122"/>
                </a:defRPr>
              </a:lvl1pPr>
              <a:lvl2pPr marL="742950" indent="-285750" eaLnBrk="0" hangingPunct="0">
                <a:defRPr sz="1200">
                  <a:solidFill>
                    <a:schemeClr val="tx1"/>
                  </a:solidFill>
                  <a:latin typeface="Verdana" panose="020B0604030504040204" pitchFamily="34" charset="0"/>
                  <a:ea typeface="SimSun" panose="02010600030101010101" pitchFamily="2" charset="-122"/>
                </a:defRPr>
              </a:lvl2pPr>
              <a:lvl3pPr marL="1143000" indent="-228600" eaLnBrk="0" hangingPunct="0">
                <a:defRPr sz="1200">
                  <a:solidFill>
                    <a:schemeClr val="tx1"/>
                  </a:solidFill>
                  <a:latin typeface="Verdana" panose="020B0604030504040204" pitchFamily="34" charset="0"/>
                  <a:ea typeface="SimSun" panose="02010600030101010101" pitchFamily="2" charset="-122"/>
                </a:defRPr>
              </a:lvl3pPr>
              <a:lvl4pPr marL="1600200" indent="-228600" eaLnBrk="0" hangingPunct="0">
                <a:defRPr sz="1200">
                  <a:solidFill>
                    <a:schemeClr val="tx1"/>
                  </a:solidFill>
                  <a:latin typeface="Verdana" panose="020B0604030504040204" pitchFamily="34" charset="0"/>
                  <a:ea typeface="SimSun" panose="02010600030101010101" pitchFamily="2" charset="-122"/>
                </a:defRPr>
              </a:lvl4pPr>
              <a:lvl5pPr marL="2057400" indent="-228600" eaLnBrk="0" hangingPunct="0">
                <a:defRPr sz="1200">
                  <a:solidFill>
                    <a:schemeClr val="tx1"/>
                  </a:solidFill>
                  <a:latin typeface="Verdan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AU" altLang="en-US" sz="1600" b="1" i="0" u="none" strike="noStrike" kern="0" cap="none" spc="0" normalizeH="0" baseline="0" noProof="0">
                  <a:ln>
                    <a:noFill/>
                  </a:ln>
                  <a:solidFill>
                    <a:srgbClr val="FFFFFF"/>
                  </a:solidFill>
                  <a:effectLst/>
                  <a:uLnTx/>
                  <a:uFillTx/>
                  <a:latin typeface="Arial" panose="020B0604020202020204" pitchFamily="34" charset="0"/>
                  <a:ea typeface="SimSun" panose="02010600030101010101" pitchFamily="2" charset="-122"/>
                  <a:cs typeface="Tahoma"/>
                </a:rPr>
                <a:t> </a:t>
              </a:r>
              <a:r>
                <a:rPr kumimoji="0" lang="en-AU" altLang="en-US" sz="16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Public/Internet Clouds</a:t>
              </a:r>
              <a:endParaRPr kumimoji="0" lang="en-US" altLang="en-US" sz="16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endParaRPr>
            </a:p>
          </p:txBody>
        </p:sp>
        <p:sp>
          <p:nvSpPr>
            <p:cNvPr id="39" name="AutoShape 59"/>
            <p:cNvSpPr>
              <a:spLocks noChangeArrowheads="1"/>
            </p:cNvSpPr>
            <p:nvPr/>
          </p:nvSpPr>
          <p:spPr bwMode="auto">
            <a:xfrm>
              <a:off x="240" y="1920"/>
              <a:ext cx="1488" cy="1104"/>
            </a:xfrm>
            <a:prstGeom prst="roundRect">
              <a:avLst>
                <a:gd name="adj" fmla="val 16667"/>
              </a:avLst>
            </a:prstGeom>
            <a:solidFill>
              <a:srgbClr val="FF0000"/>
            </a:solidFill>
            <a:ln w="9525" algn="ctr">
              <a:solidFill>
                <a:srgbClr val="000000"/>
              </a:solidFill>
              <a:round/>
              <a:headEnd/>
              <a:tailEnd/>
            </a:ln>
          </p:spPr>
          <p:txBody>
            <a:bodyPr wrap="none" lIns="91380" tIns="45692" rIns="91380" bIns="45692" anchor="ctr"/>
            <a:lstStyle>
              <a:lvl1pPr eaLnBrk="0" hangingPunct="0">
                <a:defRPr sz="1200">
                  <a:solidFill>
                    <a:schemeClr val="tx1"/>
                  </a:solidFill>
                  <a:latin typeface="Verdana" panose="020B0604030504040204" pitchFamily="34" charset="0"/>
                  <a:ea typeface="SimSun" panose="02010600030101010101" pitchFamily="2" charset="-122"/>
                </a:defRPr>
              </a:lvl1pPr>
              <a:lvl2pPr marL="742950" indent="-285750" eaLnBrk="0" hangingPunct="0">
                <a:defRPr sz="1200">
                  <a:solidFill>
                    <a:schemeClr val="tx1"/>
                  </a:solidFill>
                  <a:latin typeface="Verdana" panose="020B0604030504040204" pitchFamily="34" charset="0"/>
                  <a:ea typeface="SimSun" panose="02010600030101010101" pitchFamily="2" charset="-122"/>
                </a:defRPr>
              </a:lvl2pPr>
              <a:lvl3pPr marL="1143000" indent="-228600" eaLnBrk="0" hangingPunct="0">
                <a:defRPr sz="1200">
                  <a:solidFill>
                    <a:schemeClr val="tx1"/>
                  </a:solidFill>
                  <a:latin typeface="Verdana" panose="020B0604030504040204" pitchFamily="34" charset="0"/>
                  <a:ea typeface="SimSun" panose="02010600030101010101" pitchFamily="2" charset="-122"/>
                </a:defRPr>
              </a:lvl3pPr>
              <a:lvl4pPr marL="1600200" indent="-228600" eaLnBrk="0" hangingPunct="0">
                <a:defRPr sz="1200">
                  <a:solidFill>
                    <a:schemeClr val="tx1"/>
                  </a:solidFill>
                  <a:latin typeface="Verdana" panose="020B0604030504040204" pitchFamily="34" charset="0"/>
                  <a:ea typeface="SimSun" panose="02010600030101010101" pitchFamily="2" charset="-122"/>
                </a:defRPr>
              </a:lvl4pPr>
              <a:lvl5pPr marL="2057400" indent="-228600" eaLnBrk="0" hangingPunct="0">
                <a:defRPr sz="1200">
                  <a:solidFill>
                    <a:schemeClr val="tx1"/>
                  </a:solidFill>
                  <a:latin typeface="Verdan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3rd party, </a:t>
              </a:r>
              <a:b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multi-tenant Cloud</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infrastructure </a:t>
              </a:r>
              <a:b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&amp; services:</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 * available on </a:t>
              </a:r>
              <a:b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subscription basis</a:t>
              </a:r>
            </a:p>
          </p:txBody>
        </p:sp>
        <p:pic>
          <p:nvPicPr>
            <p:cNvPr id="40" name="Picture 6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 y="3183"/>
              <a:ext cx="1392" cy="1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grpSp>
        <p:nvGrpSpPr>
          <p:cNvPr id="56" name="Group 60"/>
          <p:cNvGrpSpPr>
            <a:grpSpLocks/>
          </p:cNvGrpSpPr>
          <p:nvPr/>
        </p:nvGrpSpPr>
        <p:grpSpPr bwMode="auto">
          <a:xfrm>
            <a:off x="7588875" y="1524000"/>
            <a:ext cx="2895600" cy="5334000"/>
            <a:chOff x="6172200" y="1524000"/>
            <a:chExt cx="2895600" cy="5334000"/>
          </a:xfrm>
        </p:grpSpPr>
        <p:pic>
          <p:nvPicPr>
            <p:cNvPr id="5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4572000"/>
              <a:ext cx="247884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8" name="Group 41"/>
            <p:cNvGrpSpPr>
              <a:grpSpLocks/>
            </p:cNvGrpSpPr>
            <p:nvPr/>
          </p:nvGrpSpPr>
          <p:grpSpPr bwMode="auto">
            <a:xfrm>
              <a:off x="6172200" y="1524000"/>
              <a:ext cx="2895600" cy="1295400"/>
              <a:chOff x="4554" y="2181"/>
              <a:chExt cx="958" cy="873"/>
            </a:xfrm>
          </p:grpSpPr>
          <p:sp>
            <p:nvSpPr>
              <p:cNvPr id="61" name="Freeform 42"/>
              <p:cNvSpPr>
                <a:spLocks/>
              </p:cNvSpPr>
              <p:nvPr/>
            </p:nvSpPr>
            <p:spPr bwMode="auto">
              <a:xfrm>
                <a:off x="4602" y="2229"/>
                <a:ext cx="910" cy="825"/>
              </a:xfrm>
              <a:custGeom>
                <a:avLst/>
                <a:gdLst>
                  <a:gd name="T0" fmla="*/ 0 w 3800"/>
                  <a:gd name="T1" fmla="*/ 0 h 3433"/>
                  <a:gd name="T2" fmla="*/ 0 w 3800"/>
                  <a:gd name="T3" fmla="*/ 0 h 3433"/>
                  <a:gd name="T4" fmla="*/ 0 w 3800"/>
                  <a:gd name="T5" fmla="*/ 0 h 3433"/>
                  <a:gd name="T6" fmla="*/ 0 w 3800"/>
                  <a:gd name="T7" fmla="*/ 0 h 3433"/>
                  <a:gd name="T8" fmla="*/ 0 w 3800"/>
                  <a:gd name="T9" fmla="*/ 0 h 3433"/>
                  <a:gd name="T10" fmla="*/ 0 w 3800"/>
                  <a:gd name="T11" fmla="*/ 0 h 3433"/>
                  <a:gd name="T12" fmla="*/ 0 w 3800"/>
                  <a:gd name="T13" fmla="*/ 0 h 3433"/>
                  <a:gd name="T14" fmla="*/ 0 w 3800"/>
                  <a:gd name="T15" fmla="*/ 0 h 3433"/>
                  <a:gd name="T16" fmla="*/ 0 w 3800"/>
                  <a:gd name="T17" fmla="*/ 0 h 3433"/>
                  <a:gd name="T18" fmla="*/ 0 w 3800"/>
                  <a:gd name="T19" fmla="*/ 0 h 3433"/>
                  <a:gd name="T20" fmla="*/ 0 w 3800"/>
                  <a:gd name="T21" fmla="*/ 0 h 3433"/>
                  <a:gd name="T22" fmla="*/ 0 w 3800"/>
                  <a:gd name="T23" fmla="*/ 0 h 3433"/>
                  <a:gd name="T24" fmla="*/ 0 w 3800"/>
                  <a:gd name="T25" fmla="*/ 0 h 3433"/>
                  <a:gd name="T26" fmla="*/ 0 w 3800"/>
                  <a:gd name="T27" fmla="*/ 0 h 3433"/>
                  <a:gd name="T28" fmla="*/ 0 w 3800"/>
                  <a:gd name="T29" fmla="*/ 0 h 3433"/>
                  <a:gd name="T30" fmla="*/ 0 w 3800"/>
                  <a:gd name="T31" fmla="*/ 0 h 3433"/>
                  <a:gd name="T32" fmla="*/ 0 w 3800"/>
                  <a:gd name="T33" fmla="*/ 0 h 3433"/>
                  <a:gd name="T34" fmla="*/ 0 w 3800"/>
                  <a:gd name="T35" fmla="*/ 0 h 3433"/>
                  <a:gd name="T36" fmla="*/ 0 w 3800"/>
                  <a:gd name="T37" fmla="*/ 0 h 3433"/>
                  <a:gd name="T38" fmla="*/ 0 w 3800"/>
                  <a:gd name="T39" fmla="*/ 0 h 3433"/>
                  <a:gd name="T40" fmla="*/ 0 w 3800"/>
                  <a:gd name="T41" fmla="*/ 0 h 3433"/>
                  <a:gd name="T42" fmla="*/ 0 w 3800"/>
                  <a:gd name="T43" fmla="*/ 0 h 3433"/>
                  <a:gd name="T44" fmla="*/ 0 w 3800"/>
                  <a:gd name="T45" fmla="*/ 0 h 3433"/>
                  <a:gd name="T46" fmla="*/ 0 w 3800"/>
                  <a:gd name="T47" fmla="*/ 0 h 3433"/>
                  <a:gd name="T48" fmla="*/ 0 w 3800"/>
                  <a:gd name="T49" fmla="*/ 0 h 3433"/>
                  <a:gd name="T50" fmla="*/ 0 w 3800"/>
                  <a:gd name="T51" fmla="*/ 0 h 3433"/>
                  <a:gd name="T52" fmla="*/ 0 w 3800"/>
                  <a:gd name="T53" fmla="*/ 0 h 3433"/>
                  <a:gd name="T54" fmla="*/ 0 w 3800"/>
                  <a:gd name="T55" fmla="*/ 0 h 3433"/>
                  <a:gd name="T56" fmla="*/ 0 w 3800"/>
                  <a:gd name="T57" fmla="*/ 0 h 3433"/>
                  <a:gd name="T58" fmla="*/ 0 w 3800"/>
                  <a:gd name="T59" fmla="*/ 0 h 3433"/>
                  <a:gd name="T60" fmla="*/ 0 w 3800"/>
                  <a:gd name="T61" fmla="*/ 0 h 3433"/>
                  <a:gd name="T62" fmla="*/ 0 w 3800"/>
                  <a:gd name="T63" fmla="*/ 0 h 3433"/>
                  <a:gd name="T64" fmla="*/ 0 w 3800"/>
                  <a:gd name="T65" fmla="*/ 0 h 3433"/>
                  <a:gd name="T66" fmla="*/ 0 w 3800"/>
                  <a:gd name="T67" fmla="*/ 0 h 3433"/>
                  <a:gd name="T68" fmla="*/ 0 w 3800"/>
                  <a:gd name="T69" fmla="*/ 0 h 3433"/>
                  <a:gd name="T70" fmla="*/ 0 w 3800"/>
                  <a:gd name="T71" fmla="*/ 0 h 343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800"/>
                  <a:gd name="T109" fmla="*/ 0 h 3433"/>
                  <a:gd name="T110" fmla="*/ 3800 w 3800"/>
                  <a:gd name="T111" fmla="*/ 3433 h 343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800" h="3433">
                    <a:moveTo>
                      <a:pt x="343" y="1142"/>
                    </a:moveTo>
                    <a:cubicBezTo>
                      <a:pt x="148" y="1167"/>
                      <a:pt x="0" y="1370"/>
                      <a:pt x="0" y="1612"/>
                    </a:cubicBezTo>
                    <a:cubicBezTo>
                      <a:pt x="0" y="1780"/>
                      <a:pt x="72" y="1935"/>
                      <a:pt x="189" y="2020"/>
                    </a:cubicBezTo>
                    <a:lnTo>
                      <a:pt x="187" y="2014"/>
                    </a:lnTo>
                    <a:cubicBezTo>
                      <a:pt x="121" y="2101"/>
                      <a:pt x="84" y="2216"/>
                      <a:pt x="84" y="2336"/>
                    </a:cubicBezTo>
                    <a:cubicBezTo>
                      <a:pt x="84" y="2596"/>
                      <a:pt x="256" y="2806"/>
                      <a:pt x="468" y="2806"/>
                    </a:cubicBezTo>
                    <a:cubicBezTo>
                      <a:pt x="482" y="2806"/>
                      <a:pt x="497" y="2805"/>
                      <a:pt x="512" y="2803"/>
                    </a:cubicBezTo>
                    <a:lnTo>
                      <a:pt x="510" y="2806"/>
                    </a:lnTo>
                    <a:cubicBezTo>
                      <a:pt x="631" y="3066"/>
                      <a:pt x="856" y="3227"/>
                      <a:pt x="1099" y="3227"/>
                    </a:cubicBezTo>
                    <a:cubicBezTo>
                      <a:pt x="1223" y="3227"/>
                      <a:pt x="1344" y="3186"/>
                      <a:pt x="1449" y="3107"/>
                    </a:cubicBezTo>
                    <a:lnTo>
                      <a:pt x="1448" y="3108"/>
                    </a:lnTo>
                    <a:cubicBezTo>
                      <a:pt x="1558" y="3311"/>
                      <a:pt x="1744" y="3433"/>
                      <a:pt x="1942" y="3433"/>
                    </a:cubicBezTo>
                    <a:cubicBezTo>
                      <a:pt x="2204" y="3433"/>
                      <a:pt x="2435" y="3222"/>
                      <a:pt x="2510" y="2913"/>
                    </a:cubicBezTo>
                    <a:lnTo>
                      <a:pt x="2511" y="2917"/>
                    </a:lnTo>
                    <a:cubicBezTo>
                      <a:pt x="2592" y="2979"/>
                      <a:pt x="2685" y="3012"/>
                      <a:pt x="2780" y="3012"/>
                    </a:cubicBezTo>
                    <a:cubicBezTo>
                      <a:pt x="3060" y="3012"/>
                      <a:pt x="3287" y="2735"/>
                      <a:pt x="3289" y="2392"/>
                    </a:cubicBezTo>
                    <a:lnTo>
                      <a:pt x="3288" y="2390"/>
                    </a:lnTo>
                    <a:cubicBezTo>
                      <a:pt x="3582" y="2339"/>
                      <a:pt x="3800" y="2030"/>
                      <a:pt x="3800" y="1665"/>
                    </a:cubicBezTo>
                    <a:cubicBezTo>
                      <a:pt x="3800" y="1504"/>
                      <a:pt x="3756" y="1347"/>
                      <a:pt x="3677" y="1219"/>
                    </a:cubicBezTo>
                    <a:lnTo>
                      <a:pt x="3675" y="1218"/>
                    </a:lnTo>
                    <a:cubicBezTo>
                      <a:pt x="3700" y="1146"/>
                      <a:pt x="3713" y="1069"/>
                      <a:pt x="3713" y="991"/>
                    </a:cubicBezTo>
                    <a:cubicBezTo>
                      <a:pt x="3713" y="730"/>
                      <a:pt x="3572" y="501"/>
                      <a:pt x="3368" y="433"/>
                    </a:cubicBezTo>
                    <a:lnTo>
                      <a:pt x="3369" y="432"/>
                    </a:lnTo>
                    <a:cubicBezTo>
                      <a:pt x="3333" y="182"/>
                      <a:pt x="3155" y="1"/>
                      <a:pt x="2949" y="1"/>
                    </a:cubicBezTo>
                    <a:cubicBezTo>
                      <a:pt x="2823" y="0"/>
                      <a:pt x="2704" y="68"/>
                      <a:pt x="2623" y="186"/>
                    </a:cubicBezTo>
                    <a:lnTo>
                      <a:pt x="2623" y="187"/>
                    </a:lnTo>
                    <a:cubicBezTo>
                      <a:pt x="2551" y="69"/>
                      <a:pt x="2438" y="1"/>
                      <a:pt x="2318" y="1"/>
                    </a:cubicBezTo>
                    <a:cubicBezTo>
                      <a:pt x="2173" y="0"/>
                      <a:pt x="2039" y="102"/>
                      <a:pt x="1975" y="262"/>
                    </a:cubicBezTo>
                    <a:lnTo>
                      <a:pt x="1976" y="270"/>
                    </a:lnTo>
                    <a:cubicBezTo>
                      <a:pt x="1888" y="163"/>
                      <a:pt x="1770" y="104"/>
                      <a:pt x="1647" y="104"/>
                    </a:cubicBezTo>
                    <a:cubicBezTo>
                      <a:pt x="1473" y="104"/>
                      <a:pt x="1314" y="222"/>
                      <a:pt x="1232" y="410"/>
                    </a:cubicBezTo>
                    <a:lnTo>
                      <a:pt x="1231" y="414"/>
                    </a:lnTo>
                    <a:cubicBezTo>
                      <a:pt x="1140" y="349"/>
                      <a:pt x="1036" y="314"/>
                      <a:pt x="931" y="314"/>
                    </a:cubicBezTo>
                    <a:cubicBezTo>
                      <a:pt x="603" y="314"/>
                      <a:pt x="337" y="641"/>
                      <a:pt x="337" y="1044"/>
                    </a:cubicBezTo>
                    <a:cubicBezTo>
                      <a:pt x="337" y="1077"/>
                      <a:pt x="339" y="1110"/>
                      <a:pt x="342" y="1143"/>
                    </a:cubicBezTo>
                    <a:lnTo>
                      <a:pt x="343" y="1142"/>
                    </a:lnTo>
                    <a:close/>
                  </a:path>
                </a:pathLst>
              </a:custGeom>
              <a:solidFill>
                <a:srgbClr val="C0C0C0"/>
              </a:solidFill>
              <a:ln w="0">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62" name="Freeform 43"/>
              <p:cNvSpPr>
                <a:spLocks/>
              </p:cNvSpPr>
              <p:nvPr/>
            </p:nvSpPr>
            <p:spPr bwMode="auto">
              <a:xfrm>
                <a:off x="4554" y="2181"/>
                <a:ext cx="910" cy="825"/>
              </a:xfrm>
              <a:custGeom>
                <a:avLst/>
                <a:gdLst>
                  <a:gd name="T0" fmla="*/ 0 w 3800"/>
                  <a:gd name="T1" fmla="*/ 0 h 3433"/>
                  <a:gd name="T2" fmla="*/ 0 w 3800"/>
                  <a:gd name="T3" fmla="*/ 0 h 3433"/>
                  <a:gd name="T4" fmla="*/ 0 w 3800"/>
                  <a:gd name="T5" fmla="*/ 0 h 3433"/>
                  <a:gd name="T6" fmla="*/ 0 w 3800"/>
                  <a:gd name="T7" fmla="*/ 0 h 3433"/>
                  <a:gd name="T8" fmla="*/ 0 w 3800"/>
                  <a:gd name="T9" fmla="*/ 0 h 3433"/>
                  <a:gd name="T10" fmla="*/ 0 w 3800"/>
                  <a:gd name="T11" fmla="*/ 0 h 3433"/>
                  <a:gd name="T12" fmla="*/ 0 w 3800"/>
                  <a:gd name="T13" fmla="*/ 0 h 3433"/>
                  <a:gd name="T14" fmla="*/ 0 w 3800"/>
                  <a:gd name="T15" fmla="*/ 0 h 3433"/>
                  <a:gd name="T16" fmla="*/ 0 w 3800"/>
                  <a:gd name="T17" fmla="*/ 0 h 3433"/>
                  <a:gd name="T18" fmla="*/ 0 w 3800"/>
                  <a:gd name="T19" fmla="*/ 0 h 3433"/>
                  <a:gd name="T20" fmla="*/ 0 w 3800"/>
                  <a:gd name="T21" fmla="*/ 0 h 3433"/>
                  <a:gd name="T22" fmla="*/ 0 w 3800"/>
                  <a:gd name="T23" fmla="*/ 0 h 3433"/>
                  <a:gd name="T24" fmla="*/ 0 w 3800"/>
                  <a:gd name="T25" fmla="*/ 0 h 3433"/>
                  <a:gd name="T26" fmla="*/ 0 w 3800"/>
                  <a:gd name="T27" fmla="*/ 0 h 3433"/>
                  <a:gd name="T28" fmla="*/ 0 w 3800"/>
                  <a:gd name="T29" fmla="*/ 0 h 3433"/>
                  <a:gd name="T30" fmla="*/ 0 w 3800"/>
                  <a:gd name="T31" fmla="*/ 0 h 3433"/>
                  <a:gd name="T32" fmla="*/ 0 w 3800"/>
                  <a:gd name="T33" fmla="*/ 0 h 3433"/>
                  <a:gd name="T34" fmla="*/ 0 w 3800"/>
                  <a:gd name="T35" fmla="*/ 0 h 3433"/>
                  <a:gd name="T36" fmla="*/ 0 w 3800"/>
                  <a:gd name="T37" fmla="*/ 0 h 3433"/>
                  <a:gd name="T38" fmla="*/ 0 w 3800"/>
                  <a:gd name="T39" fmla="*/ 0 h 3433"/>
                  <a:gd name="T40" fmla="*/ 0 w 3800"/>
                  <a:gd name="T41" fmla="*/ 0 h 3433"/>
                  <a:gd name="T42" fmla="*/ 0 w 3800"/>
                  <a:gd name="T43" fmla="*/ 0 h 3433"/>
                  <a:gd name="T44" fmla="*/ 0 w 3800"/>
                  <a:gd name="T45" fmla="*/ 0 h 3433"/>
                  <a:gd name="T46" fmla="*/ 0 w 3800"/>
                  <a:gd name="T47" fmla="*/ 0 h 3433"/>
                  <a:gd name="T48" fmla="*/ 0 w 3800"/>
                  <a:gd name="T49" fmla="*/ 0 h 3433"/>
                  <a:gd name="T50" fmla="*/ 0 w 3800"/>
                  <a:gd name="T51" fmla="*/ 0 h 3433"/>
                  <a:gd name="T52" fmla="*/ 0 w 3800"/>
                  <a:gd name="T53" fmla="*/ 0 h 3433"/>
                  <a:gd name="T54" fmla="*/ 0 w 3800"/>
                  <a:gd name="T55" fmla="*/ 0 h 3433"/>
                  <a:gd name="T56" fmla="*/ 0 w 3800"/>
                  <a:gd name="T57" fmla="*/ 0 h 3433"/>
                  <a:gd name="T58" fmla="*/ 0 w 3800"/>
                  <a:gd name="T59" fmla="*/ 0 h 3433"/>
                  <a:gd name="T60" fmla="*/ 0 w 3800"/>
                  <a:gd name="T61" fmla="*/ 0 h 3433"/>
                  <a:gd name="T62" fmla="*/ 0 w 3800"/>
                  <a:gd name="T63" fmla="*/ 0 h 3433"/>
                  <a:gd name="T64" fmla="*/ 0 w 3800"/>
                  <a:gd name="T65" fmla="*/ 0 h 3433"/>
                  <a:gd name="T66" fmla="*/ 0 w 3800"/>
                  <a:gd name="T67" fmla="*/ 0 h 3433"/>
                  <a:gd name="T68" fmla="*/ 0 w 3800"/>
                  <a:gd name="T69" fmla="*/ 0 h 3433"/>
                  <a:gd name="T70" fmla="*/ 0 w 3800"/>
                  <a:gd name="T71" fmla="*/ 0 h 343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800"/>
                  <a:gd name="T109" fmla="*/ 0 h 3433"/>
                  <a:gd name="T110" fmla="*/ 3800 w 3800"/>
                  <a:gd name="T111" fmla="*/ 3433 h 343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800" h="3433">
                    <a:moveTo>
                      <a:pt x="343" y="1142"/>
                    </a:moveTo>
                    <a:cubicBezTo>
                      <a:pt x="148" y="1167"/>
                      <a:pt x="0" y="1370"/>
                      <a:pt x="0" y="1612"/>
                    </a:cubicBezTo>
                    <a:cubicBezTo>
                      <a:pt x="0" y="1780"/>
                      <a:pt x="72" y="1935"/>
                      <a:pt x="189" y="2020"/>
                    </a:cubicBezTo>
                    <a:lnTo>
                      <a:pt x="187" y="2014"/>
                    </a:lnTo>
                    <a:cubicBezTo>
                      <a:pt x="121" y="2101"/>
                      <a:pt x="84" y="2216"/>
                      <a:pt x="84" y="2336"/>
                    </a:cubicBezTo>
                    <a:cubicBezTo>
                      <a:pt x="84" y="2596"/>
                      <a:pt x="256" y="2806"/>
                      <a:pt x="468" y="2806"/>
                    </a:cubicBezTo>
                    <a:cubicBezTo>
                      <a:pt x="482" y="2806"/>
                      <a:pt x="497" y="2805"/>
                      <a:pt x="512" y="2803"/>
                    </a:cubicBezTo>
                    <a:lnTo>
                      <a:pt x="510" y="2806"/>
                    </a:lnTo>
                    <a:cubicBezTo>
                      <a:pt x="631" y="3066"/>
                      <a:pt x="856" y="3227"/>
                      <a:pt x="1099" y="3227"/>
                    </a:cubicBezTo>
                    <a:cubicBezTo>
                      <a:pt x="1223" y="3227"/>
                      <a:pt x="1344" y="3186"/>
                      <a:pt x="1449" y="3107"/>
                    </a:cubicBezTo>
                    <a:lnTo>
                      <a:pt x="1448" y="3108"/>
                    </a:lnTo>
                    <a:cubicBezTo>
                      <a:pt x="1558" y="3311"/>
                      <a:pt x="1744" y="3433"/>
                      <a:pt x="1942" y="3433"/>
                    </a:cubicBezTo>
                    <a:cubicBezTo>
                      <a:pt x="2204" y="3433"/>
                      <a:pt x="2435" y="3222"/>
                      <a:pt x="2510" y="2913"/>
                    </a:cubicBezTo>
                    <a:lnTo>
                      <a:pt x="2511" y="2917"/>
                    </a:lnTo>
                    <a:cubicBezTo>
                      <a:pt x="2592" y="2979"/>
                      <a:pt x="2685" y="3012"/>
                      <a:pt x="2780" y="3012"/>
                    </a:cubicBezTo>
                    <a:cubicBezTo>
                      <a:pt x="3060" y="3012"/>
                      <a:pt x="3287" y="2735"/>
                      <a:pt x="3289" y="2392"/>
                    </a:cubicBezTo>
                    <a:lnTo>
                      <a:pt x="3288" y="2390"/>
                    </a:lnTo>
                    <a:cubicBezTo>
                      <a:pt x="3582" y="2339"/>
                      <a:pt x="3800" y="2030"/>
                      <a:pt x="3800" y="1665"/>
                    </a:cubicBezTo>
                    <a:cubicBezTo>
                      <a:pt x="3800" y="1504"/>
                      <a:pt x="3756" y="1347"/>
                      <a:pt x="3677" y="1219"/>
                    </a:cubicBezTo>
                    <a:lnTo>
                      <a:pt x="3675" y="1218"/>
                    </a:lnTo>
                    <a:cubicBezTo>
                      <a:pt x="3700" y="1146"/>
                      <a:pt x="3713" y="1069"/>
                      <a:pt x="3713" y="991"/>
                    </a:cubicBezTo>
                    <a:cubicBezTo>
                      <a:pt x="3713" y="730"/>
                      <a:pt x="3572" y="501"/>
                      <a:pt x="3368" y="433"/>
                    </a:cubicBezTo>
                    <a:lnTo>
                      <a:pt x="3369" y="432"/>
                    </a:lnTo>
                    <a:cubicBezTo>
                      <a:pt x="3333" y="182"/>
                      <a:pt x="3155" y="1"/>
                      <a:pt x="2949" y="1"/>
                    </a:cubicBezTo>
                    <a:cubicBezTo>
                      <a:pt x="2823" y="0"/>
                      <a:pt x="2704" y="68"/>
                      <a:pt x="2623" y="186"/>
                    </a:cubicBezTo>
                    <a:lnTo>
                      <a:pt x="2623" y="187"/>
                    </a:lnTo>
                    <a:cubicBezTo>
                      <a:pt x="2551" y="69"/>
                      <a:pt x="2438" y="1"/>
                      <a:pt x="2318" y="1"/>
                    </a:cubicBezTo>
                    <a:cubicBezTo>
                      <a:pt x="2173" y="0"/>
                      <a:pt x="2039" y="102"/>
                      <a:pt x="1975" y="262"/>
                    </a:cubicBezTo>
                    <a:lnTo>
                      <a:pt x="1976" y="270"/>
                    </a:lnTo>
                    <a:cubicBezTo>
                      <a:pt x="1888" y="163"/>
                      <a:pt x="1770" y="104"/>
                      <a:pt x="1647" y="104"/>
                    </a:cubicBezTo>
                    <a:cubicBezTo>
                      <a:pt x="1473" y="104"/>
                      <a:pt x="1314" y="222"/>
                      <a:pt x="1232" y="410"/>
                    </a:cubicBezTo>
                    <a:lnTo>
                      <a:pt x="1231" y="414"/>
                    </a:lnTo>
                    <a:cubicBezTo>
                      <a:pt x="1140" y="349"/>
                      <a:pt x="1036" y="314"/>
                      <a:pt x="931" y="314"/>
                    </a:cubicBezTo>
                    <a:cubicBezTo>
                      <a:pt x="603" y="314"/>
                      <a:pt x="337" y="641"/>
                      <a:pt x="337" y="1044"/>
                    </a:cubicBezTo>
                    <a:cubicBezTo>
                      <a:pt x="337" y="1077"/>
                      <a:pt x="339" y="1110"/>
                      <a:pt x="342" y="1143"/>
                    </a:cubicBezTo>
                    <a:lnTo>
                      <a:pt x="343" y="1142"/>
                    </a:lnTo>
                    <a:close/>
                  </a:path>
                </a:pathLst>
              </a:custGeom>
              <a:solidFill>
                <a:srgbClr val="C0C0C0"/>
              </a:solidFill>
              <a:ln w="0">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63" name="Freeform 44"/>
              <p:cNvSpPr>
                <a:spLocks/>
              </p:cNvSpPr>
              <p:nvPr/>
            </p:nvSpPr>
            <p:spPr bwMode="auto">
              <a:xfrm>
                <a:off x="4554" y="2181"/>
                <a:ext cx="910" cy="825"/>
              </a:xfrm>
              <a:custGeom>
                <a:avLst/>
                <a:gdLst>
                  <a:gd name="T0" fmla="*/ 0 w 3800"/>
                  <a:gd name="T1" fmla="*/ 0 h 3433"/>
                  <a:gd name="T2" fmla="*/ 0 w 3800"/>
                  <a:gd name="T3" fmla="*/ 0 h 3433"/>
                  <a:gd name="T4" fmla="*/ 0 w 3800"/>
                  <a:gd name="T5" fmla="*/ 0 h 3433"/>
                  <a:gd name="T6" fmla="*/ 0 w 3800"/>
                  <a:gd name="T7" fmla="*/ 0 h 3433"/>
                  <a:gd name="T8" fmla="*/ 0 w 3800"/>
                  <a:gd name="T9" fmla="*/ 0 h 3433"/>
                  <a:gd name="T10" fmla="*/ 0 w 3800"/>
                  <a:gd name="T11" fmla="*/ 0 h 3433"/>
                  <a:gd name="T12" fmla="*/ 0 w 3800"/>
                  <a:gd name="T13" fmla="*/ 0 h 3433"/>
                  <a:gd name="T14" fmla="*/ 0 w 3800"/>
                  <a:gd name="T15" fmla="*/ 0 h 3433"/>
                  <a:gd name="T16" fmla="*/ 0 w 3800"/>
                  <a:gd name="T17" fmla="*/ 0 h 3433"/>
                  <a:gd name="T18" fmla="*/ 0 w 3800"/>
                  <a:gd name="T19" fmla="*/ 0 h 3433"/>
                  <a:gd name="T20" fmla="*/ 0 w 3800"/>
                  <a:gd name="T21" fmla="*/ 0 h 3433"/>
                  <a:gd name="T22" fmla="*/ 0 w 3800"/>
                  <a:gd name="T23" fmla="*/ 0 h 3433"/>
                  <a:gd name="T24" fmla="*/ 0 w 3800"/>
                  <a:gd name="T25" fmla="*/ 0 h 3433"/>
                  <a:gd name="T26" fmla="*/ 0 w 3800"/>
                  <a:gd name="T27" fmla="*/ 0 h 3433"/>
                  <a:gd name="T28" fmla="*/ 0 w 3800"/>
                  <a:gd name="T29" fmla="*/ 0 h 3433"/>
                  <a:gd name="T30" fmla="*/ 0 w 3800"/>
                  <a:gd name="T31" fmla="*/ 0 h 3433"/>
                  <a:gd name="T32" fmla="*/ 0 w 3800"/>
                  <a:gd name="T33" fmla="*/ 0 h 3433"/>
                  <a:gd name="T34" fmla="*/ 0 w 3800"/>
                  <a:gd name="T35" fmla="*/ 0 h 3433"/>
                  <a:gd name="T36" fmla="*/ 0 w 3800"/>
                  <a:gd name="T37" fmla="*/ 0 h 3433"/>
                  <a:gd name="T38" fmla="*/ 0 w 3800"/>
                  <a:gd name="T39" fmla="*/ 0 h 3433"/>
                  <a:gd name="T40" fmla="*/ 0 w 3800"/>
                  <a:gd name="T41" fmla="*/ 0 h 3433"/>
                  <a:gd name="T42" fmla="*/ 0 w 3800"/>
                  <a:gd name="T43" fmla="*/ 0 h 3433"/>
                  <a:gd name="T44" fmla="*/ 0 w 3800"/>
                  <a:gd name="T45" fmla="*/ 0 h 3433"/>
                  <a:gd name="T46" fmla="*/ 0 w 3800"/>
                  <a:gd name="T47" fmla="*/ 0 h 3433"/>
                  <a:gd name="T48" fmla="*/ 0 w 3800"/>
                  <a:gd name="T49" fmla="*/ 0 h 3433"/>
                  <a:gd name="T50" fmla="*/ 0 w 3800"/>
                  <a:gd name="T51" fmla="*/ 0 h 3433"/>
                  <a:gd name="T52" fmla="*/ 0 w 3800"/>
                  <a:gd name="T53" fmla="*/ 0 h 3433"/>
                  <a:gd name="T54" fmla="*/ 0 w 3800"/>
                  <a:gd name="T55" fmla="*/ 0 h 3433"/>
                  <a:gd name="T56" fmla="*/ 0 w 3800"/>
                  <a:gd name="T57" fmla="*/ 0 h 3433"/>
                  <a:gd name="T58" fmla="*/ 0 w 3800"/>
                  <a:gd name="T59" fmla="*/ 0 h 3433"/>
                  <a:gd name="T60" fmla="*/ 0 w 3800"/>
                  <a:gd name="T61" fmla="*/ 0 h 3433"/>
                  <a:gd name="T62" fmla="*/ 0 w 3800"/>
                  <a:gd name="T63" fmla="*/ 0 h 3433"/>
                  <a:gd name="T64" fmla="*/ 0 w 3800"/>
                  <a:gd name="T65" fmla="*/ 0 h 3433"/>
                  <a:gd name="T66" fmla="*/ 0 w 3800"/>
                  <a:gd name="T67" fmla="*/ 0 h 3433"/>
                  <a:gd name="T68" fmla="*/ 0 w 3800"/>
                  <a:gd name="T69" fmla="*/ 0 h 3433"/>
                  <a:gd name="T70" fmla="*/ 0 w 3800"/>
                  <a:gd name="T71" fmla="*/ 0 h 343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800"/>
                  <a:gd name="T109" fmla="*/ 0 h 3433"/>
                  <a:gd name="T110" fmla="*/ 3800 w 3800"/>
                  <a:gd name="T111" fmla="*/ 3433 h 343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800" h="3433">
                    <a:moveTo>
                      <a:pt x="343" y="1142"/>
                    </a:moveTo>
                    <a:cubicBezTo>
                      <a:pt x="148" y="1167"/>
                      <a:pt x="0" y="1370"/>
                      <a:pt x="0" y="1612"/>
                    </a:cubicBezTo>
                    <a:cubicBezTo>
                      <a:pt x="0" y="1780"/>
                      <a:pt x="72" y="1935"/>
                      <a:pt x="189" y="2020"/>
                    </a:cubicBezTo>
                    <a:lnTo>
                      <a:pt x="187" y="2014"/>
                    </a:lnTo>
                    <a:cubicBezTo>
                      <a:pt x="121" y="2101"/>
                      <a:pt x="84" y="2216"/>
                      <a:pt x="84" y="2336"/>
                    </a:cubicBezTo>
                    <a:cubicBezTo>
                      <a:pt x="84" y="2596"/>
                      <a:pt x="256" y="2806"/>
                      <a:pt x="468" y="2806"/>
                    </a:cubicBezTo>
                    <a:cubicBezTo>
                      <a:pt x="482" y="2806"/>
                      <a:pt x="497" y="2805"/>
                      <a:pt x="512" y="2803"/>
                    </a:cubicBezTo>
                    <a:lnTo>
                      <a:pt x="510" y="2806"/>
                    </a:lnTo>
                    <a:cubicBezTo>
                      <a:pt x="631" y="3066"/>
                      <a:pt x="856" y="3227"/>
                      <a:pt x="1099" y="3227"/>
                    </a:cubicBezTo>
                    <a:cubicBezTo>
                      <a:pt x="1223" y="3227"/>
                      <a:pt x="1344" y="3186"/>
                      <a:pt x="1449" y="3107"/>
                    </a:cubicBezTo>
                    <a:lnTo>
                      <a:pt x="1448" y="3108"/>
                    </a:lnTo>
                    <a:cubicBezTo>
                      <a:pt x="1558" y="3311"/>
                      <a:pt x="1744" y="3433"/>
                      <a:pt x="1942" y="3433"/>
                    </a:cubicBezTo>
                    <a:cubicBezTo>
                      <a:pt x="2204" y="3433"/>
                      <a:pt x="2435" y="3222"/>
                      <a:pt x="2510" y="2913"/>
                    </a:cubicBezTo>
                    <a:lnTo>
                      <a:pt x="2511" y="2917"/>
                    </a:lnTo>
                    <a:cubicBezTo>
                      <a:pt x="2592" y="2979"/>
                      <a:pt x="2685" y="3012"/>
                      <a:pt x="2780" y="3012"/>
                    </a:cubicBezTo>
                    <a:cubicBezTo>
                      <a:pt x="3060" y="3012"/>
                      <a:pt x="3287" y="2735"/>
                      <a:pt x="3289" y="2392"/>
                    </a:cubicBezTo>
                    <a:lnTo>
                      <a:pt x="3288" y="2390"/>
                    </a:lnTo>
                    <a:cubicBezTo>
                      <a:pt x="3582" y="2339"/>
                      <a:pt x="3800" y="2030"/>
                      <a:pt x="3800" y="1665"/>
                    </a:cubicBezTo>
                    <a:cubicBezTo>
                      <a:pt x="3800" y="1504"/>
                      <a:pt x="3756" y="1347"/>
                      <a:pt x="3677" y="1219"/>
                    </a:cubicBezTo>
                    <a:lnTo>
                      <a:pt x="3675" y="1218"/>
                    </a:lnTo>
                    <a:cubicBezTo>
                      <a:pt x="3700" y="1146"/>
                      <a:pt x="3713" y="1069"/>
                      <a:pt x="3713" y="991"/>
                    </a:cubicBezTo>
                    <a:cubicBezTo>
                      <a:pt x="3713" y="730"/>
                      <a:pt x="3572" y="501"/>
                      <a:pt x="3368" y="433"/>
                    </a:cubicBezTo>
                    <a:lnTo>
                      <a:pt x="3369" y="432"/>
                    </a:lnTo>
                    <a:cubicBezTo>
                      <a:pt x="3333" y="182"/>
                      <a:pt x="3155" y="1"/>
                      <a:pt x="2949" y="1"/>
                    </a:cubicBezTo>
                    <a:cubicBezTo>
                      <a:pt x="2823" y="0"/>
                      <a:pt x="2704" y="68"/>
                      <a:pt x="2623" y="186"/>
                    </a:cubicBezTo>
                    <a:lnTo>
                      <a:pt x="2623" y="187"/>
                    </a:lnTo>
                    <a:cubicBezTo>
                      <a:pt x="2551" y="69"/>
                      <a:pt x="2438" y="1"/>
                      <a:pt x="2318" y="1"/>
                    </a:cubicBezTo>
                    <a:cubicBezTo>
                      <a:pt x="2173" y="0"/>
                      <a:pt x="2039" y="102"/>
                      <a:pt x="1975" y="262"/>
                    </a:cubicBezTo>
                    <a:lnTo>
                      <a:pt x="1976" y="270"/>
                    </a:lnTo>
                    <a:cubicBezTo>
                      <a:pt x="1888" y="163"/>
                      <a:pt x="1770" y="104"/>
                      <a:pt x="1647" y="104"/>
                    </a:cubicBezTo>
                    <a:cubicBezTo>
                      <a:pt x="1473" y="104"/>
                      <a:pt x="1314" y="222"/>
                      <a:pt x="1232" y="410"/>
                    </a:cubicBezTo>
                    <a:lnTo>
                      <a:pt x="1231" y="414"/>
                    </a:lnTo>
                    <a:cubicBezTo>
                      <a:pt x="1140" y="349"/>
                      <a:pt x="1036" y="314"/>
                      <a:pt x="931" y="314"/>
                    </a:cubicBezTo>
                    <a:cubicBezTo>
                      <a:pt x="603" y="314"/>
                      <a:pt x="337" y="641"/>
                      <a:pt x="337" y="1044"/>
                    </a:cubicBezTo>
                    <a:cubicBezTo>
                      <a:pt x="337" y="1077"/>
                      <a:pt x="339" y="1110"/>
                      <a:pt x="342" y="1143"/>
                    </a:cubicBezTo>
                    <a:lnTo>
                      <a:pt x="343" y="1142"/>
                    </a:lnTo>
                    <a:close/>
                  </a:path>
                </a:pathLst>
              </a:custGeom>
              <a:solidFill>
                <a:srgbClr val="FFFFFF"/>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64" name="Freeform 45"/>
              <p:cNvSpPr>
                <a:spLocks/>
              </p:cNvSpPr>
              <p:nvPr/>
            </p:nvSpPr>
            <p:spPr bwMode="auto">
              <a:xfrm>
                <a:off x="4599" y="2667"/>
                <a:ext cx="54" cy="15"/>
              </a:xfrm>
              <a:custGeom>
                <a:avLst/>
                <a:gdLst>
                  <a:gd name="T0" fmla="*/ 0 w 54"/>
                  <a:gd name="T1" fmla="*/ 0 h 15"/>
                  <a:gd name="T2" fmla="*/ 47 w 54"/>
                  <a:gd name="T3" fmla="*/ 15 h 15"/>
                  <a:gd name="T4" fmla="*/ 54 w 54"/>
                  <a:gd name="T5" fmla="*/ 15 h 15"/>
                  <a:gd name="T6" fmla="*/ 0 60000 65536"/>
                  <a:gd name="T7" fmla="*/ 0 60000 65536"/>
                  <a:gd name="T8" fmla="*/ 0 60000 65536"/>
                  <a:gd name="T9" fmla="*/ 0 w 54"/>
                  <a:gd name="T10" fmla="*/ 0 h 15"/>
                  <a:gd name="T11" fmla="*/ 54 w 54"/>
                  <a:gd name="T12" fmla="*/ 15 h 15"/>
                </a:gdLst>
                <a:ahLst/>
                <a:cxnLst>
                  <a:cxn ang="T6">
                    <a:pos x="T0" y="T1"/>
                  </a:cxn>
                  <a:cxn ang="T7">
                    <a:pos x="T2" y="T3"/>
                  </a:cxn>
                  <a:cxn ang="T8">
                    <a:pos x="T4" y="T5"/>
                  </a:cxn>
                </a:cxnLst>
                <a:rect l="T9" t="T10" r="T11" b="T12"/>
                <a:pathLst>
                  <a:path w="54" h="15">
                    <a:moveTo>
                      <a:pt x="0" y="0"/>
                    </a:moveTo>
                    <a:cubicBezTo>
                      <a:pt x="14" y="10"/>
                      <a:pt x="30" y="15"/>
                      <a:pt x="47" y="15"/>
                    </a:cubicBezTo>
                    <a:cubicBezTo>
                      <a:pt x="49" y="15"/>
                      <a:pt x="51" y="15"/>
                      <a:pt x="54" y="15"/>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65" name="Freeform 46"/>
              <p:cNvSpPr>
                <a:spLocks/>
              </p:cNvSpPr>
              <p:nvPr/>
            </p:nvSpPr>
            <p:spPr bwMode="auto">
              <a:xfrm>
                <a:off x="4676" y="2847"/>
                <a:ext cx="24" cy="8"/>
              </a:xfrm>
              <a:custGeom>
                <a:avLst/>
                <a:gdLst>
                  <a:gd name="T0" fmla="*/ 0 w 24"/>
                  <a:gd name="T1" fmla="*/ 8 h 8"/>
                  <a:gd name="T2" fmla="*/ 24 w 24"/>
                  <a:gd name="T3" fmla="*/ 0 h 8"/>
                  <a:gd name="T4" fmla="*/ 0 60000 65536"/>
                  <a:gd name="T5" fmla="*/ 0 60000 65536"/>
                  <a:gd name="T6" fmla="*/ 0 w 24"/>
                  <a:gd name="T7" fmla="*/ 0 h 8"/>
                  <a:gd name="T8" fmla="*/ 24 w 24"/>
                  <a:gd name="T9" fmla="*/ 8 h 8"/>
                </a:gdLst>
                <a:ahLst/>
                <a:cxnLst>
                  <a:cxn ang="T4">
                    <a:pos x="T0" y="T1"/>
                  </a:cxn>
                  <a:cxn ang="T5">
                    <a:pos x="T2" y="T3"/>
                  </a:cxn>
                </a:cxnLst>
                <a:rect l="T6" t="T7" r="T8" b="T9"/>
                <a:pathLst>
                  <a:path w="24" h="8">
                    <a:moveTo>
                      <a:pt x="0" y="8"/>
                    </a:moveTo>
                    <a:cubicBezTo>
                      <a:pt x="9" y="6"/>
                      <a:pt x="16" y="4"/>
                      <a:pt x="24"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66" name="Freeform 47"/>
              <p:cNvSpPr>
                <a:spLocks/>
              </p:cNvSpPr>
              <p:nvPr/>
            </p:nvSpPr>
            <p:spPr bwMode="auto">
              <a:xfrm>
                <a:off x="4887" y="2895"/>
                <a:ext cx="14" cy="33"/>
              </a:xfrm>
              <a:custGeom>
                <a:avLst/>
                <a:gdLst>
                  <a:gd name="T0" fmla="*/ 0 w 14"/>
                  <a:gd name="T1" fmla="*/ 0 h 33"/>
                  <a:gd name="T2" fmla="*/ 14 w 14"/>
                  <a:gd name="T3" fmla="*/ 33 h 33"/>
                  <a:gd name="T4" fmla="*/ 0 60000 65536"/>
                  <a:gd name="T5" fmla="*/ 0 60000 65536"/>
                  <a:gd name="T6" fmla="*/ 0 w 14"/>
                  <a:gd name="T7" fmla="*/ 0 h 33"/>
                  <a:gd name="T8" fmla="*/ 14 w 14"/>
                  <a:gd name="T9" fmla="*/ 33 h 33"/>
                </a:gdLst>
                <a:ahLst/>
                <a:cxnLst>
                  <a:cxn ang="T4">
                    <a:pos x="T0" y="T1"/>
                  </a:cxn>
                  <a:cxn ang="T5">
                    <a:pos x="T2" y="T3"/>
                  </a:cxn>
                </a:cxnLst>
                <a:rect l="T6" t="T7" r="T8" b="T9"/>
                <a:pathLst>
                  <a:path w="14" h="33">
                    <a:moveTo>
                      <a:pt x="0" y="0"/>
                    </a:moveTo>
                    <a:cubicBezTo>
                      <a:pt x="3" y="11"/>
                      <a:pt x="8" y="23"/>
                      <a:pt x="14" y="33"/>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67" name="Freeform 48"/>
              <p:cNvSpPr>
                <a:spLocks/>
              </p:cNvSpPr>
              <p:nvPr/>
            </p:nvSpPr>
            <p:spPr bwMode="auto">
              <a:xfrm>
                <a:off x="5155" y="2845"/>
                <a:ext cx="6" cy="36"/>
              </a:xfrm>
              <a:custGeom>
                <a:avLst/>
                <a:gdLst>
                  <a:gd name="T0" fmla="*/ 0 w 6"/>
                  <a:gd name="T1" fmla="*/ 36 h 36"/>
                  <a:gd name="T2" fmla="*/ 6 w 6"/>
                  <a:gd name="T3" fmla="*/ 0 h 36"/>
                  <a:gd name="T4" fmla="*/ 0 60000 65536"/>
                  <a:gd name="T5" fmla="*/ 0 60000 65536"/>
                  <a:gd name="T6" fmla="*/ 0 w 6"/>
                  <a:gd name="T7" fmla="*/ 0 h 36"/>
                  <a:gd name="T8" fmla="*/ 6 w 6"/>
                  <a:gd name="T9" fmla="*/ 36 h 36"/>
                </a:gdLst>
                <a:ahLst/>
                <a:cxnLst>
                  <a:cxn ang="T4">
                    <a:pos x="T0" y="T1"/>
                  </a:cxn>
                  <a:cxn ang="T5">
                    <a:pos x="T2" y="T3"/>
                  </a:cxn>
                </a:cxnLst>
                <a:rect l="T6" t="T7" r="T8" b="T9"/>
                <a:pathLst>
                  <a:path w="6" h="36">
                    <a:moveTo>
                      <a:pt x="0" y="36"/>
                    </a:moveTo>
                    <a:cubicBezTo>
                      <a:pt x="3" y="24"/>
                      <a:pt x="5" y="12"/>
                      <a:pt x="6"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68" name="Freeform 49"/>
              <p:cNvSpPr>
                <a:spLocks/>
              </p:cNvSpPr>
              <p:nvPr/>
            </p:nvSpPr>
            <p:spPr bwMode="auto">
              <a:xfrm>
                <a:off x="5273" y="2620"/>
                <a:ext cx="69" cy="136"/>
              </a:xfrm>
              <a:custGeom>
                <a:avLst/>
                <a:gdLst>
                  <a:gd name="T0" fmla="*/ 69 w 69"/>
                  <a:gd name="T1" fmla="*/ 136 h 136"/>
                  <a:gd name="T2" fmla="*/ 69 w 69"/>
                  <a:gd name="T3" fmla="*/ 135 h 136"/>
                  <a:gd name="T4" fmla="*/ 0 w 69"/>
                  <a:gd name="T5" fmla="*/ 0 h 136"/>
                  <a:gd name="T6" fmla="*/ 0 60000 65536"/>
                  <a:gd name="T7" fmla="*/ 0 60000 65536"/>
                  <a:gd name="T8" fmla="*/ 0 60000 65536"/>
                  <a:gd name="T9" fmla="*/ 0 w 69"/>
                  <a:gd name="T10" fmla="*/ 0 h 136"/>
                  <a:gd name="T11" fmla="*/ 69 w 69"/>
                  <a:gd name="T12" fmla="*/ 136 h 136"/>
                </a:gdLst>
                <a:ahLst/>
                <a:cxnLst>
                  <a:cxn ang="T6">
                    <a:pos x="T0" y="T1"/>
                  </a:cxn>
                  <a:cxn ang="T7">
                    <a:pos x="T2" y="T3"/>
                  </a:cxn>
                  <a:cxn ang="T8">
                    <a:pos x="T4" y="T5"/>
                  </a:cxn>
                </a:cxnLst>
                <a:rect l="T9" t="T10" r="T11" b="T12"/>
                <a:pathLst>
                  <a:path w="69" h="136">
                    <a:moveTo>
                      <a:pt x="69" y="136"/>
                    </a:moveTo>
                    <a:cubicBezTo>
                      <a:pt x="69" y="135"/>
                      <a:pt x="69" y="135"/>
                      <a:pt x="69" y="135"/>
                    </a:cubicBezTo>
                    <a:cubicBezTo>
                      <a:pt x="69" y="77"/>
                      <a:pt x="42" y="25"/>
                      <a:pt x="0"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69" name="Freeform 50"/>
              <p:cNvSpPr>
                <a:spLocks/>
              </p:cNvSpPr>
              <p:nvPr/>
            </p:nvSpPr>
            <p:spPr bwMode="auto">
              <a:xfrm>
                <a:off x="5404" y="2474"/>
                <a:ext cx="30" cy="51"/>
              </a:xfrm>
              <a:custGeom>
                <a:avLst/>
                <a:gdLst>
                  <a:gd name="T0" fmla="*/ 0 w 30"/>
                  <a:gd name="T1" fmla="*/ 51 h 51"/>
                  <a:gd name="T2" fmla="*/ 30 w 30"/>
                  <a:gd name="T3" fmla="*/ 0 h 51"/>
                  <a:gd name="T4" fmla="*/ 0 60000 65536"/>
                  <a:gd name="T5" fmla="*/ 0 60000 65536"/>
                  <a:gd name="T6" fmla="*/ 0 w 30"/>
                  <a:gd name="T7" fmla="*/ 0 h 51"/>
                  <a:gd name="T8" fmla="*/ 30 w 30"/>
                  <a:gd name="T9" fmla="*/ 51 h 51"/>
                </a:gdLst>
                <a:ahLst/>
                <a:cxnLst>
                  <a:cxn ang="T4">
                    <a:pos x="T0" y="T1"/>
                  </a:cxn>
                  <a:cxn ang="T5">
                    <a:pos x="T2" y="T3"/>
                  </a:cxn>
                </a:cxnLst>
                <a:rect l="T6" t="T7" r="T8" b="T9"/>
                <a:pathLst>
                  <a:path w="30" h="51">
                    <a:moveTo>
                      <a:pt x="0" y="51"/>
                    </a:moveTo>
                    <a:cubicBezTo>
                      <a:pt x="13" y="37"/>
                      <a:pt x="23" y="20"/>
                      <a:pt x="30"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70" name="Freeform 51"/>
              <p:cNvSpPr>
                <a:spLocks/>
              </p:cNvSpPr>
              <p:nvPr/>
            </p:nvSpPr>
            <p:spPr bwMode="auto">
              <a:xfrm>
                <a:off x="5361" y="2285"/>
                <a:ext cx="2" cy="24"/>
              </a:xfrm>
              <a:custGeom>
                <a:avLst/>
                <a:gdLst>
                  <a:gd name="T0" fmla="*/ 2 w 2"/>
                  <a:gd name="T1" fmla="*/ 24 h 24"/>
                  <a:gd name="T2" fmla="*/ 2 w 2"/>
                  <a:gd name="T3" fmla="*/ 23 h 24"/>
                  <a:gd name="T4" fmla="*/ 0 w 2"/>
                  <a:gd name="T5" fmla="*/ 0 h 24"/>
                  <a:gd name="T6" fmla="*/ 0 60000 65536"/>
                  <a:gd name="T7" fmla="*/ 0 60000 65536"/>
                  <a:gd name="T8" fmla="*/ 0 60000 65536"/>
                  <a:gd name="T9" fmla="*/ 0 w 2"/>
                  <a:gd name="T10" fmla="*/ 0 h 24"/>
                  <a:gd name="T11" fmla="*/ 2 w 2"/>
                  <a:gd name="T12" fmla="*/ 24 h 24"/>
                </a:gdLst>
                <a:ahLst/>
                <a:cxnLst>
                  <a:cxn ang="T6">
                    <a:pos x="T0" y="T1"/>
                  </a:cxn>
                  <a:cxn ang="T7">
                    <a:pos x="T2" y="T3"/>
                  </a:cxn>
                  <a:cxn ang="T8">
                    <a:pos x="T4" y="T5"/>
                  </a:cxn>
                </a:cxnLst>
                <a:rect l="T9" t="T10" r="T11" b="T12"/>
                <a:pathLst>
                  <a:path w="2" h="24">
                    <a:moveTo>
                      <a:pt x="2" y="24"/>
                    </a:moveTo>
                    <a:cubicBezTo>
                      <a:pt x="2" y="24"/>
                      <a:pt x="2" y="23"/>
                      <a:pt x="2" y="23"/>
                    </a:cubicBezTo>
                    <a:cubicBezTo>
                      <a:pt x="2" y="15"/>
                      <a:pt x="1" y="7"/>
                      <a:pt x="0"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71" name="Freeform 52"/>
              <p:cNvSpPr>
                <a:spLocks/>
              </p:cNvSpPr>
              <p:nvPr/>
            </p:nvSpPr>
            <p:spPr bwMode="auto">
              <a:xfrm>
                <a:off x="5167" y="2226"/>
                <a:ext cx="15" cy="31"/>
              </a:xfrm>
              <a:custGeom>
                <a:avLst/>
                <a:gdLst>
                  <a:gd name="T0" fmla="*/ 15 w 15"/>
                  <a:gd name="T1" fmla="*/ 0 h 31"/>
                  <a:gd name="T2" fmla="*/ 0 w 15"/>
                  <a:gd name="T3" fmla="*/ 31 h 31"/>
                  <a:gd name="T4" fmla="*/ 0 60000 65536"/>
                  <a:gd name="T5" fmla="*/ 0 60000 65536"/>
                  <a:gd name="T6" fmla="*/ 0 w 15"/>
                  <a:gd name="T7" fmla="*/ 0 h 31"/>
                  <a:gd name="T8" fmla="*/ 15 w 15"/>
                  <a:gd name="T9" fmla="*/ 31 h 31"/>
                </a:gdLst>
                <a:ahLst/>
                <a:cxnLst>
                  <a:cxn ang="T4">
                    <a:pos x="T0" y="T1"/>
                  </a:cxn>
                  <a:cxn ang="T5">
                    <a:pos x="T2" y="T3"/>
                  </a:cxn>
                </a:cxnLst>
                <a:rect l="T6" t="T7" r="T8" b="T9"/>
                <a:pathLst>
                  <a:path w="15" h="31">
                    <a:moveTo>
                      <a:pt x="15" y="0"/>
                    </a:moveTo>
                    <a:cubicBezTo>
                      <a:pt x="9" y="9"/>
                      <a:pt x="3" y="20"/>
                      <a:pt x="0" y="31"/>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72" name="Freeform 53"/>
              <p:cNvSpPr>
                <a:spLocks/>
              </p:cNvSpPr>
              <p:nvPr/>
            </p:nvSpPr>
            <p:spPr bwMode="auto">
              <a:xfrm>
                <a:off x="5019" y="2244"/>
                <a:ext cx="8" cy="27"/>
              </a:xfrm>
              <a:custGeom>
                <a:avLst/>
                <a:gdLst>
                  <a:gd name="T0" fmla="*/ 8 w 8"/>
                  <a:gd name="T1" fmla="*/ 0 h 27"/>
                  <a:gd name="T2" fmla="*/ 0 w 8"/>
                  <a:gd name="T3" fmla="*/ 27 h 27"/>
                  <a:gd name="T4" fmla="*/ 0 60000 65536"/>
                  <a:gd name="T5" fmla="*/ 0 60000 65536"/>
                  <a:gd name="T6" fmla="*/ 0 w 8"/>
                  <a:gd name="T7" fmla="*/ 0 h 27"/>
                  <a:gd name="T8" fmla="*/ 8 w 8"/>
                  <a:gd name="T9" fmla="*/ 27 h 27"/>
                </a:gdLst>
                <a:ahLst/>
                <a:cxnLst>
                  <a:cxn ang="T4">
                    <a:pos x="T0" y="T1"/>
                  </a:cxn>
                  <a:cxn ang="T5">
                    <a:pos x="T2" y="T3"/>
                  </a:cxn>
                </a:cxnLst>
                <a:rect l="T6" t="T7" r="T8" b="T9"/>
                <a:pathLst>
                  <a:path w="8" h="27">
                    <a:moveTo>
                      <a:pt x="8" y="0"/>
                    </a:moveTo>
                    <a:cubicBezTo>
                      <a:pt x="4" y="9"/>
                      <a:pt x="2" y="18"/>
                      <a:pt x="0" y="27"/>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73" name="Freeform 54"/>
              <p:cNvSpPr>
                <a:spLocks/>
              </p:cNvSpPr>
              <p:nvPr/>
            </p:nvSpPr>
            <p:spPr bwMode="auto">
              <a:xfrm>
                <a:off x="4849" y="2281"/>
                <a:ext cx="27" cy="26"/>
              </a:xfrm>
              <a:custGeom>
                <a:avLst/>
                <a:gdLst>
                  <a:gd name="T0" fmla="*/ 27 w 27"/>
                  <a:gd name="T1" fmla="*/ 26 h 26"/>
                  <a:gd name="T2" fmla="*/ 0 w 27"/>
                  <a:gd name="T3" fmla="*/ 0 h 26"/>
                  <a:gd name="T4" fmla="*/ 0 60000 65536"/>
                  <a:gd name="T5" fmla="*/ 0 60000 65536"/>
                  <a:gd name="T6" fmla="*/ 0 w 27"/>
                  <a:gd name="T7" fmla="*/ 0 h 26"/>
                  <a:gd name="T8" fmla="*/ 27 w 27"/>
                  <a:gd name="T9" fmla="*/ 26 h 26"/>
                </a:gdLst>
                <a:ahLst/>
                <a:cxnLst>
                  <a:cxn ang="T4">
                    <a:pos x="T0" y="T1"/>
                  </a:cxn>
                  <a:cxn ang="T5">
                    <a:pos x="T2" y="T3"/>
                  </a:cxn>
                </a:cxnLst>
                <a:rect l="T6" t="T7" r="T8" b="T9"/>
                <a:pathLst>
                  <a:path w="27" h="26">
                    <a:moveTo>
                      <a:pt x="27" y="26"/>
                    </a:moveTo>
                    <a:cubicBezTo>
                      <a:pt x="19" y="16"/>
                      <a:pt x="10" y="7"/>
                      <a:pt x="0" y="0"/>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sp>
            <p:nvSpPr>
              <p:cNvPr id="74" name="Freeform 55"/>
              <p:cNvSpPr>
                <a:spLocks/>
              </p:cNvSpPr>
              <p:nvPr/>
            </p:nvSpPr>
            <p:spPr bwMode="auto">
              <a:xfrm>
                <a:off x="4636" y="2456"/>
                <a:ext cx="5" cy="27"/>
              </a:xfrm>
              <a:custGeom>
                <a:avLst/>
                <a:gdLst>
                  <a:gd name="T0" fmla="*/ 0 w 5"/>
                  <a:gd name="T1" fmla="*/ 0 h 27"/>
                  <a:gd name="T2" fmla="*/ 5 w 5"/>
                  <a:gd name="T3" fmla="*/ 27 h 27"/>
                  <a:gd name="T4" fmla="*/ 0 60000 65536"/>
                  <a:gd name="T5" fmla="*/ 0 60000 65536"/>
                  <a:gd name="T6" fmla="*/ 0 w 5"/>
                  <a:gd name="T7" fmla="*/ 0 h 27"/>
                  <a:gd name="T8" fmla="*/ 5 w 5"/>
                  <a:gd name="T9" fmla="*/ 27 h 27"/>
                </a:gdLst>
                <a:ahLst/>
                <a:cxnLst>
                  <a:cxn ang="T4">
                    <a:pos x="T0" y="T1"/>
                  </a:cxn>
                  <a:cxn ang="T5">
                    <a:pos x="T2" y="T3"/>
                  </a:cxn>
                </a:cxnLst>
                <a:rect l="T6" t="T7" r="T8" b="T9"/>
                <a:pathLst>
                  <a:path w="5" h="27">
                    <a:moveTo>
                      <a:pt x="0" y="0"/>
                    </a:moveTo>
                    <a:cubicBezTo>
                      <a:pt x="1" y="9"/>
                      <a:pt x="2" y="18"/>
                      <a:pt x="5" y="27"/>
                    </a:cubicBezTo>
                  </a:path>
                </a:pathLst>
              </a:custGeom>
              <a:solidFill>
                <a:srgbClr val="C0C0C0"/>
              </a:solidFill>
              <a:ln w="9525" cap="rnd">
                <a:solidFill>
                  <a:srgbClr val="000000"/>
                </a:solidFill>
                <a:prstDash val="solid"/>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ahoma"/>
                </a:endParaRPr>
              </a:p>
            </p:txBody>
          </p:sp>
        </p:grpSp>
        <p:sp>
          <p:nvSpPr>
            <p:cNvPr id="59" name="Text Box 56"/>
            <p:cNvSpPr txBox="1">
              <a:spLocks noChangeArrowheads="1"/>
            </p:cNvSpPr>
            <p:nvPr/>
          </p:nvSpPr>
          <p:spPr bwMode="auto">
            <a:xfrm>
              <a:off x="6324600" y="1905000"/>
              <a:ext cx="2514600" cy="584200"/>
            </a:xfrm>
            <a:prstGeom prst="rect">
              <a:avLst/>
            </a:prstGeom>
            <a:solidFill>
              <a:srgbClr val="0000FF"/>
            </a:solidFill>
            <a:ln w="9525" algn="ctr">
              <a:solidFill>
                <a:srgbClr val="000000"/>
              </a:solidFill>
              <a:miter lim="800000"/>
              <a:headEnd/>
              <a:tailEnd/>
            </a:ln>
          </p:spPr>
          <p:txBody>
            <a:bodyPr lIns="91380" tIns="45692" rIns="91380" bIns="45692">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AU" sz="1600" b="1" i="0" u="none" strike="noStrike" kern="0" cap="none" spc="0" normalizeH="0" baseline="0" noProof="0" dirty="0">
                  <a:ln>
                    <a:noFill/>
                  </a:ln>
                  <a:solidFill>
                    <a:srgbClr val="FFFFFF"/>
                  </a:solidFill>
                  <a:effectLst/>
                  <a:uLnTx/>
                  <a:uFillTx/>
                  <a:latin typeface="Verdana"/>
                  <a:ea typeface="SimSun" panose="02010600030101010101" pitchFamily="2" charset="-122"/>
                  <a:cs typeface="Tahoma"/>
                </a:rPr>
                <a:t>Hybrid/Inter</a:t>
              </a:r>
              <a:br>
                <a:rPr kumimoji="0" lang="en-AU" sz="1600" b="1" i="0" u="none" strike="noStrike" kern="0" cap="none" spc="0" normalizeH="0" baseline="0" noProof="0" dirty="0">
                  <a:ln>
                    <a:noFill/>
                  </a:ln>
                  <a:solidFill>
                    <a:srgbClr val="FFFFFF"/>
                  </a:solidFill>
                  <a:effectLst/>
                  <a:uLnTx/>
                  <a:uFillTx/>
                  <a:latin typeface="Verdana"/>
                  <a:ea typeface="SimSun" panose="02010600030101010101" pitchFamily="2" charset="-122"/>
                  <a:cs typeface="Tahoma"/>
                </a:rPr>
              </a:br>
              <a:r>
                <a:rPr kumimoji="0" lang="en-AU" sz="1600" b="1" i="0" u="none" strike="noStrike" kern="0" cap="none" spc="0" normalizeH="0" baseline="0" noProof="0" dirty="0">
                  <a:ln>
                    <a:noFill/>
                  </a:ln>
                  <a:solidFill>
                    <a:srgbClr val="FFFFFF"/>
                  </a:solidFill>
                  <a:effectLst/>
                  <a:uLnTx/>
                  <a:uFillTx/>
                  <a:latin typeface="Verdana"/>
                  <a:ea typeface="SimSun" panose="02010600030101010101" pitchFamily="2" charset="-122"/>
                  <a:cs typeface="Tahoma"/>
                </a:rPr>
                <a:t>Clouds</a:t>
              </a:r>
              <a:endParaRPr kumimoji="0" lang="en-US" sz="1600" b="1" i="0" u="none" strike="noStrike" kern="0" cap="none" spc="0" normalizeH="0" baseline="0" noProof="0" dirty="0">
                <a:ln>
                  <a:noFill/>
                </a:ln>
                <a:solidFill>
                  <a:srgbClr val="FFFFFF"/>
                </a:solidFill>
                <a:effectLst/>
                <a:uLnTx/>
                <a:uFillTx/>
                <a:latin typeface="Verdana"/>
                <a:ea typeface="SimSun" panose="02010600030101010101" pitchFamily="2" charset="-122"/>
                <a:cs typeface="Tahoma"/>
              </a:endParaRPr>
            </a:p>
          </p:txBody>
        </p:sp>
        <p:sp>
          <p:nvSpPr>
            <p:cNvPr id="60" name="AutoShape 65"/>
            <p:cNvSpPr>
              <a:spLocks noChangeArrowheads="1"/>
            </p:cNvSpPr>
            <p:nvPr/>
          </p:nvSpPr>
          <p:spPr bwMode="auto">
            <a:xfrm>
              <a:off x="6477000" y="3048000"/>
              <a:ext cx="2362200" cy="1752600"/>
            </a:xfrm>
            <a:prstGeom prst="roundRect">
              <a:avLst>
                <a:gd name="adj" fmla="val 16667"/>
              </a:avLst>
            </a:prstGeom>
            <a:solidFill>
              <a:srgbClr val="0000FF"/>
            </a:solidFill>
            <a:ln w="9525" algn="ctr">
              <a:solidFill>
                <a:srgbClr val="000000"/>
              </a:solidFill>
              <a:round/>
              <a:headEnd/>
              <a:tailEnd/>
            </a:ln>
          </p:spPr>
          <p:txBody>
            <a:bodyPr wrap="none" lIns="91380" tIns="45692" rIns="91380" bIns="45692" anchor="ctr"/>
            <a:lstStyle>
              <a:lvl1pPr eaLnBrk="0" hangingPunct="0">
                <a:defRPr sz="1200">
                  <a:solidFill>
                    <a:schemeClr val="tx1"/>
                  </a:solidFill>
                  <a:latin typeface="Verdana" panose="020B0604030504040204" pitchFamily="34" charset="0"/>
                  <a:ea typeface="SimSun" panose="02010600030101010101" pitchFamily="2" charset="-122"/>
                </a:defRPr>
              </a:lvl1pPr>
              <a:lvl2pPr marL="742950" indent="-285750" eaLnBrk="0" hangingPunct="0">
                <a:defRPr sz="1200">
                  <a:solidFill>
                    <a:schemeClr val="tx1"/>
                  </a:solidFill>
                  <a:latin typeface="Verdana" panose="020B0604030504040204" pitchFamily="34" charset="0"/>
                  <a:ea typeface="SimSun" panose="02010600030101010101" pitchFamily="2" charset="-122"/>
                </a:defRPr>
              </a:lvl2pPr>
              <a:lvl3pPr marL="1143000" indent="-228600" eaLnBrk="0" hangingPunct="0">
                <a:defRPr sz="1200">
                  <a:solidFill>
                    <a:schemeClr val="tx1"/>
                  </a:solidFill>
                  <a:latin typeface="Verdana" panose="020B0604030504040204" pitchFamily="34" charset="0"/>
                  <a:ea typeface="SimSun" panose="02010600030101010101" pitchFamily="2" charset="-122"/>
                </a:defRPr>
              </a:lvl3pPr>
              <a:lvl4pPr marL="1600200" indent="-228600" eaLnBrk="0" hangingPunct="0">
                <a:defRPr sz="1200">
                  <a:solidFill>
                    <a:schemeClr val="tx1"/>
                  </a:solidFill>
                  <a:latin typeface="Verdana" panose="020B0604030504040204" pitchFamily="34" charset="0"/>
                  <a:ea typeface="SimSun" panose="02010600030101010101" pitchFamily="2" charset="-122"/>
                </a:defRPr>
              </a:lvl4pPr>
              <a:lvl5pPr marL="2057400" indent="-228600" eaLnBrk="0" hangingPunct="0">
                <a:defRPr sz="1200">
                  <a:solidFill>
                    <a:schemeClr val="tx1"/>
                  </a:solidFill>
                  <a:latin typeface="Verdan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200">
                  <a:solidFill>
                    <a:schemeClr val="tx1"/>
                  </a:solidFill>
                  <a:latin typeface="Verdana" panose="020B0604030504040204" pitchFamily="34" charset="0"/>
                  <a:ea typeface="SimSun"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Mixed usage of </a:t>
              </a:r>
              <a:b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private and public </a:t>
              </a:r>
              <a:b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Clouds: Leasing public</a:t>
              </a:r>
              <a:b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cloud services</a:t>
              </a:r>
              <a:b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when private cloud </a:t>
              </a:r>
              <a:b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capacity is </a:t>
              </a:r>
              <a:b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br>
              <a:r>
                <a:rPr kumimoji="0" lang="en-AU" altLang="en-US" sz="1400" b="1" i="0" u="none" strike="noStrike" kern="0" cap="none" spc="0" normalizeH="0" baseline="0" noProof="0">
                  <a:ln>
                    <a:noFill/>
                  </a:ln>
                  <a:solidFill>
                    <a:srgbClr val="FFFFFF"/>
                  </a:solidFill>
                  <a:effectLst/>
                  <a:uLnTx/>
                  <a:uFillTx/>
                  <a:latin typeface="Verdana" panose="020B0604030504040204" pitchFamily="34" charset="0"/>
                  <a:ea typeface="SimSun" panose="02010600030101010101" pitchFamily="2" charset="-122"/>
                  <a:cs typeface="Tahoma"/>
                </a:rPr>
                <a:t>insufficient</a:t>
              </a:r>
            </a:p>
          </p:txBody>
        </p:sp>
      </p:grpSp>
      <p:sp>
        <p:nvSpPr>
          <p:cNvPr id="75" name="Rectangle 4"/>
          <p:cNvSpPr txBox="1">
            <a:spLocks noChangeArrowheads="1"/>
          </p:cNvSpPr>
          <p:nvPr/>
        </p:nvSpPr>
        <p:spPr bwMode="auto">
          <a:xfrm>
            <a:off x="2635875" y="177800"/>
            <a:ext cx="77247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0" tIns="45692" rIns="91380" bIns="45692" numCol="1" anchor="ctr" anchorCtr="0" compatLnSpc="1">
            <a:prstTxWarp prst="textNoShape">
              <a:avLst/>
            </a:prstTxWarp>
          </a:bodyPr>
          <a:lstStyle>
            <a:lvl1pPr algn="ctr" rtl="0" eaLnBrk="0" fontAlgn="base" hangingPunct="0">
              <a:spcBef>
                <a:spcPct val="0"/>
              </a:spcBef>
              <a:spcAft>
                <a:spcPct val="0"/>
              </a:spcAft>
              <a:defRPr sz="3600">
                <a:solidFill>
                  <a:srgbClr val="FFFF00"/>
                </a:solidFill>
                <a:latin typeface="+mj-lt"/>
                <a:ea typeface="+mj-ea"/>
                <a:cs typeface="+mj-cs"/>
              </a:defRPr>
            </a:lvl1pPr>
            <a:lvl2pPr algn="ctr" rtl="0" eaLnBrk="0" fontAlgn="base" hangingPunct="0">
              <a:spcBef>
                <a:spcPct val="0"/>
              </a:spcBef>
              <a:spcAft>
                <a:spcPct val="0"/>
              </a:spcAft>
              <a:defRPr sz="3600">
                <a:solidFill>
                  <a:srgbClr val="FFFF00"/>
                </a:solidFill>
                <a:latin typeface="Verdana" pitchFamily="34" charset="0"/>
                <a:ea typeface="SimSun" pitchFamily="2" charset="-122"/>
              </a:defRPr>
            </a:lvl2pPr>
            <a:lvl3pPr algn="ctr" rtl="0" eaLnBrk="0" fontAlgn="base" hangingPunct="0">
              <a:spcBef>
                <a:spcPct val="0"/>
              </a:spcBef>
              <a:spcAft>
                <a:spcPct val="0"/>
              </a:spcAft>
              <a:defRPr sz="3600">
                <a:solidFill>
                  <a:srgbClr val="FFFF00"/>
                </a:solidFill>
                <a:latin typeface="Verdana" pitchFamily="34" charset="0"/>
                <a:ea typeface="SimSun" pitchFamily="2" charset="-122"/>
              </a:defRPr>
            </a:lvl3pPr>
            <a:lvl4pPr algn="ctr" rtl="0" eaLnBrk="0" fontAlgn="base" hangingPunct="0">
              <a:spcBef>
                <a:spcPct val="0"/>
              </a:spcBef>
              <a:spcAft>
                <a:spcPct val="0"/>
              </a:spcAft>
              <a:defRPr sz="3600">
                <a:solidFill>
                  <a:srgbClr val="FFFF00"/>
                </a:solidFill>
                <a:latin typeface="Verdana" pitchFamily="34" charset="0"/>
                <a:ea typeface="SimSun" pitchFamily="2" charset="-122"/>
              </a:defRPr>
            </a:lvl4pPr>
            <a:lvl5pPr algn="ctr" rtl="0" eaLnBrk="0" fontAlgn="base" hangingPunct="0">
              <a:spcBef>
                <a:spcPct val="0"/>
              </a:spcBef>
              <a:spcAft>
                <a:spcPct val="0"/>
              </a:spcAft>
              <a:defRPr sz="3600">
                <a:solidFill>
                  <a:srgbClr val="FFFF00"/>
                </a:solidFill>
                <a:latin typeface="Verdana" pitchFamily="34" charset="0"/>
                <a:ea typeface="SimSun" pitchFamily="2" charset="-122"/>
              </a:defRPr>
            </a:lvl5pPr>
            <a:lvl6pPr marL="457200" algn="ctr" rtl="0" fontAlgn="base">
              <a:spcBef>
                <a:spcPct val="0"/>
              </a:spcBef>
              <a:spcAft>
                <a:spcPct val="0"/>
              </a:spcAft>
              <a:defRPr sz="3600">
                <a:solidFill>
                  <a:srgbClr val="FFFF00"/>
                </a:solidFill>
                <a:latin typeface="Verdana" pitchFamily="34" charset="0"/>
                <a:ea typeface="SimSun" pitchFamily="2" charset="-122"/>
              </a:defRPr>
            </a:lvl6pPr>
            <a:lvl7pPr marL="914400" algn="ctr" rtl="0" fontAlgn="base">
              <a:spcBef>
                <a:spcPct val="0"/>
              </a:spcBef>
              <a:spcAft>
                <a:spcPct val="0"/>
              </a:spcAft>
              <a:defRPr sz="3600">
                <a:solidFill>
                  <a:srgbClr val="FFFF00"/>
                </a:solidFill>
                <a:latin typeface="Verdana" pitchFamily="34" charset="0"/>
                <a:ea typeface="SimSun" pitchFamily="2" charset="-122"/>
              </a:defRPr>
            </a:lvl7pPr>
            <a:lvl8pPr marL="1371600" algn="ctr" rtl="0" fontAlgn="base">
              <a:spcBef>
                <a:spcPct val="0"/>
              </a:spcBef>
              <a:spcAft>
                <a:spcPct val="0"/>
              </a:spcAft>
              <a:defRPr sz="3600">
                <a:solidFill>
                  <a:srgbClr val="FFFF00"/>
                </a:solidFill>
                <a:latin typeface="Verdana" pitchFamily="34" charset="0"/>
                <a:ea typeface="SimSun" pitchFamily="2" charset="-122"/>
              </a:defRPr>
            </a:lvl8pPr>
            <a:lvl9pPr marL="1828800" algn="ctr" rtl="0" fontAlgn="base">
              <a:spcBef>
                <a:spcPct val="0"/>
              </a:spcBef>
              <a:spcAft>
                <a:spcPct val="0"/>
              </a:spcAft>
              <a:defRPr sz="3600">
                <a:solidFill>
                  <a:srgbClr val="FFFF00"/>
                </a:solidFill>
                <a:latin typeface="Verdana" pitchFamily="34" charset="0"/>
                <a:ea typeface="SimSun"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AU" altLang="en-US" sz="3200" b="0" i="0" u="none" strike="noStrike" kern="0" cap="none" spc="0" normalizeH="0" baseline="0" noProof="0">
                <a:ln>
                  <a:noFill/>
                </a:ln>
                <a:solidFill>
                  <a:srgbClr val="FFFF00"/>
                </a:solidFill>
                <a:effectLst/>
                <a:uLnTx/>
                <a:uFillTx/>
                <a:latin typeface="Verdana"/>
                <a:ea typeface="SimSun"/>
                <a:cs typeface="+mj-cs"/>
              </a:rPr>
              <a:t>Cloud Deployment Models</a:t>
            </a:r>
            <a:endParaRPr kumimoji="0" lang="en-US" altLang="en-US" sz="3200" b="0" i="0" u="none" strike="noStrike" kern="0" cap="none" spc="0" normalizeH="0" baseline="0" noProof="0" dirty="0">
              <a:ln>
                <a:noFill/>
              </a:ln>
              <a:solidFill>
                <a:srgbClr val="FFFF00"/>
              </a:solidFill>
              <a:effectLst/>
              <a:uLnTx/>
              <a:uFillTx/>
              <a:latin typeface="Verdana"/>
              <a:ea typeface="SimSun"/>
              <a:cs typeface="+mj-cs"/>
            </a:endParaRPr>
          </a:p>
        </p:txBody>
      </p:sp>
      <p:sp>
        <p:nvSpPr>
          <p:cNvPr id="3" name="Slide Number Placeholder 2"/>
          <p:cNvSpPr>
            <a:spLocks noGrp="1"/>
          </p:cNvSpPr>
          <p:nvPr>
            <p:ph type="sldNum" sz="quarter" idx="12"/>
          </p:nvPr>
        </p:nvSpPr>
        <p:spPr/>
        <p:txBody>
          <a:bodyPr/>
          <a:lstStyle/>
          <a:p>
            <a:fld id="{2019AD06-451C-413E-AF31-86503C137FDF}" type="slidenum">
              <a:rPr lang="en-US" smtClean="0"/>
              <a:pPr/>
              <a:t>9</a:t>
            </a:fld>
            <a:endParaRPr lang="en-US"/>
          </a:p>
        </p:txBody>
      </p:sp>
    </p:spTree>
    <p:extLst>
      <p:ext uri="{BB962C8B-B14F-4D97-AF65-F5344CB8AC3E}">
        <p14:creationId xmlns:p14="http://schemas.microsoft.com/office/powerpoint/2010/main" val="637542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2"/>
          <p:cNvSpPr>
            <a:spLocks noGrp="1"/>
          </p:cNvSpPr>
          <p:nvPr>
            <p:ph type="title"/>
          </p:nvPr>
        </p:nvSpPr>
        <p:spPr>
          <a:xfrm>
            <a:off x="0" y="6456"/>
            <a:ext cx="12192000" cy="1325563"/>
          </a:xfrm>
          <a:solidFill>
            <a:schemeClr val="accent5"/>
          </a:solidFill>
        </p:spPr>
        <p:txBody>
          <a:bodyPr/>
          <a:lstStyle/>
          <a:p>
            <a:r>
              <a:rPr lang="en-AU" altLang="en-US" sz="3600" kern="0" dirty="0">
                <a:solidFill>
                  <a:srgbClr val="FFFF00"/>
                </a:solidFill>
                <a:latin typeface="Verdana"/>
                <a:ea typeface="SimSun"/>
              </a:rPr>
              <a:t>                 </a:t>
            </a:r>
            <a:endParaRPr lang="en-AU" altLang="en-US" dirty="0">
              <a:latin typeface="Verdana" panose="020B0604030504040204" pitchFamily="34" charset="0"/>
              <a:ea typeface="Verdana" panose="020B0604030504040204" pitchFamily="34" charset="0"/>
              <a:cs typeface="Verdana" panose="020B0604030504040204" pitchFamily="34" charset="0"/>
            </a:endParaRPr>
          </a:p>
        </p:txBody>
      </p:sp>
      <p:sp>
        <p:nvSpPr>
          <p:cNvPr id="77" name="Title 1"/>
          <p:cNvSpPr txBox="1">
            <a:spLocks/>
          </p:cNvSpPr>
          <p:nvPr/>
        </p:nvSpPr>
        <p:spPr bwMode="auto">
          <a:xfrm>
            <a:off x="1094704" y="177800"/>
            <a:ext cx="9337183"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0" tIns="45692" rIns="91380" bIns="45692" numCol="1" anchor="ctr" anchorCtr="0" compatLnSpc="1">
            <a:prstTxWarp prst="textNoShape">
              <a:avLst/>
            </a:prstTxWarp>
          </a:bodyPr>
          <a:lstStyle>
            <a:lvl1pPr algn="ctr" rtl="0" eaLnBrk="0" fontAlgn="base" hangingPunct="0">
              <a:spcBef>
                <a:spcPct val="0"/>
              </a:spcBef>
              <a:spcAft>
                <a:spcPct val="0"/>
              </a:spcAft>
              <a:defRPr sz="3600">
                <a:solidFill>
                  <a:srgbClr val="FFFF00"/>
                </a:solidFill>
                <a:latin typeface="+mj-lt"/>
                <a:ea typeface="+mj-ea"/>
                <a:cs typeface="+mj-cs"/>
              </a:defRPr>
            </a:lvl1pPr>
            <a:lvl2pPr algn="ctr" rtl="0" eaLnBrk="0" fontAlgn="base" hangingPunct="0">
              <a:spcBef>
                <a:spcPct val="0"/>
              </a:spcBef>
              <a:spcAft>
                <a:spcPct val="0"/>
              </a:spcAft>
              <a:defRPr sz="3600">
                <a:solidFill>
                  <a:srgbClr val="FFFF00"/>
                </a:solidFill>
                <a:latin typeface="Verdana" pitchFamily="34" charset="0"/>
                <a:ea typeface="SimSun" pitchFamily="2" charset="-122"/>
              </a:defRPr>
            </a:lvl2pPr>
            <a:lvl3pPr algn="ctr" rtl="0" eaLnBrk="0" fontAlgn="base" hangingPunct="0">
              <a:spcBef>
                <a:spcPct val="0"/>
              </a:spcBef>
              <a:spcAft>
                <a:spcPct val="0"/>
              </a:spcAft>
              <a:defRPr sz="3600">
                <a:solidFill>
                  <a:srgbClr val="FFFF00"/>
                </a:solidFill>
                <a:latin typeface="Verdana" pitchFamily="34" charset="0"/>
                <a:ea typeface="SimSun" pitchFamily="2" charset="-122"/>
              </a:defRPr>
            </a:lvl3pPr>
            <a:lvl4pPr algn="ctr" rtl="0" eaLnBrk="0" fontAlgn="base" hangingPunct="0">
              <a:spcBef>
                <a:spcPct val="0"/>
              </a:spcBef>
              <a:spcAft>
                <a:spcPct val="0"/>
              </a:spcAft>
              <a:defRPr sz="3600">
                <a:solidFill>
                  <a:srgbClr val="FFFF00"/>
                </a:solidFill>
                <a:latin typeface="Verdana" pitchFamily="34" charset="0"/>
                <a:ea typeface="SimSun" pitchFamily="2" charset="-122"/>
              </a:defRPr>
            </a:lvl4pPr>
            <a:lvl5pPr algn="ctr" rtl="0" eaLnBrk="0" fontAlgn="base" hangingPunct="0">
              <a:spcBef>
                <a:spcPct val="0"/>
              </a:spcBef>
              <a:spcAft>
                <a:spcPct val="0"/>
              </a:spcAft>
              <a:defRPr sz="3600">
                <a:solidFill>
                  <a:srgbClr val="FFFF00"/>
                </a:solidFill>
                <a:latin typeface="Verdana" pitchFamily="34" charset="0"/>
                <a:ea typeface="SimSun" pitchFamily="2" charset="-122"/>
              </a:defRPr>
            </a:lvl5pPr>
            <a:lvl6pPr marL="457200" algn="ctr" rtl="0" fontAlgn="base">
              <a:spcBef>
                <a:spcPct val="0"/>
              </a:spcBef>
              <a:spcAft>
                <a:spcPct val="0"/>
              </a:spcAft>
              <a:defRPr sz="3600">
                <a:solidFill>
                  <a:srgbClr val="FFFF00"/>
                </a:solidFill>
                <a:latin typeface="Verdana" pitchFamily="34" charset="0"/>
                <a:ea typeface="SimSun" pitchFamily="2" charset="-122"/>
              </a:defRPr>
            </a:lvl6pPr>
            <a:lvl7pPr marL="914400" algn="ctr" rtl="0" fontAlgn="base">
              <a:spcBef>
                <a:spcPct val="0"/>
              </a:spcBef>
              <a:spcAft>
                <a:spcPct val="0"/>
              </a:spcAft>
              <a:defRPr sz="3600">
                <a:solidFill>
                  <a:srgbClr val="FFFF00"/>
                </a:solidFill>
                <a:latin typeface="Verdana" pitchFamily="34" charset="0"/>
                <a:ea typeface="SimSun" pitchFamily="2" charset="-122"/>
              </a:defRPr>
            </a:lvl7pPr>
            <a:lvl8pPr marL="1371600" algn="ctr" rtl="0" fontAlgn="base">
              <a:spcBef>
                <a:spcPct val="0"/>
              </a:spcBef>
              <a:spcAft>
                <a:spcPct val="0"/>
              </a:spcAft>
              <a:defRPr sz="3600">
                <a:solidFill>
                  <a:srgbClr val="FFFF00"/>
                </a:solidFill>
                <a:latin typeface="Verdana" pitchFamily="34" charset="0"/>
                <a:ea typeface="SimSun" pitchFamily="2" charset="-122"/>
              </a:defRPr>
            </a:lvl8pPr>
            <a:lvl9pPr marL="1828800" algn="ctr" rtl="0" fontAlgn="base">
              <a:spcBef>
                <a:spcPct val="0"/>
              </a:spcBef>
              <a:spcAft>
                <a:spcPct val="0"/>
              </a:spcAft>
              <a:defRPr sz="3600">
                <a:solidFill>
                  <a:srgbClr val="FFFF00"/>
                </a:solidFill>
                <a:latin typeface="Verdana" pitchFamily="34" charset="0"/>
                <a:ea typeface="SimSun"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AU" altLang="en-US" kern="0" noProof="0" dirty="0">
                <a:latin typeface="Verdana"/>
                <a:ea typeface="SimSun"/>
              </a:rPr>
              <a:t>Responsibilities of each stake holder</a:t>
            </a:r>
            <a:endParaRPr kumimoji="0" lang="en-AU" altLang="en-US" sz="3600" b="0" i="0" u="none" strike="noStrike" kern="0" cap="none" spc="0" normalizeH="0" baseline="0" noProof="0" dirty="0">
              <a:ln>
                <a:noFill/>
              </a:ln>
              <a:solidFill>
                <a:srgbClr val="FFFF00"/>
              </a:solidFill>
              <a:effectLst/>
              <a:uLnTx/>
              <a:uFillTx/>
              <a:latin typeface="Verdana"/>
              <a:ea typeface="SimSun"/>
              <a:cs typeface="+mj-cs"/>
            </a:endParaRPr>
          </a:p>
        </p:txBody>
      </p:sp>
      <p:sp>
        <p:nvSpPr>
          <p:cNvPr id="3" name="Slide Number Placeholder 2"/>
          <p:cNvSpPr>
            <a:spLocks noGrp="1"/>
          </p:cNvSpPr>
          <p:nvPr>
            <p:ph type="sldNum" sz="quarter" idx="12"/>
          </p:nvPr>
        </p:nvSpPr>
        <p:spPr/>
        <p:txBody>
          <a:bodyPr/>
          <a:lstStyle/>
          <a:p>
            <a:fld id="{2019AD06-451C-413E-AF31-86503C137FDF}" type="slidenum">
              <a:rPr lang="en-US" smtClean="0"/>
              <a:pPr/>
              <a:t>10</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7437" y="1334999"/>
            <a:ext cx="8114763" cy="5021351"/>
          </a:xfrm>
          <a:prstGeom prst="rect">
            <a:avLst/>
          </a:prstGeom>
        </p:spPr>
      </p:pic>
      <p:sp>
        <p:nvSpPr>
          <p:cNvPr id="6" name="TextBox 5"/>
          <p:cNvSpPr txBox="1"/>
          <p:nvPr/>
        </p:nvSpPr>
        <p:spPr>
          <a:xfrm>
            <a:off x="1867437" y="6536809"/>
            <a:ext cx="8255357" cy="369332"/>
          </a:xfrm>
          <a:prstGeom prst="rect">
            <a:avLst/>
          </a:prstGeom>
          <a:noFill/>
        </p:spPr>
        <p:txBody>
          <a:bodyPr wrap="square" rtlCol="0">
            <a:spAutoFit/>
          </a:bodyPr>
          <a:lstStyle/>
          <a:p>
            <a:r>
              <a:rPr lang="en-US"/>
              <a:t>Credit:http</a:t>
            </a:r>
            <a:r>
              <a:rPr lang="en-US" dirty="0"/>
              <a:t>://robertgreiner.com/2014/03/windows-azure-</a:t>
            </a:r>
            <a:r>
              <a:rPr lang="en-US" dirty="0" err="1"/>
              <a:t>iaas</a:t>
            </a:r>
            <a:r>
              <a:rPr lang="en-US" dirty="0"/>
              <a:t>-</a:t>
            </a:r>
            <a:r>
              <a:rPr lang="en-US" dirty="0" err="1"/>
              <a:t>paas</a:t>
            </a:r>
            <a:r>
              <a:rPr lang="en-US" dirty="0"/>
              <a:t>-</a:t>
            </a:r>
            <a:r>
              <a:rPr lang="en-US" dirty="0" err="1"/>
              <a:t>saas</a:t>
            </a:r>
            <a:r>
              <a:rPr lang="en-US" dirty="0"/>
              <a:t>-overview/</a:t>
            </a:r>
          </a:p>
        </p:txBody>
      </p:sp>
    </p:spTree>
    <p:extLst>
      <p:ext uri="{BB962C8B-B14F-4D97-AF65-F5344CB8AC3E}">
        <p14:creationId xmlns:p14="http://schemas.microsoft.com/office/powerpoint/2010/main" val="1053933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2"/>
          <p:cNvSpPr>
            <a:spLocks noGrp="1"/>
          </p:cNvSpPr>
          <p:nvPr>
            <p:ph type="title"/>
          </p:nvPr>
        </p:nvSpPr>
        <p:spPr>
          <a:xfrm>
            <a:off x="0" y="5624"/>
            <a:ext cx="12192000" cy="1325563"/>
          </a:xfrm>
          <a:solidFill>
            <a:schemeClr val="accent5"/>
          </a:solidFill>
        </p:spPr>
        <p:txBody>
          <a:bodyPr/>
          <a:lstStyle/>
          <a:p>
            <a:r>
              <a:rPr lang="en-AU" altLang="en-US" dirty="0">
                <a:latin typeface="Verdana" panose="020B0604030504040204" pitchFamily="34" charset="0"/>
                <a:ea typeface="Verdana" panose="020B0604030504040204" pitchFamily="34" charset="0"/>
                <a:cs typeface="Verdana" panose="020B0604030504040204" pitchFamily="34" charset="0"/>
              </a:rPr>
              <a:t>.</a:t>
            </a:r>
          </a:p>
        </p:txBody>
      </p:sp>
      <p:sp>
        <p:nvSpPr>
          <p:cNvPr id="7" name="Rectangle 2"/>
          <p:cNvSpPr txBox="1">
            <a:spLocks noChangeArrowheads="1"/>
          </p:cNvSpPr>
          <p:nvPr/>
        </p:nvSpPr>
        <p:spPr bwMode="auto">
          <a:xfrm>
            <a:off x="1219200" y="177800"/>
            <a:ext cx="77247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0" tIns="45692" rIns="91380" bIns="45692" numCol="1" anchor="ctr" anchorCtr="0" compatLnSpc="1">
            <a:prstTxWarp prst="textNoShape">
              <a:avLst/>
            </a:prstTxWarp>
          </a:bodyPr>
          <a:lstStyle>
            <a:lvl1pPr algn="ctr" rtl="0" eaLnBrk="0" fontAlgn="base" hangingPunct="0">
              <a:spcBef>
                <a:spcPct val="0"/>
              </a:spcBef>
              <a:spcAft>
                <a:spcPct val="0"/>
              </a:spcAft>
              <a:defRPr sz="3600">
                <a:solidFill>
                  <a:srgbClr val="FFFF00"/>
                </a:solidFill>
                <a:latin typeface="+mj-lt"/>
                <a:ea typeface="+mj-ea"/>
                <a:cs typeface="+mj-cs"/>
              </a:defRPr>
            </a:lvl1pPr>
            <a:lvl2pPr algn="ctr" rtl="0" eaLnBrk="0" fontAlgn="base" hangingPunct="0">
              <a:spcBef>
                <a:spcPct val="0"/>
              </a:spcBef>
              <a:spcAft>
                <a:spcPct val="0"/>
              </a:spcAft>
              <a:defRPr sz="3600">
                <a:solidFill>
                  <a:srgbClr val="FFFF00"/>
                </a:solidFill>
                <a:latin typeface="Verdana" pitchFamily="34" charset="0"/>
                <a:ea typeface="SimSun" pitchFamily="2" charset="-122"/>
              </a:defRPr>
            </a:lvl2pPr>
            <a:lvl3pPr algn="ctr" rtl="0" eaLnBrk="0" fontAlgn="base" hangingPunct="0">
              <a:spcBef>
                <a:spcPct val="0"/>
              </a:spcBef>
              <a:spcAft>
                <a:spcPct val="0"/>
              </a:spcAft>
              <a:defRPr sz="3600">
                <a:solidFill>
                  <a:srgbClr val="FFFF00"/>
                </a:solidFill>
                <a:latin typeface="Verdana" pitchFamily="34" charset="0"/>
                <a:ea typeface="SimSun" pitchFamily="2" charset="-122"/>
              </a:defRPr>
            </a:lvl3pPr>
            <a:lvl4pPr algn="ctr" rtl="0" eaLnBrk="0" fontAlgn="base" hangingPunct="0">
              <a:spcBef>
                <a:spcPct val="0"/>
              </a:spcBef>
              <a:spcAft>
                <a:spcPct val="0"/>
              </a:spcAft>
              <a:defRPr sz="3600">
                <a:solidFill>
                  <a:srgbClr val="FFFF00"/>
                </a:solidFill>
                <a:latin typeface="Verdana" pitchFamily="34" charset="0"/>
                <a:ea typeface="SimSun" pitchFamily="2" charset="-122"/>
              </a:defRPr>
            </a:lvl4pPr>
            <a:lvl5pPr algn="ctr" rtl="0" eaLnBrk="0" fontAlgn="base" hangingPunct="0">
              <a:spcBef>
                <a:spcPct val="0"/>
              </a:spcBef>
              <a:spcAft>
                <a:spcPct val="0"/>
              </a:spcAft>
              <a:defRPr sz="3600">
                <a:solidFill>
                  <a:srgbClr val="FFFF00"/>
                </a:solidFill>
                <a:latin typeface="Verdana" pitchFamily="34" charset="0"/>
                <a:ea typeface="SimSun" pitchFamily="2" charset="-122"/>
              </a:defRPr>
            </a:lvl5pPr>
            <a:lvl6pPr marL="457200" algn="ctr" rtl="0" fontAlgn="base">
              <a:spcBef>
                <a:spcPct val="0"/>
              </a:spcBef>
              <a:spcAft>
                <a:spcPct val="0"/>
              </a:spcAft>
              <a:defRPr sz="3600">
                <a:solidFill>
                  <a:srgbClr val="FFFF00"/>
                </a:solidFill>
                <a:latin typeface="Verdana" pitchFamily="34" charset="0"/>
                <a:ea typeface="SimSun" pitchFamily="2" charset="-122"/>
              </a:defRPr>
            </a:lvl6pPr>
            <a:lvl7pPr marL="914400" algn="ctr" rtl="0" fontAlgn="base">
              <a:spcBef>
                <a:spcPct val="0"/>
              </a:spcBef>
              <a:spcAft>
                <a:spcPct val="0"/>
              </a:spcAft>
              <a:defRPr sz="3600">
                <a:solidFill>
                  <a:srgbClr val="FFFF00"/>
                </a:solidFill>
                <a:latin typeface="Verdana" pitchFamily="34" charset="0"/>
                <a:ea typeface="SimSun" pitchFamily="2" charset="-122"/>
              </a:defRPr>
            </a:lvl7pPr>
            <a:lvl8pPr marL="1371600" algn="ctr" rtl="0" fontAlgn="base">
              <a:spcBef>
                <a:spcPct val="0"/>
              </a:spcBef>
              <a:spcAft>
                <a:spcPct val="0"/>
              </a:spcAft>
              <a:defRPr sz="3600">
                <a:solidFill>
                  <a:srgbClr val="FFFF00"/>
                </a:solidFill>
                <a:latin typeface="Verdana" pitchFamily="34" charset="0"/>
                <a:ea typeface="SimSun" pitchFamily="2" charset="-122"/>
              </a:defRPr>
            </a:lvl8pPr>
            <a:lvl9pPr marL="1828800" algn="ctr" rtl="0" fontAlgn="base">
              <a:spcBef>
                <a:spcPct val="0"/>
              </a:spcBef>
              <a:spcAft>
                <a:spcPct val="0"/>
              </a:spcAft>
              <a:defRPr sz="3600">
                <a:solidFill>
                  <a:srgbClr val="FFFF00"/>
                </a:solidFill>
                <a:latin typeface="Verdana" pitchFamily="34" charset="0"/>
                <a:ea typeface="SimSun"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3200" b="0" i="0" u="none" strike="noStrike" kern="0" cap="none" spc="0" normalizeH="0" baseline="0" noProof="0" dirty="0">
                <a:ln>
                  <a:noFill/>
                </a:ln>
                <a:solidFill>
                  <a:srgbClr val="FFFF00"/>
                </a:solidFill>
                <a:effectLst/>
                <a:uLnTx/>
                <a:uFillTx/>
                <a:latin typeface="Verdana"/>
                <a:ea typeface="SimSun"/>
                <a:cs typeface="+mj-cs"/>
              </a:rPr>
              <a:t>Enabling</a:t>
            </a:r>
            <a:r>
              <a:rPr kumimoji="0" lang="en-US" altLang="en-US" sz="3200" b="0" i="0" u="none" strike="noStrike" kern="0" cap="none" spc="0" normalizeH="0" noProof="0" dirty="0">
                <a:ln>
                  <a:noFill/>
                </a:ln>
                <a:solidFill>
                  <a:srgbClr val="FFFF00"/>
                </a:solidFill>
                <a:effectLst/>
                <a:uLnTx/>
                <a:uFillTx/>
                <a:latin typeface="Verdana"/>
                <a:ea typeface="SimSun"/>
                <a:cs typeface="+mj-cs"/>
              </a:rPr>
              <a:t> Technologies for cloud</a:t>
            </a:r>
            <a:endParaRPr kumimoji="0" lang="en-US" altLang="en-US" sz="3200" b="0" i="0" u="none" strike="noStrike" kern="0" cap="none" spc="0" normalizeH="0" baseline="0" noProof="0" dirty="0">
              <a:ln>
                <a:noFill/>
              </a:ln>
              <a:solidFill>
                <a:srgbClr val="FFFF00"/>
              </a:solidFill>
              <a:effectLst/>
              <a:uLnTx/>
              <a:uFillTx/>
              <a:latin typeface="Verdana"/>
              <a:ea typeface="SimSun"/>
              <a:cs typeface="+mj-cs"/>
            </a:endParaRPr>
          </a:p>
        </p:txBody>
      </p:sp>
      <p:sp>
        <p:nvSpPr>
          <p:cNvPr id="2" name="TextBox 1"/>
          <p:cNvSpPr txBox="1"/>
          <p:nvPr/>
        </p:nvSpPr>
        <p:spPr>
          <a:xfrm>
            <a:off x="940159" y="1466095"/>
            <a:ext cx="7212168" cy="1754326"/>
          </a:xfrm>
          <a:prstGeom prst="rect">
            <a:avLst/>
          </a:prstGeom>
          <a:noFill/>
        </p:spPr>
        <p:txBody>
          <a:bodyPr wrap="square" rtlCol="0">
            <a:spAutoFit/>
          </a:bodyPr>
          <a:lstStyle/>
          <a:p>
            <a:pPr marL="342900" indent="-342900">
              <a:buClr>
                <a:srgbClr val="FF0000"/>
              </a:buClr>
              <a:buFont typeface="Wingdings" panose="05000000000000000000" pitchFamily="2" charset="2"/>
              <a:buChar char="q"/>
            </a:pPr>
            <a:r>
              <a:rPr lang="en-US" sz="5400" dirty="0">
                <a:latin typeface="Verdana" panose="020B0604030504040204" pitchFamily="34" charset="0"/>
                <a:ea typeface="Verdana" panose="020B0604030504040204" pitchFamily="34" charset="0"/>
                <a:cs typeface="Verdana" panose="020B0604030504040204" pitchFamily="34" charset="0"/>
              </a:rPr>
              <a:t>Virtualization </a:t>
            </a:r>
            <a:r>
              <a:rPr lang="en-US" sz="1000" dirty="0">
                <a:latin typeface="Verdana" panose="020B0604030504040204" pitchFamily="34" charset="0"/>
                <a:ea typeface="Verdana" panose="020B0604030504040204" pitchFamily="34" charset="0"/>
                <a:cs typeface="Verdana" panose="020B0604030504040204" pitchFamily="34" charset="0"/>
                <a:hlinkClick r:id="rId2" action="ppaction://hlinkpres?slideindex=1&amp;slidetitle="/>
              </a:rPr>
              <a:t>Virtualization.ppt</a:t>
            </a:r>
            <a:r>
              <a:rPr lang="en-US" sz="1000" dirty="0">
                <a:latin typeface="Verdana" panose="020B0604030504040204" pitchFamily="34" charset="0"/>
                <a:ea typeface="Verdana" panose="020B0604030504040204" pitchFamily="34" charset="0"/>
                <a:cs typeface="Verdana" panose="020B0604030504040204" pitchFamily="34" charset="0"/>
              </a:rPr>
              <a:t> </a:t>
            </a:r>
          </a:p>
          <a:p>
            <a:pPr marL="342900" indent="-342900">
              <a:buClr>
                <a:srgbClr val="FF0000"/>
              </a:buClr>
              <a:buFont typeface="Wingdings" panose="05000000000000000000" pitchFamily="2" charset="2"/>
              <a:buChar char="q"/>
            </a:pPr>
            <a:endParaRPr lang="en-US" sz="5400" dirty="0">
              <a:latin typeface="Verdana" panose="020B0604030504040204" pitchFamily="34" charset="0"/>
              <a:ea typeface="Verdana" panose="020B0604030504040204" pitchFamily="34" charset="0"/>
              <a:cs typeface="Verdana" panose="020B0604030504040204" pitchFamily="34" charset="0"/>
            </a:endParaRPr>
          </a:p>
        </p:txBody>
      </p:sp>
      <p:sp>
        <p:nvSpPr>
          <p:cNvPr id="50" name="TextBox 49"/>
          <p:cNvSpPr txBox="1"/>
          <p:nvPr/>
        </p:nvSpPr>
        <p:spPr>
          <a:xfrm>
            <a:off x="940159" y="2343258"/>
            <a:ext cx="9788325" cy="3416320"/>
          </a:xfrm>
          <a:prstGeom prst="rect">
            <a:avLst/>
          </a:prstGeom>
          <a:noFill/>
        </p:spPr>
        <p:txBody>
          <a:bodyPr wrap="square" rtlCol="0">
            <a:spAutoFit/>
          </a:bodyPr>
          <a:lstStyle/>
          <a:p>
            <a:pPr marL="342900" indent="-342900">
              <a:buClr>
                <a:srgbClr val="FF0000"/>
              </a:buClr>
              <a:buFont typeface="Wingdings" panose="05000000000000000000" pitchFamily="2" charset="2"/>
              <a:buChar char="q"/>
            </a:pPr>
            <a:r>
              <a:rPr lang="en-US" sz="5400" dirty="0">
                <a:latin typeface="Verdana" panose="020B0604030504040204" pitchFamily="34" charset="0"/>
                <a:ea typeface="Verdana" panose="020B0604030504040204" pitchFamily="34" charset="0"/>
                <a:cs typeface="Verdana" panose="020B0604030504040204" pitchFamily="34" charset="0"/>
              </a:rPr>
              <a:t>Distributed Computing</a:t>
            </a:r>
          </a:p>
          <a:p>
            <a:pPr lvl="1">
              <a:buClr>
                <a:srgbClr val="FF0000"/>
              </a:buClr>
            </a:pPr>
            <a:endParaRPr lang="en-US" sz="5400" dirty="0">
              <a:latin typeface="Verdana" panose="020B0604030504040204" pitchFamily="34" charset="0"/>
              <a:ea typeface="Verdana" panose="020B0604030504040204" pitchFamily="34" charset="0"/>
              <a:cs typeface="Verdana" panose="020B0604030504040204" pitchFamily="34" charset="0"/>
            </a:endParaRPr>
          </a:p>
          <a:p>
            <a:pPr lvl="1">
              <a:buClr>
                <a:srgbClr val="FF0000"/>
              </a:buClr>
            </a:pPr>
            <a:endParaRPr lang="en-US" sz="5400" dirty="0">
              <a:latin typeface="Verdana" panose="020B0604030504040204" pitchFamily="34" charset="0"/>
              <a:ea typeface="Verdana" panose="020B0604030504040204" pitchFamily="34" charset="0"/>
              <a:cs typeface="Verdana" panose="020B0604030504040204" pitchFamily="34" charset="0"/>
            </a:endParaRPr>
          </a:p>
          <a:p>
            <a:pPr marL="342900" indent="-342900">
              <a:buClr>
                <a:srgbClr val="FF0000"/>
              </a:buClr>
              <a:buFont typeface="Wingdings" panose="05000000000000000000" pitchFamily="2" charset="2"/>
              <a:buChar char="q"/>
            </a:pPr>
            <a:endParaRPr lang="en-US" sz="5400" dirty="0">
              <a:latin typeface="Verdana" panose="020B0604030504040204" pitchFamily="34" charset="0"/>
              <a:ea typeface="Verdana" panose="020B0604030504040204" pitchFamily="34" charset="0"/>
              <a:cs typeface="Verdana" panose="020B0604030504040204" pitchFamily="34" charset="0"/>
            </a:endParaRPr>
          </a:p>
        </p:txBody>
      </p:sp>
      <p:sp>
        <p:nvSpPr>
          <p:cNvPr id="3" name="TextBox 2"/>
          <p:cNvSpPr txBox="1"/>
          <p:nvPr/>
        </p:nvSpPr>
        <p:spPr>
          <a:xfrm>
            <a:off x="1893195" y="3281294"/>
            <a:ext cx="2279560" cy="646331"/>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
            </a:pPr>
            <a:r>
              <a:rPr lang="en-US" dirty="0">
                <a:solidFill>
                  <a:srgbClr val="FF0000"/>
                </a:solidFill>
                <a:latin typeface="Verdana" panose="020B0604030504040204" pitchFamily="34" charset="0"/>
                <a:ea typeface="Verdana" panose="020B0604030504040204" pitchFamily="34" charset="0"/>
                <a:cs typeface="Verdana" panose="020B0604030504040204" pitchFamily="34" charset="0"/>
              </a:rPr>
              <a:t>Mainframes</a:t>
            </a:r>
          </a:p>
          <a:p>
            <a:pPr>
              <a:buClr>
                <a:schemeClr val="accent1">
                  <a:lumMod val="75000"/>
                </a:schemeClr>
              </a:buClr>
            </a:pPr>
            <a:endParaRPr lang="en-US" dirty="0"/>
          </a:p>
        </p:txBody>
      </p:sp>
      <p:sp>
        <p:nvSpPr>
          <p:cNvPr id="4" name="TextBox 3"/>
          <p:cNvSpPr txBox="1"/>
          <p:nvPr/>
        </p:nvSpPr>
        <p:spPr>
          <a:xfrm>
            <a:off x="1873877" y="3799851"/>
            <a:ext cx="2635658" cy="369332"/>
          </a:xfrm>
          <a:prstGeom prst="rect">
            <a:avLst/>
          </a:prstGeom>
          <a:noFill/>
        </p:spPr>
        <p:txBody>
          <a:bodyPr wrap="none" rtlCol="0">
            <a:spAutoFit/>
          </a:bodyPr>
          <a:lstStyle/>
          <a:p>
            <a:pPr marL="285750" indent="-285750">
              <a:buClr>
                <a:schemeClr val="accent1">
                  <a:lumMod val="75000"/>
                </a:schemeClr>
              </a:buClr>
              <a:buFont typeface="Wingdings" panose="05000000000000000000" pitchFamily="2" charset="2"/>
              <a:buChar char="§"/>
            </a:pPr>
            <a:r>
              <a:rPr lang="en-US" dirty="0">
                <a:latin typeface="Verdana" panose="020B0604030504040204" pitchFamily="34" charset="0"/>
                <a:ea typeface="Verdana" panose="020B0604030504040204" pitchFamily="34" charset="0"/>
                <a:cs typeface="Verdana" panose="020B0604030504040204" pitchFamily="34" charset="0"/>
              </a:rPr>
              <a:t>Cluster </a:t>
            </a:r>
            <a:r>
              <a:rPr lang="en-US"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Computing</a:t>
            </a:r>
          </a:p>
        </p:txBody>
      </p:sp>
      <p:sp>
        <p:nvSpPr>
          <p:cNvPr id="52" name="TextBox 51"/>
          <p:cNvSpPr txBox="1"/>
          <p:nvPr/>
        </p:nvSpPr>
        <p:spPr>
          <a:xfrm>
            <a:off x="1870522" y="4290478"/>
            <a:ext cx="2302233" cy="369332"/>
          </a:xfrm>
          <a:prstGeom prst="rect">
            <a:avLst/>
          </a:prstGeom>
          <a:noFill/>
        </p:spPr>
        <p:txBody>
          <a:bodyPr wrap="none" rtlCol="0">
            <a:spAutoFit/>
          </a:bodyPr>
          <a:lstStyle/>
          <a:p>
            <a:pPr marL="285750" indent="-285750">
              <a:buClr>
                <a:schemeClr val="accent1">
                  <a:lumMod val="75000"/>
                </a:schemeClr>
              </a:buClr>
              <a:buFont typeface="Wingdings" panose="05000000000000000000" pitchFamily="2" charset="2"/>
              <a:buChar char="§"/>
            </a:pPr>
            <a:r>
              <a:rPr lang="en-US" dirty="0">
                <a:solidFill>
                  <a:schemeClr val="accent6">
                    <a:lumMod val="50000"/>
                  </a:schemeClr>
                </a:solidFill>
                <a:latin typeface="Verdana" panose="020B0604030504040204" pitchFamily="34" charset="0"/>
                <a:ea typeface="Verdana" panose="020B0604030504040204" pitchFamily="34" charset="0"/>
                <a:cs typeface="Verdana" panose="020B0604030504040204" pitchFamily="34" charset="0"/>
              </a:rPr>
              <a:t>Grid Computing</a:t>
            </a:r>
          </a:p>
        </p:txBody>
      </p:sp>
      <p:sp>
        <p:nvSpPr>
          <p:cNvPr id="53" name="TextBox 52"/>
          <p:cNvSpPr txBox="1"/>
          <p:nvPr/>
        </p:nvSpPr>
        <p:spPr>
          <a:xfrm>
            <a:off x="1870522" y="4748613"/>
            <a:ext cx="2472152" cy="369332"/>
          </a:xfrm>
          <a:prstGeom prst="rect">
            <a:avLst/>
          </a:prstGeom>
          <a:noFill/>
        </p:spPr>
        <p:txBody>
          <a:bodyPr wrap="none" rtlCol="0">
            <a:spAutoFit/>
          </a:bodyPr>
          <a:lstStyle/>
          <a:p>
            <a:pPr marL="285750" indent="-285750">
              <a:buClr>
                <a:schemeClr val="accent1">
                  <a:lumMod val="75000"/>
                </a:schemeClr>
              </a:buClr>
              <a:buFont typeface="Wingdings" panose="05000000000000000000" pitchFamily="2" charset="2"/>
              <a:buChar char="§"/>
            </a:pPr>
            <a:r>
              <a:rPr lang="en-US" dirty="0">
                <a:solidFill>
                  <a:srgbClr val="C00000"/>
                </a:solidFill>
                <a:latin typeface="Verdana" panose="020B0604030504040204" pitchFamily="34" charset="0"/>
                <a:ea typeface="Verdana" panose="020B0604030504040204" pitchFamily="34" charset="0"/>
                <a:cs typeface="Verdana" panose="020B0604030504040204" pitchFamily="34" charset="0"/>
              </a:rPr>
              <a:t>Cloud Computing</a:t>
            </a:r>
          </a:p>
        </p:txBody>
      </p:sp>
      <p:sp>
        <p:nvSpPr>
          <p:cNvPr id="54" name="TextBox 53"/>
          <p:cNvSpPr txBox="1"/>
          <p:nvPr/>
        </p:nvSpPr>
        <p:spPr>
          <a:xfrm>
            <a:off x="1893195" y="5181254"/>
            <a:ext cx="2227661" cy="369332"/>
          </a:xfrm>
          <a:prstGeom prst="rect">
            <a:avLst/>
          </a:prstGeom>
          <a:noFill/>
        </p:spPr>
        <p:txBody>
          <a:bodyPr wrap="none" rtlCol="0">
            <a:spAutoFit/>
          </a:bodyPr>
          <a:lstStyle/>
          <a:p>
            <a:pPr marL="285750" indent="-285750">
              <a:buClr>
                <a:schemeClr val="accent1">
                  <a:lumMod val="75000"/>
                </a:schemeClr>
              </a:buClr>
              <a:buFont typeface="Wingdings" panose="05000000000000000000" pitchFamily="2" charset="2"/>
              <a:buChar char="§"/>
            </a:pPr>
            <a:r>
              <a:rPr lang="en-US" dirty="0">
                <a:latin typeface="Verdana" panose="020B0604030504040204" pitchFamily="34" charset="0"/>
                <a:ea typeface="Verdana" panose="020B0604030504040204" pitchFamily="34" charset="0"/>
                <a:cs typeface="Verdana" panose="020B0604030504040204" pitchFamily="34" charset="0"/>
              </a:rPr>
              <a:t>Fog Computing</a:t>
            </a:r>
          </a:p>
        </p:txBody>
      </p:sp>
      <p:sp>
        <p:nvSpPr>
          <p:cNvPr id="55" name="TextBox 54"/>
          <p:cNvSpPr txBox="1"/>
          <p:nvPr/>
        </p:nvSpPr>
        <p:spPr>
          <a:xfrm>
            <a:off x="1893195" y="5696207"/>
            <a:ext cx="2388795" cy="369332"/>
          </a:xfrm>
          <a:prstGeom prst="rect">
            <a:avLst/>
          </a:prstGeom>
          <a:noFill/>
        </p:spPr>
        <p:txBody>
          <a:bodyPr wrap="none" rtlCol="0">
            <a:spAutoFit/>
          </a:bodyPr>
          <a:lstStyle/>
          <a:p>
            <a:pPr marL="285750" indent="-285750">
              <a:buClr>
                <a:schemeClr val="accent1">
                  <a:lumMod val="75000"/>
                </a:schemeClr>
              </a:buClr>
              <a:buFont typeface="Wingdings" panose="05000000000000000000" pitchFamily="2" charset="2"/>
              <a:buChar char="§"/>
            </a:pPr>
            <a:r>
              <a:rPr lang="en-US" dirty="0">
                <a:latin typeface="Verdana" panose="020B0604030504040204" pitchFamily="34" charset="0"/>
                <a:ea typeface="Verdana" panose="020B0604030504040204" pitchFamily="34" charset="0"/>
                <a:cs typeface="Verdana" panose="020B0604030504040204" pitchFamily="34" charset="0"/>
              </a:rPr>
              <a:t>Edge Computing</a:t>
            </a:r>
          </a:p>
        </p:txBody>
      </p:sp>
      <p:sp>
        <p:nvSpPr>
          <p:cNvPr id="9" name="Slide Number Placeholder 8"/>
          <p:cNvSpPr>
            <a:spLocks noGrp="1"/>
          </p:cNvSpPr>
          <p:nvPr>
            <p:ph type="sldNum" sz="quarter" idx="12"/>
          </p:nvPr>
        </p:nvSpPr>
        <p:spPr/>
        <p:txBody>
          <a:bodyPr/>
          <a:lstStyle/>
          <a:p>
            <a:fld id="{2019AD06-451C-413E-AF31-86503C137FDF}" type="slidenum">
              <a:rPr lang="en-US" smtClean="0"/>
              <a:pPr/>
              <a:t>11</a:t>
            </a:fld>
            <a:endParaRPr lang="en-US"/>
          </a:p>
        </p:txBody>
      </p:sp>
    </p:spTree>
    <p:extLst>
      <p:ext uri="{BB962C8B-B14F-4D97-AF65-F5344CB8AC3E}">
        <p14:creationId xmlns:p14="http://schemas.microsoft.com/office/powerpoint/2010/main" val="1377550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0" grpId="0"/>
      <p:bldP spid="3" grpId="0"/>
      <p:bldP spid="4" grpId="0"/>
      <p:bldP spid="52" grpId="0"/>
      <p:bldP spid="53" grpId="0"/>
      <p:bldP spid="54" grpId="0"/>
      <p:bldP spid="5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4"/>
          <p:cNvSpPr txBox="1">
            <a:spLocks noChangeArrowheads="1"/>
          </p:cNvSpPr>
          <p:nvPr/>
        </p:nvSpPr>
        <p:spPr bwMode="auto">
          <a:xfrm>
            <a:off x="7112000" y="1905001"/>
            <a:ext cx="3860800" cy="366713"/>
          </a:xfrm>
          <a:prstGeom prst="rect">
            <a:avLst/>
          </a:prstGeom>
          <a:noFill/>
          <a:ln w="9525" algn="ctr">
            <a:noFill/>
            <a:miter lim="800000"/>
            <a:headEnd/>
            <a:tailEnd/>
          </a:ln>
        </p:spPr>
        <p:txBody>
          <a:bodyPr>
            <a:spAutoFit/>
          </a:bodyPr>
          <a:lstStyle/>
          <a:p>
            <a:pPr algn="ctr" eaLnBrk="1" hangingPunct="1">
              <a:spcBef>
                <a:spcPct val="50000"/>
              </a:spcBef>
            </a:pPr>
            <a:endParaRPr lang="en-US" altLang="en-US"/>
          </a:p>
        </p:txBody>
      </p:sp>
      <p:sp>
        <p:nvSpPr>
          <p:cNvPr id="14" name="Rectangle 13"/>
          <p:cNvSpPr/>
          <p:nvPr/>
        </p:nvSpPr>
        <p:spPr>
          <a:xfrm>
            <a:off x="0" y="0"/>
            <a:ext cx="12192000" cy="914400"/>
          </a:xfrm>
          <a:prstGeom prst="rect">
            <a:avLst/>
          </a:prstGeom>
          <a:solidFill>
            <a:srgbClr val="E42452">
              <a:alpha val="9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Times New Roman" pitchFamily="16" charset="0"/>
              <a:buNone/>
              <a:defRPr/>
            </a:pPr>
            <a:r>
              <a:rPr lang="en-US" sz="3600" b="1" dirty="0">
                <a:solidFill>
                  <a:schemeClr val="bg1"/>
                </a:solidFill>
              </a:rPr>
              <a:t>Introduction</a:t>
            </a:r>
          </a:p>
        </p:txBody>
      </p:sp>
      <p:sp>
        <p:nvSpPr>
          <p:cNvPr id="16" name="Rectangle 2"/>
          <p:cNvSpPr txBox="1">
            <a:spLocks noChangeArrowheads="1"/>
          </p:cNvSpPr>
          <p:nvPr/>
        </p:nvSpPr>
        <p:spPr>
          <a:xfrm>
            <a:off x="609600" y="152401"/>
            <a:ext cx="10972800" cy="639763"/>
          </a:xfrm>
          <a:prstGeom prst="rect">
            <a:avLst/>
          </a:prstGeom>
        </p:spPr>
        <p:txBody>
          <a:bodyPr anchor="ctr">
            <a:normAutofit/>
          </a:bodyPr>
          <a:lstStyle/>
          <a:p>
            <a:pPr algn="ctr" eaLnBrk="1" fontAlgn="auto" hangingPunct="1">
              <a:spcAft>
                <a:spcPts val="0"/>
              </a:spcAft>
              <a:defRPr/>
            </a:pPr>
            <a:endParaRPr lang="en-US" sz="2800" dirty="0">
              <a:latin typeface="Tahoma" pitchFamily="34" charset="0"/>
              <a:ea typeface="+mj-ea"/>
              <a:cs typeface="+mj-cs"/>
            </a:endParaRPr>
          </a:p>
        </p:txBody>
      </p:sp>
      <p:sp>
        <p:nvSpPr>
          <p:cNvPr id="11269" name="Title 17"/>
          <p:cNvSpPr>
            <a:spLocks noGrp="1"/>
          </p:cNvSpPr>
          <p:nvPr>
            <p:ph type="title"/>
          </p:nvPr>
        </p:nvSpPr>
        <p:spPr>
          <a:xfrm>
            <a:off x="304800" y="1981200"/>
            <a:ext cx="10972800" cy="1143000"/>
          </a:xfrm>
        </p:spPr>
        <p:txBody>
          <a:bodyPr/>
          <a:lstStyle/>
          <a:p>
            <a:r>
              <a:rPr lang="en-US" altLang="en-US"/>
              <a:t>.</a:t>
            </a:r>
          </a:p>
        </p:txBody>
      </p:sp>
      <p:sp>
        <p:nvSpPr>
          <p:cNvPr id="7" name="TextBox 6"/>
          <p:cNvSpPr txBox="1"/>
          <p:nvPr/>
        </p:nvSpPr>
        <p:spPr>
          <a:xfrm>
            <a:off x="304800" y="990600"/>
            <a:ext cx="11176000" cy="6217087"/>
          </a:xfrm>
          <a:prstGeom prst="rect">
            <a:avLst/>
          </a:prstGeom>
          <a:noFill/>
        </p:spPr>
        <p:txBody>
          <a:bodyPr>
            <a:spAutoFit/>
          </a:bodyPr>
          <a:lstStyle/>
          <a:p>
            <a:pPr algn="ctr" eaLnBrk="1" hangingPunct="1">
              <a:defRPr/>
            </a:pPr>
            <a:endParaRPr lang="en-US" dirty="0"/>
          </a:p>
          <a:p>
            <a:pPr eaLnBrk="1" hangingPunct="1">
              <a:defRPr/>
            </a:pPr>
            <a:r>
              <a:rPr lang="en-US" sz="2000" b="1" dirty="0"/>
              <a:t>Definition - What does Virtualization mean?</a:t>
            </a:r>
          </a:p>
          <a:p>
            <a:pPr eaLnBrk="1" hangingPunct="1">
              <a:defRPr/>
            </a:pPr>
            <a:endParaRPr lang="en-US" sz="2000" b="1" dirty="0"/>
          </a:p>
          <a:p>
            <a:pPr eaLnBrk="1" hangingPunct="1">
              <a:defRPr/>
            </a:pPr>
            <a:r>
              <a:rPr lang="en-US" sz="2800" dirty="0">
                <a:latin typeface="+mn-lt"/>
              </a:rPr>
              <a:t>Virtualization refers to the creation of a virtual resource such as a server, desktop, operating system, file, storage or network.</a:t>
            </a:r>
          </a:p>
          <a:p>
            <a:pPr eaLnBrk="1" hangingPunct="1">
              <a:buFont typeface="Arial" pitchFamily="34" charset="0"/>
              <a:buChar char="•"/>
              <a:defRPr/>
            </a:pPr>
            <a:r>
              <a:rPr lang="en-US" sz="2800" dirty="0">
                <a:latin typeface="+mn-lt"/>
              </a:rPr>
              <a:t>Allows creation of </a:t>
            </a:r>
            <a:r>
              <a:rPr lang="en-US" sz="2800" dirty="0">
                <a:solidFill>
                  <a:srgbClr val="FF0000"/>
                </a:solidFill>
                <a:latin typeface="+mn-lt"/>
              </a:rPr>
              <a:t>secure, customizable </a:t>
            </a:r>
            <a:r>
              <a:rPr lang="en-US" sz="2800" dirty="0">
                <a:latin typeface="+mn-lt"/>
              </a:rPr>
              <a:t>and </a:t>
            </a:r>
            <a:r>
              <a:rPr lang="en-US" sz="2800" dirty="0">
                <a:solidFill>
                  <a:srgbClr val="00B0F0"/>
                </a:solidFill>
                <a:latin typeface="+mn-lt"/>
              </a:rPr>
              <a:t>isolated</a:t>
            </a:r>
            <a:r>
              <a:rPr lang="en-US" sz="2800" dirty="0">
                <a:latin typeface="+mn-lt"/>
              </a:rPr>
              <a:t> execution environment for running applications.</a:t>
            </a:r>
          </a:p>
          <a:p>
            <a:pPr eaLnBrk="1" hangingPunct="1">
              <a:buFont typeface="Arial" pitchFamily="34" charset="0"/>
              <a:buChar char="•"/>
              <a:defRPr/>
            </a:pPr>
            <a:r>
              <a:rPr lang="en-US" sz="2800" dirty="0">
                <a:latin typeface="+mn-lt"/>
              </a:rPr>
              <a:t>Windows or Linux</a:t>
            </a:r>
          </a:p>
          <a:p>
            <a:pPr eaLnBrk="1" hangingPunct="1">
              <a:buFont typeface="Arial" pitchFamily="34" charset="0"/>
              <a:buChar char="•"/>
              <a:defRPr/>
            </a:pPr>
            <a:r>
              <a:rPr lang="en-US" sz="2800" dirty="0">
                <a:latin typeface="+mn-lt"/>
              </a:rPr>
              <a:t>Virtualization provides an </a:t>
            </a:r>
            <a:r>
              <a:rPr lang="en-US" sz="2800" dirty="0">
                <a:solidFill>
                  <a:srgbClr val="00B0F0"/>
                </a:solidFill>
                <a:latin typeface="+mn-lt"/>
              </a:rPr>
              <a:t>abstract environment</a:t>
            </a:r>
            <a:r>
              <a:rPr lang="en-US" sz="2800" dirty="0">
                <a:latin typeface="+mn-lt"/>
              </a:rPr>
              <a:t>.</a:t>
            </a:r>
          </a:p>
          <a:p>
            <a:pPr eaLnBrk="1" hangingPunct="1">
              <a:defRPr/>
            </a:pPr>
            <a:r>
              <a:rPr lang="en-US" sz="2800" dirty="0">
                <a:latin typeface="+mn-lt"/>
              </a:rPr>
              <a:t>Example-Hardware virtualization.</a:t>
            </a:r>
          </a:p>
          <a:p>
            <a:pPr eaLnBrk="1" hangingPunct="1">
              <a:defRPr/>
            </a:pPr>
            <a:r>
              <a:rPr lang="en-US" sz="2800" dirty="0">
                <a:solidFill>
                  <a:srgbClr val="00B050"/>
                </a:solidFill>
                <a:latin typeface="+mn-lt"/>
              </a:rPr>
              <a:t>Programming level</a:t>
            </a:r>
          </a:p>
          <a:p>
            <a:pPr eaLnBrk="1" hangingPunct="1">
              <a:defRPr/>
            </a:pPr>
            <a:r>
              <a:rPr lang="en-US" sz="2800" dirty="0">
                <a:solidFill>
                  <a:srgbClr val="00B050"/>
                </a:solidFill>
                <a:latin typeface="+mn-lt"/>
              </a:rPr>
              <a:t>Application level</a:t>
            </a:r>
          </a:p>
          <a:p>
            <a:pPr eaLnBrk="1" hangingPunct="1">
              <a:defRPr/>
            </a:pPr>
            <a:r>
              <a:rPr lang="en-US" sz="2800" dirty="0">
                <a:solidFill>
                  <a:srgbClr val="00B050"/>
                </a:solidFill>
                <a:latin typeface="+mn-lt"/>
              </a:rPr>
              <a:t>Operating system level</a:t>
            </a:r>
          </a:p>
          <a:p>
            <a:pPr eaLnBrk="1" hangingPunct="1">
              <a:defRPr/>
            </a:pPr>
            <a:endParaRPr lang="en-US" sz="2000" dirty="0"/>
          </a:p>
          <a:p>
            <a:pPr eaLnBrk="1" hangingPunct="1">
              <a:defRPr/>
            </a:pPr>
            <a:r>
              <a:rPr lang="en-US" sz="2000" dirty="0"/>
              <a:t> </a:t>
            </a:r>
            <a:br>
              <a:rPr lang="en-US" sz="2000" dirty="0"/>
            </a:b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ltLang="en-US"/>
              <a:t>.</a:t>
            </a:r>
          </a:p>
        </p:txBody>
      </p:sp>
      <p:sp>
        <p:nvSpPr>
          <p:cNvPr id="4" name="Rectangle 3"/>
          <p:cNvSpPr/>
          <p:nvPr/>
        </p:nvSpPr>
        <p:spPr>
          <a:xfrm>
            <a:off x="0" y="0"/>
            <a:ext cx="12192000" cy="914400"/>
          </a:xfrm>
          <a:prstGeom prst="rect">
            <a:avLst/>
          </a:prstGeom>
          <a:solidFill>
            <a:srgbClr val="E42452">
              <a:alpha val="9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Times New Roman" pitchFamily="16" charset="0"/>
              <a:buNone/>
              <a:defRPr/>
            </a:pPr>
            <a:r>
              <a:rPr lang="en-US" sz="3600" dirty="0"/>
              <a:t>Taxonomy of Virtualization Techniques</a:t>
            </a:r>
            <a:endParaRPr lang="en-US" sz="3600" b="1" dirty="0">
              <a:solidFill>
                <a:schemeClr val="bg1"/>
              </a:solidFill>
            </a:endParaRPr>
          </a:p>
        </p:txBody>
      </p:sp>
      <p:sp>
        <p:nvSpPr>
          <p:cNvPr id="32772" name="AutoShape 2" descr="http://image.slidesharecdn.com/virtualizationfinal-140301120900-phpapp02/95/introduction-to-virtualization-19-638.jpg?cb=1393697478"/>
          <p:cNvSpPr>
            <a:spLocks noGrp="1" noChangeAspect="1" noChangeArrowheads="1"/>
          </p:cNvSpPr>
          <p:nvPr>
            <p:ph idx="1"/>
          </p:nvPr>
        </p:nvSpPr>
        <p:spPr>
          <a:xfrm>
            <a:off x="406400" y="1143000"/>
            <a:ext cx="10972800" cy="5410200"/>
          </a:xfrm>
        </p:spPr>
        <p:txBody>
          <a:bodyPr/>
          <a:lstStyle/>
          <a:p>
            <a:r>
              <a:rPr lang="en-US" altLang="en-US"/>
              <a:t>Virtualization is mainly used to emulate execution environment , storage and networks. </a:t>
            </a:r>
          </a:p>
          <a:p>
            <a:r>
              <a:rPr lang="en-US" altLang="en-US"/>
              <a:t>Execution Environment classified into two :</a:t>
            </a:r>
          </a:p>
          <a:p>
            <a:pPr>
              <a:buFont typeface="Arial" pitchFamily="34" charset="0"/>
              <a:buNone/>
            </a:pPr>
            <a:r>
              <a:rPr lang="en-US" altLang="en-US"/>
              <a:t>	– Process-level – implemented on top of an existing operating system. </a:t>
            </a:r>
          </a:p>
          <a:p>
            <a:pPr>
              <a:buFont typeface="Arial" pitchFamily="34" charset="0"/>
              <a:buNone/>
            </a:pPr>
            <a:r>
              <a:rPr lang="en-US" altLang="en-US"/>
              <a:t>	– System-level – implemented directly on hardware and do not or minimum requirement of existing operating system</a:t>
            </a:r>
          </a:p>
        </p:txBody>
      </p:sp>
      <p:sp>
        <p:nvSpPr>
          <p:cNvPr id="32773" name="AutoShape 4" descr="http://image.slidesharecdn.com/virtualizationfinal-140301120900-phpapp02/95/introduction-to-virtualization-19-638.jpg?cb=1393697478"/>
          <p:cNvSpPr>
            <a:spLocks noChangeAspect="1" noChangeArrowheads="1"/>
          </p:cNvSpPr>
          <p:nvPr/>
        </p:nvSpPr>
        <p:spPr bwMode="auto">
          <a:xfrm>
            <a:off x="5998633" y="-144463"/>
            <a:ext cx="406400" cy="304801"/>
          </a:xfrm>
          <a:prstGeom prst="rect">
            <a:avLst/>
          </a:prstGeom>
          <a:noFill/>
          <a:ln w="9525">
            <a:noFill/>
            <a:miter lim="800000"/>
            <a:headEnd/>
            <a:tailEnd/>
          </a:ln>
        </p:spPr>
        <p:txBody>
          <a:bodyPr/>
          <a:lstStyle/>
          <a:p>
            <a:pPr algn="ctr" eaLnBrk="1" hangingPunct="1"/>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altLang="en-US"/>
              <a:t>.</a:t>
            </a:r>
          </a:p>
        </p:txBody>
      </p:sp>
      <p:sp>
        <p:nvSpPr>
          <p:cNvPr id="37891" name="Content Placeholder 2"/>
          <p:cNvSpPr>
            <a:spLocks noGrp="1"/>
          </p:cNvSpPr>
          <p:nvPr>
            <p:ph idx="1"/>
          </p:nvPr>
        </p:nvSpPr>
        <p:spPr>
          <a:xfrm>
            <a:off x="406400" y="1143000"/>
            <a:ext cx="10972800" cy="5410200"/>
          </a:xfrm>
        </p:spPr>
        <p:txBody>
          <a:bodyPr/>
          <a:lstStyle/>
          <a:p>
            <a:pPr>
              <a:buFont typeface="Arial" pitchFamily="34" charset="0"/>
              <a:buNone/>
            </a:pPr>
            <a:r>
              <a:rPr lang="en-US" altLang="en-US"/>
              <a:t>	It defines the </a:t>
            </a:r>
            <a:r>
              <a:rPr lang="en-US" altLang="en-US">
                <a:solidFill>
                  <a:srgbClr val="7030A0"/>
                </a:solidFill>
              </a:rPr>
              <a:t>interfaces between the levels of abstractions</a:t>
            </a:r>
            <a:r>
              <a:rPr lang="en-US" altLang="en-US"/>
              <a:t>, which </a:t>
            </a:r>
            <a:r>
              <a:rPr lang="en-US" altLang="en-US">
                <a:solidFill>
                  <a:srgbClr val="7030A0"/>
                </a:solidFill>
              </a:rPr>
              <a:t>hide implementation details.</a:t>
            </a:r>
          </a:p>
          <a:p>
            <a:pPr>
              <a:buFont typeface="Arial" pitchFamily="34" charset="0"/>
              <a:buNone/>
            </a:pPr>
            <a:r>
              <a:rPr lang="en-US" altLang="en-US"/>
              <a:t>	 Virtualization techniques actually </a:t>
            </a:r>
            <a:r>
              <a:rPr lang="en-US" altLang="en-US">
                <a:solidFill>
                  <a:srgbClr val="7030A0"/>
                </a:solidFill>
              </a:rPr>
              <a:t>replace one of the layers </a:t>
            </a:r>
            <a:r>
              <a:rPr lang="en-US" altLang="en-US"/>
              <a:t>and intercept the calls that are directed towards it.</a:t>
            </a:r>
          </a:p>
        </p:txBody>
      </p:sp>
      <p:sp>
        <p:nvSpPr>
          <p:cNvPr id="4" name="Rectangle 3"/>
          <p:cNvSpPr/>
          <p:nvPr/>
        </p:nvSpPr>
        <p:spPr>
          <a:xfrm>
            <a:off x="0" y="0"/>
            <a:ext cx="12192000" cy="914400"/>
          </a:xfrm>
          <a:prstGeom prst="rect">
            <a:avLst/>
          </a:prstGeom>
          <a:solidFill>
            <a:srgbClr val="E42452">
              <a:alpha val="9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Times New Roman" pitchFamily="16" charset="0"/>
              <a:buNone/>
              <a:defRPr/>
            </a:pPr>
            <a:r>
              <a:rPr lang="en-US" sz="3600" dirty="0"/>
              <a:t>Machine Reference Model</a:t>
            </a:r>
            <a:endParaRPr lang="en-US" sz="3600" b="1"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altLang="en-US"/>
              <a:t>.</a:t>
            </a:r>
          </a:p>
        </p:txBody>
      </p:sp>
      <p:sp>
        <p:nvSpPr>
          <p:cNvPr id="38915" name="Content Placeholder 2"/>
          <p:cNvSpPr>
            <a:spLocks noGrp="1"/>
          </p:cNvSpPr>
          <p:nvPr>
            <p:ph idx="1"/>
          </p:nvPr>
        </p:nvSpPr>
        <p:spPr>
          <a:xfrm>
            <a:off x="406400" y="1143000"/>
            <a:ext cx="10972800" cy="5410200"/>
          </a:xfrm>
        </p:spPr>
        <p:txBody>
          <a:bodyPr/>
          <a:lstStyle/>
          <a:p>
            <a:pPr>
              <a:buFont typeface="Arial" pitchFamily="34" charset="0"/>
              <a:buNone/>
            </a:pPr>
            <a:r>
              <a:rPr lang="en-US" altLang="en-US"/>
              <a:t>	</a:t>
            </a:r>
          </a:p>
        </p:txBody>
      </p:sp>
      <p:sp>
        <p:nvSpPr>
          <p:cNvPr id="4" name="Rectangle 3"/>
          <p:cNvSpPr/>
          <p:nvPr/>
        </p:nvSpPr>
        <p:spPr>
          <a:xfrm>
            <a:off x="0" y="0"/>
            <a:ext cx="12192000" cy="914400"/>
          </a:xfrm>
          <a:prstGeom prst="rect">
            <a:avLst/>
          </a:prstGeom>
          <a:solidFill>
            <a:srgbClr val="E42452">
              <a:alpha val="9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Times New Roman" pitchFamily="16" charset="0"/>
              <a:buNone/>
              <a:defRPr/>
            </a:pPr>
            <a:r>
              <a:rPr lang="en-US" sz="3600" dirty="0"/>
              <a:t>Machine Reference Model</a:t>
            </a:r>
            <a:endParaRPr lang="en-US" sz="3600" b="1" dirty="0">
              <a:solidFill>
                <a:schemeClr val="bg1"/>
              </a:solidFill>
            </a:endParaRPr>
          </a:p>
        </p:txBody>
      </p:sp>
      <p:grpSp>
        <p:nvGrpSpPr>
          <p:cNvPr id="2" name="Group 33"/>
          <p:cNvGrpSpPr>
            <a:grpSpLocks/>
          </p:cNvGrpSpPr>
          <p:nvPr/>
        </p:nvGrpSpPr>
        <p:grpSpPr bwMode="auto">
          <a:xfrm>
            <a:off x="508000" y="1143000"/>
            <a:ext cx="11074400" cy="5334000"/>
            <a:chOff x="733331" y="1421394"/>
            <a:chExt cx="5911913" cy="2489703"/>
          </a:xfrm>
        </p:grpSpPr>
        <p:sp>
          <p:nvSpPr>
            <p:cNvPr id="35" name="Rectangle 34"/>
            <p:cNvSpPr/>
            <p:nvPr/>
          </p:nvSpPr>
          <p:spPr>
            <a:xfrm>
              <a:off x="733331" y="1421394"/>
              <a:ext cx="5911913" cy="24897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b="1"/>
            </a:p>
          </p:txBody>
        </p:sp>
        <p:grpSp>
          <p:nvGrpSpPr>
            <p:cNvPr id="3" name="Group 39"/>
            <p:cNvGrpSpPr>
              <a:grpSpLocks/>
            </p:cNvGrpSpPr>
            <p:nvPr/>
          </p:nvGrpSpPr>
          <p:grpSpPr bwMode="auto">
            <a:xfrm>
              <a:off x="845197" y="1556994"/>
              <a:ext cx="2767254" cy="2256293"/>
              <a:chOff x="845197" y="1556994"/>
              <a:chExt cx="2767254" cy="2256293"/>
            </a:xfrm>
          </p:grpSpPr>
          <p:sp>
            <p:nvSpPr>
              <p:cNvPr id="52" name="L-Shape 3"/>
              <p:cNvSpPr/>
              <p:nvPr/>
            </p:nvSpPr>
            <p:spPr>
              <a:xfrm rot="10800000">
                <a:off x="1665543" y="1556994"/>
                <a:ext cx="1711878" cy="841757"/>
              </a:xfrm>
              <a:prstGeom prst="corner">
                <a:avLst>
                  <a:gd name="adj1" fmla="val 49702"/>
                  <a:gd name="adj2" fmla="val 44286"/>
                </a:avLst>
              </a:prstGeom>
              <a:solidFill>
                <a:srgbClr val="FFFFFF"/>
              </a:solidFill>
              <a:ln w="9525">
                <a:solidFill>
                  <a:srgbClr val="0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b="1" dirty="0"/>
              </a:p>
            </p:txBody>
          </p:sp>
          <p:sp>
            <p:nvSpPr>
              <p:cNvPr id="53" name="Rectangle 4"/>
              <p:cNvSpPr/>
              <p:nvPr/>
            </p:nvSpPr>
            <p:spPr>
              <a:xfrm>
                <a:off x="1665543" y="2109026"/>
                <a:ext cx="1186451" cy="280833"/>
              </a:xfrm>
              <a:prstGeom prst="rect">
                <a:avLst/>
              </a:prstGeom>
              <a:solidFill>
                <a:srgbClr val="FFFFFF"/>
              </a:solidFill>
              <a:ln w="12700">
                <a:solidFill>
                  <a:srgbClr val="0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600" b="1" dirty="0">
                    <a:solidFill>
                      <a:srgbClr val="172B1E"/>
                    </a:solidFill>
                  </a:rPr>
                  <a:t>Libraries</a:t>
                </a:r>
              </a:p>
            </p:txBody>
          </p:sp>
          <p:cxnSp>
            <p:nvCxnSpPr>
              <p:cNvPr id="54" name="Elbow Connector 53"/>
              <p:cNvCxnSpPr/>
              <p:nvPr/>
            </p:nvCxnSpPr>
            <p:spPr>
              <a:xfrm>
                <a:off x="1448592" y="2046043"/>
                <a:ext cx="2163859" cy="425324"/>
              </a:xfrm>
              <a:prstGeom prst="bentConnector3">
                <a:avLst>
                  <a:gd name="adj1" fmla="val 68410"/>
                </a:avLst>
              </a:prstGeom>
              <a:ln>
                <a:solidFill>
                  <a:srgbClr val="000000"/>
                </a:solidFill>
                <a:prstDash val="dash"/>
              </a:ln>
            </p:spPr>
            <p:style>
              <a:lnRef idx="1">
                <a:schemeClr val="accent1"/>
              </a:lnRef>
              <a:fillRef idx="0">
                <a:schemeClr val="accent1"/>
              </a:fillRef>
              <a:effectRef idx="0">
                <a:schemeClr val="accent1"/>
              </a:effectRef>
              <a:fontRef idx="minor">
                <a:schemeClr val="tx1"/>
              </a:fontRef>
            </p:style>
          </p:cxnSp>
          <p:sp>
            <p:nvSpPr>
              <p:cNvPr id="55" name="Rounded Rectangle 54"/>
              <p:cNvSpPr/>
              <p:nvPr/>
            </p:nvSpPr>
            <p:spPr>
              <a:xfrm>
                <a:off x="845197" y="1931932"/>
                <a:ext cx="531078" cy="228223"/>
              </a:xfrm>
              <a:prstGeom prst="roundRect">
                <a:avLst/>
              </a:prstGeom>
              <a:solidFill>
                <a:srgbClr val="FFFFFF"/>
              </a:solidFill>
              <a:ln w="12700">
                <a:solidFill>
                  <a:srgbClr val="0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hangingPunct="1">
                  <a:defRPr/>
                </a:pPr>
                <a:r>
                  <a:rPr lang="en-US" sz="1600" b="1" dirty="0">
                    <a:solidFill>
                      <a:srgbClr val="000000"/>
                    </a:solidFill>
                  </a:rPr>
                  <a:t>API</a:t>
                </a:r>
              </a:p>
            </p:txBody>
          </p:sp>
          <p:cxnSp>
            <p:nvCxnSpPr>
              <p:cNvPr id="56" name="Straight Connector 55"/>
              <p:cNvCxnSpPr/>
              <p:nvPr/>
            </p:nvCxnSpPr>
            <p:spPr>
              <a:xfrm flipH="1">
                <a:off x="1439552" y="2543984"/>
                <a:ext cx="2163859" cy="0"/>
              </a:xfrm>
              <a:prstGeom prst="line">
                <a:avLst/>
              </a:prstGeom>
              <a:ln>
                <a:solidFill>
                  <a:srgbClr val="000000"/>
                </a:solidFill>
                <a:prstDash val="dash"/>
              </a:ln>
            </p:spPr>
            <p:style>
              <a:lnRef idx="1">
                <a:schemeClr val="accent1"/>
              </a:lnRef>
              <a:fillRef idx="0">
                <a:schemeClr val="accent1"/>
              </a:fillRef>
              <a:effectRef idx="0">
                <a:schemeClr val="accent1"/>
              </a:effectRef>
              <a:fontRef idx="minor">
                <a:schemeClr val="tx1"/>
              </a:fontRef>
            </p:style>
          </p:cxnSp>
          <p:sp>
            <p:nvSpPr>
              <p:cNvPr id="57" name="Rounded Rectangle 56"/>
              <p:cNvSpPr/>
              <p:nvPr/>
            </p:nvSpPr>
            <p:spPr>
              <a:xfrm>
                <a:off x="845197" y="2429872"/>
                <a:ext cx="531078" cy="228223"/>
              </a:xfrm>
              <a:prstGeom prst="roundRect">
                <a:avLst/>
              </a:prstGeom>
              <a:solidFill>
                <a:srgbClr val="FFFFFF"/>
              </a:solidFill>
              <a:ln w="12700">
                <a:solidFill>
                  <a:srgbClr val="0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hangingPunct="1">
                  <a:defRPr/>
                </a:pPr>
                <a:r>
                  <a:rPr lang="en-US" sz="1600" b="1" dirty="0">
                    <a:solidFill>
                      <a:srgbClr val="000000"/>
                    </a:solidFill>
                  </a:rPr>
                  <a:t>ABI</a:t>
                </a:r>
              </a:p>
            </p:txBody>
          </p:sp>
          <p:sp>
            <p:nvSpPr>
              <p:cNvPr id="58" name="Rectangle 57"/>
              <p:cNvSpPr/>
              <p:nvPr/>
            </p:nvSpPr>
            <p:spPr>
              <a:xfrm>
                <a:off x="1665543" y="3341281"/>
                <a:ext cx="1711878" cy="472006"/>
              </a:xfrm>
              <a:prstGeom prst="rect">
                <a:avLst/>
              </a:prstGeom>
              <a:solidFill>
                <a:srgbClr val="FFFFFF"/>
              </a:solidFill>
              <a:ln w="12700">
                <a:solidFill>
                  <a:srgbClr val="0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anchor="ctr"/>
              <a:lstStyle/>
              <a:p>
                <a:pPr indent="-285750" algn="ctr" eaLnBrk="1" hangingPunct="1">
                  <a:spcBef>
                    <a:spcPct val="20000"/>
                  </a:spcBef>
                  <a:buClr>
                    <a:schemeClr val="accent2"/>
                  </a:buClr>
                  <a:buSzPct val="60000"/>
                  <a:buFont typeface="Wingdings" pitchFamily="2" charset="2"/>
                  <a:buNone/>
                  <a:defRPr/>
                </a:pPr>
                <a:r>
                  <a:rPr lang="en-US" sz="1600" b="1" dirty="0">
                    <a:solidFill>
                      <a:schemeClr val="tx1">
                        <a:lumMod val="95000"/>
                        <a:lumOff val="5000"/>
                      </a:schemeClr>
                    </a:solidFill>
                  </a:rPr>
                  <a:t>Hardware</a:t>
                </a:r>
              </a:p>
            </p:txBody>
          </p:sp>
          <p:sp>
            <p:nvSpPr>
              <p:cNvPr id="59" name="Rectangle 58"/>
              <p:cNvSpPr/>
              <p:nvPr/>
            </p:nvSpPr>
            <p:spPr>
              <a:xfrm>
                <a:off x="1665543" y="2658095"/>
                <a:ext cx="1711878" cy="472006"/>
              </a:xfrm>
              <a:prstGeom prst="rect">
                <a:avLst/>
              </a:prstGeom>
              <a:solidFill>
                <a:srgbClr val="FFFFFF"/>
              </a:solidFill>
              <a:ln w="12700">
                <a:solidFill>
                  <a:srgbClr val="0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600" b="1" dirty="0">
                    <a:solidFill>
                      <a:schemeClr val="accent2">
                        <a:lumMod val="50000"/>
                      </a:schemeClr>
                    </a:solidFill>
                  </a:rPr>
                  <a:t>Operative System</a:t>
                </a:r>
              </a:p>
            </p:txBody>
          </p:sp>
          <p:cxnSp>
            <p:nvCxnSpPr>
              <p:cNvPr id="60" name="Straight Connector 59"/>
              <p:cNvCxnSpPr/>
              <p:nvPr/>
            </p:nvCxnSpPr>
            <p:spPr>
              <a:xfrm flipH="1">
                <a:off x="1448592" y="3242730"/>
                <a:ext cx="2163859" cy="0"/>
              </a:xfrm>
              <a:prstGeom prst="line">
                <a:avLst/>
              </a:prstGeom>
              <a:ln>
                <a:solidFill>
                  <a:srgbClr val="000000"/>
                </a:solidFill>
                <a:prstDash val="dash"/>
              </a:ln>
            </p:spPr>
            <p:style>
              <a:lnRef idx="1">
                <a:schemeClr val="accent1"/>
              </a:lnRef>
              <a:fillRef idx="0">
                <a:schemeClr val="accent1"/>
              </a:fillRef>
              <a:effectRef idx="0">
                <a:schemeClr val="accent1"/>
              </a:effectRef>
              <a:fontRef idx="minor">
                <a:schemeClr val="tx1"/>
              </a:fontRef>
            </p:style>
          </p:cxnSp>
          <p:sp>
            <p:nvSpPr>
              <p:cNvPr id="61" name="Rounded Rectangle 60"/>
              <p:cNvSpPr/>
              <p:nvPr/>
            </p:nvSpPr>
            <p:spPr>
              <a:xfrm>
                <a:off x="854236" y="3128619"/>
                <a:ext cx="531078" cy="228223"/>
              </a:xfrm>
              <a:prstGeom prst="roundRect">
                <a:avLst/>
              </a:prstGeom>
              <a:solidFill>
                <a:srgbClr val="FFFFFF"/>
              </a:solidFill>
              <a:ln w="12700">
                <a:solidFill>
                  <a:srgbClr val="0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hangingPunct="1">
                  <a:defRPr/>
                </a:pPr>
                <a:r>
                  <a:rPr lang="en-US" sz="1600" b="1" dirty="0">
                    <a:solidFill>
                      <a:srgbClr val="000000"/>
                    </a:solidFill>
                  </a:rPr>
                  <a:t>ISA</a:t>
                </a:r>
              </a:p>
            </p:txBody>
          </p:sp>
          <p:sp>
            <p:nvSpPr>
              <p:cNvPr id="62" name="TextBox 61"/>
              <p:cNvSpPr txBox="1"/>
              <p:nvPr/>
            </p:nvSpPr>
            <p:spPr>
              <a:xfrm>
                <a:off x="2092665" y="1632575"/>
                <a:ext cx="660837" cy="158024"/>
              </a:xfrm>
              <a:prstGeom prst="rect">
                <a:avLst/>
              </a:prstGeom>
              <a:noFill/>
            </p:spPr>
            <p:txBody>
              <a:bodyPr wrap="none">
                <a:spAutoFit/>
              </a:bodyPr>
              <a:lstStyle/>
              <a:p>
                <a:pPr algn="ctr" eaLnBrk="1" hangingPunct="1">
                  <a:defRPr/>
                </a:pPr>
                <a:r>
                  <a:rPr lang="en-US" sz="1600" b="1" dirty="0">
                    <a:solidFill>
                      <a:schemeClr val="tx2">
                        <a:lumMod val="50000"/>
                      </a:schemeClr>
                    </a:solidFill>
                  </a:rPr>
                  <a:t>Applications</a:t>
                </a:r>
              </a:p>
            </p:txBody>
          </p:sp>
        </p:grpSp>
        <p:grpSp>
          <p:nvGrpSpPr>
            <p:cNvPr id="5" name="Group 40"/>
            <p:cNvGrpSpPr>
              <a:grpSpLocks/>
            </p:cNvGrpSpPr>
            <p:nvPr/>
          </p:nvGrpSpPr>
          <p:grpSpPr bwMode="auto">
            <a:xfrm>
              <a:off x="4036183" y="1556994"/>
              <a:ext cx="2355951" cy="2160707"/>
              <a:chOff x="4036183" y="1556994"/>
              <a:chExt cx="2355951" cy="2160707"/>
            </a:xfrm>
          </p:grpSpPr>
          <p:sp>
            <p:nvSpPr>
              <p:cNvPr id="38" name="Rectangle 37"/>
              <p:cNvSpPr/>
              <p:nvPr/>
            </p:nvSpPr>
            <p:spPr>
              <a:xfrm>
                <a:off x="4036183" y="2733676"/>
                <a:ext cx="1277976" cy="280832"/>
              </a:xfrm>
              <a:prstGeom prst="rect">
                <a:avLst/>
              </a:prstGeom>
              <a:solidFill>
                <a:srgbClr val="FFFFFF"/>
              </a:solidFill>
              <a:ln w="12700">
                <a:solidFill>
                  <a:srgbClr val="0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600" b="1" dirty="0">
                    <a:solidFill>
                      <a:schemeClr val="accent2">
                        <a:lumMod val="50000"/>
                      </a:schemeClr>
                    </a:solidFill>
                  </a:rPr>
                  <a:t>Operative System</a:t>
                </a:r>
              </a:p>
            </p:txBody>
          </p:sp>
          <p:sp>
            <p:nvSpPr>
              <p:cNvPr id="39" name="Rectangle 38"/>
              <p:cNvSpPr/>
              <p:nvPr/>
            </p:nvSpPr>
            <p:spPr>
              <a:xfrm>
                <a:off x="4036183" y="3436868"/>
                <a:ext cx="2355951" cy="280833"/>
              </a:xfrm>
              <a:prstGeom prst="rect">
                <a:avLst/>
              </a:prstGeom>
              <a:solidFill>
                <a:srgbClr val="FFFFFF"/>
              </a:solidFill>
              <a:ln w="12700">
                <a:solidFill>
                  <a:srgbClr val="0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indent="-285750" algn="ctr" eaLnBrk="1" hangingPunct="1">
                  <a:spcBef>
                    <a:spcPct val="20000"/>
                  </a:spcBef>
                  <a:buClr>
                    <a:schemeClr val="accent2"/>
                  </a:buClr>
                  <a:buSzPct val="60000"/>
                  <a:buFont typeface="Wingdings" pitchFamily="2" charset="2"/>
                  <a:buNone/>
                  <a:defRPr/>
                </a:pPr>
                <a:r>
                  <a:rPr lang="en-US" sz="1600" b="1" dirty="0">
                    <a:solidFill>
                      <a:schemeClr val="tx1">
                        <a:lumMod val="95000"/>
                        <a:lumOff val="5000"/>
                      </a:schemeClr>
                    </a:solidFill>
                  </a:rPr>
                  <a:t>Hardware</a:t>
                </a:r>
              </a:p>
            </p:txBody>
          </p:sp>
          <p:sp>
            <p:nvSpPr>
              <p:cNvPr id="40" name="Rectangle 39"/>
              <p:cNvSpPr/>
              <p:nvPr/>
            </p:nvSpPr>
            <p:spPr>
              <a:xfrm>
                <a:off x="4036183" y="2109027"/>
                <a:ext cx="1722048" cy="280833"/>
              </a:xfrm>
              <a:prstGeom prst="rect">
                <a:avLst/>
              </a:prstGeom>
              <a:solidFill>
                <a:srgbClr val="FFFFFF"/>
              </a:solidFill>
              <a:ln w="12700">
                <a:solidFill>
                  <a:srgbClr val="0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600" b="1" dirty="0">
                    <a:solidFill>
                      <a:srgbClr val="172B1E"/>
                    </a:solidFill>
                  </a:rPr>
                  <a:t>Libraries</a:t>
                </a:r>
              </a:p>
            </p:txBody>
          </p:sp>
          <p:sp>
            <p:nvSpPr>
              <p:cNvPr id="41" name="Rectangle 40"/>
              <p:cNvSpPr/>
              <p:nvPr/>
            </p:nvSpPr>
            <p:spPr>
              <a:xfrm>
                <a:off x="4036183" y="1556994"/>
                <a:ext cx="2355951" cy="280832"/>
              </a:xfrm>
              <a:prstGeom prst="rect">
                <a:avLst/>
              </a:prstGeom>
              <a:solidFill>
                <a:srgbClr val="FFFFFF"/>
              </a:solidFill>
              <a:ln w="9525">
                <a:solidFill>
                  <a:srgbClr val="0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600" b="1" dirty="0">
                    <a:solidFill>
                      <a:srgbClr val="002060"/>
                    </a:solidFill>
                  </a:rPr>
                  <a:t>Applications</a:t>
                </a:r>
              </a:p>
            </p:txBody>
          </p:sp>
          <p:sp>
            <p:nvSpPr>
              <p:cNvPr id="42" name="AutoShape 71"/>
              <p:cNvSpPr>
                <a:spLocks noChangeArrowheads="1"/>
              </p:cNvSpPr>
              <p:nvPr/>
            </p:nvSpPr>
            <p:spPr bwMode="auto">
              <a:xfrm>
                <a:off x="4490424" y="3050816"/>
                <a:ext cx="143504" cy="342334"/>
              </a:xfrm>
              <a:prstGeom prst="downArrow">
                <a:avLst>
                  <a:gd name="adj1" fmla="val 50000"/>
                  <a:gd name="adj2" fmla="val 58333"/>
                </a:avLst>
              </a:prstGeom>
              <a:gradFill flip="none" rotWithShape="1">
                <a:gsLst>
                  <a:gs pos="0">
                    <a:srgbClr val="FFFA8F"/>
                  </a:gs>
                  <a:gs pos="30000">
                    <a:srgbClr val="FAE75C"/>
                  </a:gs>
                  <a:gs pos="70000">
                    <a:srgbClr val="FFC000"/>
                  </a:gs>
                  <a:gs pos="100000">
                    <a:srgbClr val="F2B800"/>
                  </a:gs>
                </a:gsLst>
                <a:lin ang="5400000" scaled="1"/>
                <a:tileRect/>
              </a:gradFill>
              <a:ln w="12700">
                <a:solidFill>
                  <a:srgbClr val="D6A3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b="1"/>
              </a:p>
            </p:txBody>
          </p:sp>
          <p:sp>
            <p:nvSpPr>
              <p:cNvPr id="43" name="AutoShape 71"/>
              <p:cNvSpPr>
                <a:spLocks noChangeArrowheads="1"/>
              </p:cNvSpPr>
              <p:nvPr/>
            </p:nvSpPr>
            <p:spPr bwMode="auto">
              <a:xfrm>
                <a:off x="4480254" y="2435059"/>
                <a:ext cx="142374" cy="259344"/>
              </a:xfrm>
              <a:prstGeom prst="downArrow">
                <a:avLst>
                  <a:gd name="adj1" fmla="val 50000"/>
                  <a:gd name="adj2" fmla="val 58333"/>
                </a:avLst>
              </a:prstGeom>
              <a:gradFill flip="none" rotWithShape="1">
                <a:gsLst>
                  <a:gs pos="0">
                    <a:srgbClr val="FFFA8F"/>
                  </a:gs>
                  <a:gs pos="30000">
                    <a:srgbClr val="FAE75C"/>
                  </a:gs>
                  <a:gs pos="70000">
                    <a:srgbClr val="FFC000"/>
                  </a:gs>
                  <a:gs pos="100000">
                    <a:srgbClr val="F2B800"/>
                  </a:gs>
                </a:gsLst>
                <a:lin ang="5400000" scaled="1"/>
                <a:tileRect/>
              </a:gradFill>
              <a:ln w="12700">
                <a:solidFill>
                  <a:srgbClr val="D6A3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b="1"/>
              </a:p>
            </p:txBody>
          </p:sp>
          <p:sp>
            <p:nvSpPr>
              <p:cNvPr id="44" name="AutoShape 71"/>
              <p:cNvSpPr>
                <a:spLocks noChangeArrowheads="1"/>
              </p:cNvSpPr>
              <p:nvPr/>
            </p:nvSpPr>
            <p:spPr bwMode="auto">
              <a:xfrm>
                <a:off x="4480254" y="1877099"/>
                <a:ext cx="142374" cy="195620"/>
              </a:xfrm>
              <a:prstGeom prst="downArrow">
                <a:avLst>
                  <a:gd name="adj1" fmla="val 50000"/>
                  <a:gd name="adj2" fmla="val 58333"/>
                </a:avLst>
              </a:prstGeom>
              <a:gradFill flip="none" rotWithShape="1">
                <a:gsLst>
                  <a:gs pos="0">
                    <a:srgbClr val="FFFA8F"/>
                  </a:gs>
                  <a:gs pos="30000">
                    <a:srgbClr val="FAE75C"/>
                  </a:gs>
                  <a:gs pos="70000">
                    <a:srgbClr val="FFC000"/>
                  </a:gs>
                  <a:gs pos="100000">
                    <a:srgbClr val="F2B800"/>
                  </a:gs>
                </a:gsLst>
                <a:lin ang="5400000" scaled="1"/>
                <a:tileRect/>
              </a:gradFill>
              <a:ln w="12700">
                <a:solidFill>
                  <a:srgbClr val="D6A3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b="1"/>
              </a:p>
            </p:txBody>
          </p:sp>
          <p:sp>
            <p:nvSpPr>
              <p:cNvPr id="45" name="AutoShape 71"/>
              <p:cNvSpPr>
                <a:spLocks noChangeArrowheads="1"/>
              </p:cNvSpPr>
              <p:nvPr/>
            </p:nvSpPr>
            <p:spPr bwMode="auto">
              <a:xfrm>
                <a:off x="5494952" y="2435059"/>
                <a:ext cx="142374" cy="958091"/>
              </a:xfrm>
              <a:prstGeom prst="downArrow">
                <a:avLst>
                  <a:gd name="adj1" fmla="val 50000"/>
                  <a:gd name="adj2" fmla="val 58333"/>
                </a:avLst>
              </a:prstGeom>
              <a:gradFill flip="none" rotWithShape="1">
                <a:gsLst>
                  <a:gs pos="0">
                    <a:srgbClr val="FFFA8F"/>
                  </a:gs>
                  <a:gs pos="30000">
                    <a:srgbClr val="FAE75C"/>
                  </a:gs>
                  <a:gs pos="70000">
                    <a:srgbClr val="FFC000"/>
                  </a:gs>
                  <a:gs pos="100000">
                    <a:srgbClr val="F2B800"/>
                  </a:gs>
                </a:gsLst>
                <a:lin ang="5400000" scaled="1"/>
                <a:tileRect/>
              </a:gradFill>
              <a:ln w="12700">
                <a:solidFill>
                  <a:srgbClr val="D6A3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b="1"/>
              </a:p>
            </p:txBody>
          </p:sp>
          <p:sp>
            <p:nvSpPr>
              <p:cNvPr id="46" name="AutoShape 71"/>
              <p:cNvSpPr>
                <a:spLocks noChangeArrowheads="1"/>
              </p:cNvSpPr>
              <p:nvPr/>
            </p:nvSpPr>
            <p:spPr bwMode="auto">
              <a:xfrm>
                <a:off x="5945803" y="1886732"/>
                <a:ext cx="142374" cy="1506419"/>
              </a:xfrm>
              <a:prstGeom prst="downArrow">
                <a:avLst>
                  <a:gd name="adj1" fmla="val 50000"/>
                  <a:gd name="adj2" fmla="val 58333"/>
                </a:avLst>
              </a:prstGeom>
              <a:gradFill flip="none" rotWithShape="1">
                <a:gsLst>
                  <a:gs pos="0">
                    <a:srgbClr val="FFFA8F"/>
                  </a:gs>
                  <a:gs pos="30000">
                    <a:srgbClr val="FAE75C"/>
                  </a:gs>
                  <a:gs pos="70000">
                    <a:srgbClr val="FFC000"/>
                  </a:gs>
                  <a:gs pos="100000">
                    <a:srgbClr val="F2B800"/>
                  </a:gs>
                </a:gsLst>
                <a:lin ang="5400000" scaled="1"/>
                <a:tileRect/>
              </a:gradFill>
              <a:ln w="12700">
                <a:solidFill>
                  <a:srgbClr val="D6A3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b="1"/>
              </a:p>
            </p:txBody>
          </p:sp>
          <p:sp>
            <p:nvSpPr>
              <p:cNvPr id="38930" name="TextBox 46"/>
              <p:cNvSpPr txBox="1">
                <a:spLocks noChangeArrowheads="1"/>
              </p:cNvSpPr>
              <p:nvPr/>
            </p:nvSpPr>
            <p:spPr bwMode="auto">
              <a:xfrm>
                <a:off x="4597802" y="1846906"/>
                <a:ext cx="473601" cy="158024"/>
              </a:xfrm>
              <a:prstGeom prst="rect">
                <a:avLst/>
              </a:prstGeom>
              <a:noFill/>
              <a:ln w="9525">
                <a:noFill/>
                <a:miter lim="800000"/>
                <a:headEnd/>
                <a:tailEnd/>
              </a:ln>
            </p:spPr>
            <p:txBody>
              <a:bodyPr wrap="none">
                <a:spAutoFit/>
              </a:bodyPr>
              <a:lstStyle/>
              <a:p>
                <a:pPr algn="ctr" eaLnBrk="1" hangingPunct="1"/>
                <a:r>
                  <a:rPr lang="en-US" altLang="en-US" sz="1600" b="1"/>
                  <a:t>API calls</a:t>
                </a:r>
              </a:p>
            </p:txBody>
          </p:sp>
          <p:sp>
            <p:nvSpPr>
              <p:cNvPr id="38931" name="TextBox 47"/>
              <p:cNvSpPr txBox="1">
                <a:spLocks noChangeArrowheads="1"/>
              </p:cNvSpPr>
              <p:nvPr/>
            </p:nvSpPr>
            <p:spPr bwMode="auto">
              <a:xfrm>
                <a:off x="4569757" y="2435382"/>
                <a:ext cx="644235" cy="158024"/>
              </a:xfrm>
              <a:prstGeom prst="rect">
                <a:avLst/>
              </a:prstGeom>
              <a:noFill/>
              <a:ln w="9525">
                <a:noFill/>
                <a:miter lim="800000"/>
                <a:headEnd/>
                <a:tailEnd/>
              </a:ln>
            </p:spPr>
            <p:txBody>
              <a:bodyPr wrap="none">
                <a:spAutoFit/>
              </a:bodyPr>
              <a:lstStyle/>
              <a:p>
                <a:pPr algn="ctr" eaLnBrk="1" hangingPunct="1"/>
                <a:r>
                  <a:rPr lang="en-US" altLang="en-US" sz="1600" b="1"/>
                  <a:t>System calls</a:t>
                </a:r>
              </a:p>
            </p:txBody>
          </p:sp>
          <p:sp>
            <p:nvSpPr>
              <p:cNvPr id="38932" name="TextBox 48"/>
              <p:cNvSpPr txBox="1">
                <a:spLocks noChangeArrowheads="1"/>
              </p:cNvSpPr>
              <p:nvPr/>
            </p:nvSpPr>
            <p:spPr bwMode="auto">
              <a:xfrm>
                <a:off x="4588749" y="3067613"/>
                <a:ext cx="245290" cy="158024"/>
              </a:xfrm>
              <a:prstGeom prst="rect">
                <a:avLst/>
              </a:prstGeom>
              <a:noFill/>
              <a:ln w="9525">
                <a:noFill/>
                <a:miter lim="800000"/>
                <a:headEnd/>
                <a:tailEnd/>
              </a:ln>
            </p:spPr>
            <p:txBody>
              <a:bodyPr wrap="none">
                <a:spAutoFit/>
              </a:bodyPr>
              <a:lstStyle/>
              <a:p>
                <a:pPr algn="ctr" eaLnBrk="1" hangingPunct="1"/>
                <a:r>
                  <a:rPr lang="en-US" altLang="en-US" sz="1600" b="1"/>
                  <a:t>ISA</a:t>
                </a:r>
              </a:p>
            </p:txBody>
          </p:sp>
          <p:sp>
            <p:nvSpPr>
              <p:cNvPr id="38933" name="TextBox 49"/>
              <p:cNvSpPr txBox="1">
                <a:spLocks noChangeArrowheads="1"/>
              </p:cNvSpPr>
              <p:nvPr/>
            </p:nvSpPr>
            <p:spPr bwMode="auto">
              <a:xfrm>
                <a:off x="5556949" y="2570950"/>
                <a:ext cx="333054" cy="272950"/>
              </a:xfrm>
              <a:prstGeom prst="rect">
                <a:avLst/>
              </a:prstGeom>
              <a:noFill/>
              <a:ln w="9525">
                <a:noFill/>
                <a:miter lim="800000"/>
                <a:headEnd/>
                <a:tailEnd/>
              </a:ln>
            </p:spPr>
            <p:txBody>
              <a:bodyPr wrap="none">
                <a:spAutoFit/>
              </a:bodyPr>
              <a:lstStyle/>
              <a:p>
                <a:pPr algn="ctr" eaLnBrk="1" hangingPunct="1"/>
                <a:r>
                  <a:rPr lang="en-US" altLang="en-US" sz="1600" b="1"/>
                  <a:t>User </a:t>
                </a:r>
              </a:p>
              <a:p>
                <a:pPr algn="ctr" eaLnBrk="1" hangingPunct="1"/>
                <a:r>
                  <a:rPr lang="en-US" altLang="en-US" sz="1600" b="1"/>
                  <a:t>ISA</a:t>
                </a:r>
              </a:p>
            </p:txBody>
          </p:sp>
          <p:sp>
            <p:nvSpPr>
              <p:cNvPr id="38934" name="TextBox 50"/>
              <p:cNvSpPr txBox="1">
                <a:spLocks noChangeArrowheads="1"/>
              </p:cNvSpPr>
              <p:nvPr/>
            </p:nvSpPr>
            <p:spPr bwMode="auto">
              <a:xfrm>
                <a:off x="6027103" y="2382019"/>
                <a:ext cx="333054" cy="272950"/>
              </a:xfrm>
              <a:prstGeom prst="rect">
                <a:avLst/>
              </a:prstGeom>
              <a:noFill/>
              <a:ln w="9525">
                <a:noFill/>
                <a:miter lim="800000"/>
                <a:headEnd/>
                <a:tailEnd/>
              </a:ln>
            </p:spPr>
            <p:txBody>
              <a:bodyPr wrap="none">
                <a:spAutoFit/>
              </a:bodyPr>
              <a:lstStyle/>
              <a:p>
                <a:pPr algn="ctr" eaLnBrk="1" hangingPunct="1"/>
                <a:r>
                  <a:rPr lang="en-US" altLang="en-US" sz="1600" b="1"/>
                  <a:t>User </a:t>
                </a:r>
              </a:p>
              <a:p>
                <a:pPr algn="ctr" eaLnBrk="1" hangingPunct="1"/>
                <a:r>
                  <a:rPr lang="en-US" altLang="en-US" sz="1600" b="1"/>
                  <a:t>ISA</a:t>
                </a:r>
              </a:p>
            </p:txBody>
          </p:sp>
        </p:gr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019AD06-451C-413E-AF31-86503C137FDF}" type="slidenum">
              <a:rPr lang="en-US" smtClean="0"/>
              <a:pPr/>
              <a:t>16</a:t>
            </a:fld>
            <a:endParaRPr lang="en-US"/>
          </a:p>
        </p:txBody>
      </p:sp>
      <p:pic>
        <p:nvPicPr>
          <p:cNvPr id="3" name="Picture 2" descr="Untitled.png"/>
          <p:cNvPicPr>
            <a:picLocks noChangeAspect="1"/>
          </p:cNvPicPr>
          <p:nvPr/>
        </p:nvPicPr>
        <p:blipFill>
          <a:blip r:embed="rId2"/>
          <a:stretch>
            <a:fillRect/>
          </a:stretch>
        </p:blipFill>
        <p:spPr>
          <a:xfrm>
            <a:off x="788276" y="409904"/>
            <a:ext cx="10846676" cy="592783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altLang="en-US"/>
              <a:t>.</a:t>
            </a:r>
          </a:p>
        </p:txBody>
      </p:sp>
      <p:sp>
        <p:nvSpPr>
          <p:cNvPr id="48131" name="Content Placeholder 2"/>
          <p:cNvSpPr>
            <a:spLocks noGrp="1"/>
          </p:cNvSpPr>
          <p:nvPr>
            <p:ph idx="1"/>
          </p:nvPr>
        </p:nvSpPr>
        <p:spPr>
          <a:xfrm>
            <a:off x="406400" y="1143000"/>
            <a:ext cx="10972800" cy="5410200"/>
          </a:xfrm>
        </p:spPr>
        <p:txBody>
          <a:bodyPr/>
          <a:lstStyle/>
          <a:p>
            <a:r>
              <a:rPr lang="en-US" altLang="en-US" sz="2800"/>
              <a:t>Hypervisor runs above the supervisor mode.</a:t>
            </a:r>
          </a:p>
          <a:p>
            <a:r>
              <a:rPr lang="en-US" altLang="en-US" sz="2800"/>
              <a:t>  It runs in supervisor mode.</a:t>
            </a:r>
          </a:p>
          <a:p>
            <a:r>
              <a:rPr lang="en-US" altLang="en-US" sz="2800"/>
              <a:t>  It recreates a h/w environment. </a:t>
            </a:r>
          </a:p>
          <a:p>
            <a:pPr lvl="1"/>
            <a:r>
              <a:rPr lang="en-US" altLang="en-US"/>
              <a:t>It is a piece of s/w that enables us to run one or more VMs on a physical server(host). </a:t>
            </a:r>
          </a:p>
          <a:p>
            <a:pPr lvl="1"/>
            <a:r>
              <a:rPr lang="en-US" altLang="en-US"/>
              <a:t>Two major types of hypervisor -</a:t>
            </a:r>
          </a:p>
          <a:p>
            <a:pPr lvl="1">
              <a:buFont typeface="Arial" pitchFamily="34" charset="0"/>
              <a:buNone/>
            </a:pPr>
            <a:r>
              <a:rPr lang="en-US" altLang="en-US" sz="2400"/>
              <a:t>– </a:t>
            </a:r>
            <a:r>
              <a:rPr lang="en-US" altLang="en-US" sz="2400" b="1">
                <a:solidFill>
                  <a:srgbClr val="0070C0"/>
                </a:solidFill>
              </a:rPr>
              <a:t>Type –I</a:t>
            </a:r>
          </a:p>
          <a:p>
            <a:pPr lvl="1">
              <a:buFont typeface="Arial" pitchFamily="34" charset="0"/>
              <a:buNone/>
            </a:pPr>
            <a:r>
              <a:rPr lang="en-US" altLang="en-US" sz="2400" b="1">
                <a:solidFill>
                  <a:srgbClr val="0070C0"/>
                </a:solidFill>
              </a:rPr>
              <a:t> – Type-II</a:t>
            </a:r>
            <a:endParaRPr lang="en-US" altLang="en-US" sz="2400" b="1" u="sng">
              <a:solidFill>
                <a:srgbClr val="0070C0"/>
              </a:solidFill>
            </a:endParaRPr>
          </a:p>
        </p:txBody>
      </p:sp>
      <p:sp>
        <p:nvSpPr>
          <p:cNvPr id="4" name="Rectangle 3"/>
          <p:cNvSpPr/>
          <p:nvPr/>
        </p:nvSpPr>
        <p:spPr>
          <a:xfrm>
            <a:off x="0" y="0"/>
            <a:ext cx="12192000" cy="914400"/>
          </a:xfrm>
          <a:prstGeom prst="rect">
            <a:avLst/>
          </a:prstGeom>
          <a:solidFill>
            <a:srgbClr val="E42452">
              <a:alpha val="9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Times New Roman" pitchFamily="16" charset="0"/>
              <a:buNone/>
              <a:defRPr/>
            </a:pPr>
            <a:r>
              <a:rPr lang="en-US" sz="3600" dirty="0"/>
              <a:t> </a:t>
            </a:r>
            <a:r>
              <a:rPr lang="en-US" sz="3600" b="1" dirty="0"/>
              <a:t>Hypervisor </a:t>
            </a:r>
            <a:endParaRPr lang="en-US" sz="3600" b="1"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altLang="en-US"/>
              <a:t>.</a:t>
            </a:r>
          </a:p>
        </p:txBody>
      </p:sp>
      <p:sp>
        <p:nvSpPr>
          <p:cNvPr id="49155" name="Content Placeholder 2"/>
          <p:cNvSpPr>
            <a:spLocks noGrp="1"/>
          </p:cNvSpPr>
          <p:nvPr>
            <p:ph idx="1"/>
          </p:nvPr>
        </p:nvSpPr>
        <p:spPr>
          <a:xfrm>
            <a:off x="406400" y="1143000"/>
            <a:ext cx="10972800" cy="5410200"/>
          </a:xfrm>
        </p:spPr>
        <p:txBody>
          <a:bodyPr/>
          <a:lstStyle/>
          <a:p>
            <a:r>
              <a:rPr lang="en-US" altLang="en-US" sz="2800" b="1" u="sng" dirty="0">
                <a:solidFill>
                  <a:srgbClr val="0070C0"/>
                </a:solidFill>
              </a:rPr>
              <a:t>Type-I Hypervisor </a:t>
            </a:r>
          </a:p>
          <a:p>
            <a:r>
              <a:rPr lang="en-US" altLang="en-US" sz="2800" dirty="0"/>
              <a:t>It runs directly on top of the hardware.  </a:t>
            </a:r>
          </a:p>
          <a:p>
            <a:r>
              <a:rPr lang="en-US" altLang="en-US" sz="2800" dirty="0"/>
              <a:t>Takes place of OS. </a:t>
            </a:r>
          </a:p>
          <a:p>
            <a:r>
              <a:rPr lang="en-US" altLang="en-US" sz="2800" dirty="0"/>
              <a:t>Directly interact with the ISA exposed by the underlying hardware. </a:t>
            </a:r>
          </a:p>
          <a:p>
            <a:r>
              <a:rPr lang="en-US" altLang="en-US" sz="2800" dirty="0"/>
              <a:t>Also known as </a:t>
            </a:r>
            <a:r>
              <a:rPr lang="en-US" altLang="en-US" sz="2800" dirty="0">
                <a:solidFill>
                  <a:srgbClr val="FF0000"/>
                </a:solidFill>
              </a:rPr>
              <a:t>native virtual machine</a:t>
            </a:r>
            <a:r>
              <a:rPr lang="en-US" altLang="en-US" dirty="0">
                <a:solidFill>
                  <a:srgbClr val="0070C0"/>
                </a:solidFill>
              </a:rPr>
              <a:t> or </a:t>
            </a:r>
            <a:r>
              <a:rPr lang="en-US" altLang="en-US" dirty="0">
                <a:solidFill>
                  <a:srgbClr val="FF0000"/>
                </a:solidFill>
              </a:rPr>
              <a:t>bare metal virtualization</a:t>
            </a:r>
            <a:r>
              <a:rPr lang="en-US" altLang="en-US" dirty="0"/>
              <a:t>.</a:t>
            </a:r>
            <a:r>
              <a:rPr lang="en-US" altLang="en-US" sz="2800" u="sng" dirty="0">
                <a:solidFill>
                  <a:srgbClr val="0070C0"/>
                </a:solidFill>
              </a:rPr>
              <a:t> </a:t>
            </a:r>
            <a:endParaRPr lang="en-US" altLang="en-US" sz="2400" b="1" u="sng" dirty="0">
              <a:solidFill>
                <a:srgbClr val="0070C0"/>
              </a:solidFill>
            </a:endParaRPr>
          </a:p>
        </p:txBody>
      </p:sp>
      <p:sp>
        <p:nvSpPr>
          <p:cNvPr id="4" name="Rectangle 3"/>
          <p:cNvSpPr/>
          <p:nvPr/>
        </p:nvSpPr>
        <p:spPr>
          <a:xfrm>
            <a:off x="0" y="0"/>
            <a:ext cx="12192000" cy="914400"/>
          </a:xfrm>
          <a:prstGeom prst="rect">
            <a:avLst/>
          </a:prstGeom>
          <a:solidFill>
            <a:srgbClr val="E42452">
              <a:alpha val="9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Times New Roman" pitchFamily="16" charset="0"/>
              <a:buNone/>
              <a:defRPr/>
            </a:pPr>
            <a:r>
              <a:rPr lang="en-US" sz="3600" dirty="0"/>
              <a:t> </a:t>
            </a:r>
            <a:r>
              <a:rPr lang="en-US" sz="3600" b="1" dirty="0"/>
              <a:t>Type-I Hypervisor</a:t>
            </a:r>
            <a:endParaRPr lang="en-US" sz="3600" b="1" dirty="0">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altLang="en-US"/>
              <a:t>.</a:t>
            </a:r>
          </a:p>
        </p:txBody>
      </p:sp>
      <p:sp>
        <p:nvSpPr>
          <p:cNvPr id="51203" name="Content Placeholder 2"/>
          <p:cNvSpPr>
            <a:spLocks noGrp="1"/>
          </p:cNvSpPr>
          <p:nvPr>
            <p:ph idx="1"/>
          </p:nvPr>
        </p:nvSpPr>
        <p:spPr>
          <a:xfrm>
            <a:off x="406400" y="1143000"/>
            <a:ext cx="10972800" cy="5410200"/>
          </a:xfrm>
        </p:spPr>
        <p:txBody>
          <a:bodyPr/>
          <a:lstStyle/>
          <a:p>
            <a:r>
              <a:rPr lang="en-US" altLang="en-US" sz="2800" b="1" u="sng" dirty="0">
                <a:solidFill>
                  <a:srgbClr val="0070C0"/>
                </a:solidFill>
              </a:rPr>
              <a:t>Type-II Hypervisor </a:t>
            </a:r>
          </a:p>
          <a:p>
            <a:r>
              <a:rPr lang="en-US" altLang="en-US" sz="2800" dirty="0"/>
              <a:t>It require the support of an operating system to provide virtualization services.</a:t>
            </a:r>
          </a:p>
          <a:p>
            <a:r>
              <a:rPr lang="en-US" altLang="en-US" sz="2800" dirty="0"/>
              <a:t> Programs managed by the OS.</a:t>
            </a:r>
          </a:p>
          <a:p>
            <a:r>
              <a:rPr lang="en-US" altLang="en-US" sz="2800" dirty="0"/>
              <a:t> Emulate the ISA of virtual h/w.</a:t>
            </a:r>
          </a:p>
          <a:p>
            <a:r>
              <a:rPr lang="en-US" altLang="en-US" sz="2800" dirty="0"/>
              <a:t> Also called </a:t>
            </a:r>
            <a:r>
              <a:rPr lang="en-US" altLang="en-US" sz="2800" dirty="0">
                <a:solidFill>
                  <a:srgbClr val="FF0000"/>
                </a:solidFill>
              </a:rPr>
              <a:t>hosted virtual machine</a:t>
            </a:r>
            <a:r>
              <a:rPr lang="en-US" altLang="en-US" sz="2800" dirty="0"/>
              <a:t>.</a:t>
            </a:r>
            <a:endParaRPr lang="en-US" altLang="en-US" sz="2400" b="1" u="sng" dirty="0">
              <a:solidFill>
                <a:srgbClr val="0070C0"/>
              </a:solidFill>
            </a:endParaRPr>
          </a:p>
        </p:txBody>
      </p:sp>
      <p:sp>
        <p:nvSpPr>
          <p:cNvPr id="4" name="Rectangle 3"/>
          <p:cNvSpPr/>
          <p:nvPr/>
        </p:nvSpPr>
        <p:spPr>
          <a:xfrm>
            <a:off x="0" y="0"/>
            <a:ext cx="12192000" cy="914400"/>
          </a:xfrm>
          <a:prstGeom prst="rect">
            <a:avLst/>
          </a:prstGeom>
          <a:solidFill>
            <a:srgbClr val="E42452">
              <a:alpha val="9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Times New Roman" pitchFamily="16" charset="0"/>
              <a:buNone/>
              <a:defRPr/>
            </a:pPr>
            <a:r>
              <a:rPr lang="en-US" sz="3600" dirty="0"/>
              <a:t> </a:t>
            </a:r>
            <a:r>
              <a:rPr lang="en-US" sz="3600" b="1" dirty="0"/>
              <a:t>Type-II Hypervisor</a:t>
            </a:r>
            <a:endParaRPr lang="en-US" sz="3600" b="1" dirty="0">
              <a:solidFill>
                <a:schemeClr val="bg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altLang="en-US"/>
              <a:t>.</a:t>
            </a:r>
          </a:p>
        </p:txBody>
      </p:sp>
      <p:sp>
        <p:nvSpPr>
          <p:cNvPr id="4" name="Rectangle 3"/>
          <p:cNvSpPr/>
          <p:nvPr/>
        </p:nvSpPr>
        <p:spPr>
          <a:xfrm>
            <a:off x="0" y="0"/>
            <a:ext cx="12192000" cy="914400"/>
          </a:xfrm>
          <a:prstGeom prst="rect">
            <a:avLst/>
          </a:prstGeom>
          <a:solidFill>
            <a:srgbClr val="E42452">
              <a:alpha val="9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Times New Roman" pitchFamily="16" charset="0"/>
              <a:buNone/>
              <a:defRPr/>
            </a:pPr>
            <a:r>
              <a:rPr lang="en-US" sz="3600" dirty="0"/>
              <a:t> </a:t>
            </a:r>
            <a:r>
              <a:rPr lang="en-US" sz="3600" b="1" dirty="0"/>
              <a:t>Type-I &amp; Type-II Hypervisors</a:t>
            </a:r>
            <a:endParaRPr lang="en-US" sz="3600" b="1" dirty="0">
              <a:solidFill>
                <a:schemeClr val="bg1"/>
              </a:solidFill>
            </a:endParaRPr>
          </a:p>
        </p:txBody>
      </p:sp>
      <p:grpSp>
        <p:nvGrpSpPr>
          <p:cNvPr id="2" name="Content Placeholder 4"/>
          <p:cNvGrpSpPr>
            <a:grpSpLocks noGrp="1"/>
          </p:cNvGrpSpPr>
          <p:nvPr/>
        </p:nvGrpSpPr>
        <p:grpSpPr bwMode="auto">
          <a:xfrm>
            <a:off x="406400" y="1143000"/>
            <a:ext cx="10972800" cy="5410200"/>
            <a:chOff x="733331" y="1312752"/>
            <a:chExt cx="5911913" cy="2625505"/>
          </a:xfrm>
        </p:grpSpPr>
        <p:sp>
          <p:nvSpPr>
            <p:cNvPr id="6" name="Rectangle 5"/>
            <p:cNvSpPr/>
            <p:nvPr/>
          </p:nvSpPr>
          <p:spPr>
            <a:xfrm>
              <a:off x="733331" y="1312752"/>
              <a:ext cx="5911913" cy="26255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2000" b="1">
                <a:solidFill>
                  <a:srgbClr val="000000"/>
                </a:solidFill>
              </a:endParaRPr>
            </a:p>
          </p:txBody>
        </p:sp>
        <p:grpSp>
          <p:nvGrpSpPr>
            <p:cNvPr id="3" name="Group 40"/>
            <p:cNvGrpSpPr>
              <a:grpSpLocks/>
            </p:cNvGrpSpPr>
            <p:nvPr/>
          </p:nvGrpSpPr>
          <p:grpSpPr bwMode="auto">
            <a:xfrm>
              <a:off x="845510" y="1464989"/>
              <a:ext cx="2766882" cy="2348583"/>
              <a:chOff x="845510" y="1464989"/>
              <a:chExt cx="2766882" cy="2348583"/>
            </a:xfrm>
          </p:grpSpPr>
          <p:cxnSp>
            <p:nvCxnSpPr>
              <p:cNvPr id="19" name="Straight Connector 18"/>
              <p:cNvCxnSpPr/>
              <p:nvPr/>
            </p:nvCxnSpPr>
            <p:spPr>
              <a:xfrm flipH="1">
                <a:off x="1439249" y="2543843"/>
                <a:ext cx="2164508" cy="0"/>
              </a:xfrm>
              <a:prstGeom prst="line">
                <a:avLst/>
              </a:prstGeom>
              <a:ln>
                <a:solidFill>
                  <a:srgbClr val="000000"/>
                </a:solidFill>
                <a:prstDash val="dash"/>
              </a:ln>
            </p:spPr>
            <p:style>
              <a:lnRef idx="1">
                <a:schemeClr val="accent1"/>
              </a:lnRef>
              <a:fillRef idx="0">
                <a:schemeClr val="accent1"/>
              </a:fillRef>
              <a:effectRef idx="0">
                <a:schemeClr val="accent1"/>
              </a:effectRef>
              <a:fontRef idx="minor">
                <a:schemeClr val="tx1"/>
              </a:fontRef>
            </p:style>
          </p:cxnSp>
          <p:sp>
            <p:nvSpPr>
              <p:cNvPr id="20" name="Rounded Rectangle 19"/>
              <p:cNvSpPr/>
              <p:nvPr/>
            </p:nvSpPr>
            <p:spPr>
              <a:xfrm>
                <a:off x="845092" y="2429824"/>
                <a:ext cx="530294" cy="228807"/>
              </a:xfrm>
              <a:prstGeom prst="round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hangingPunct="1">
                  <a:defRPr/>
                </a:pPr>
                <a:r>
                  <a:rPr lang="en-US" sz="2000" b="1" dirty="0">
                    <a:solidFill>
                      <a:srgbClr val="000000"/>
                    </a:solidFill>
                  </a:rPr>
                  <a:t>ABI</a:t>
                </a:r>
              </a:p>
            </p:txBody>
          </p:sp>
          <p:sp>
            <p:nvSpPr>
              <p:cNvPr id="21" name="Rectangle 20"/>
              <p:cNvSpPr/>
              <p:nvPr/>
            </p:nvSpPr>
            <p:spPr>
              <a:xfrm>
                <a:off x="1666191" y="3341972"/>
                <a:ext cx="1711764" cy="471481"/>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anchor="ctr"/>
              <a:lstStyle/>
              <a:p>
                <a:pPr indent="-285750" algn="ctr" eaLnBrk="1" hangingPunct="1">
                  <a:spcBef>
                    <a:spcPct val="20000"/>
                  </a:spcBef>
                  <a:buClr>
                    <a:schemeClr val="accent2"/>
                  </a:buClr>
                  <a:buSzPct val="60000"/>
                  <a:buFont typeface="Wingdings" pitchFamily="2" charset="2"/>
                  <a:buNone/>
                  <a:defRPr/>
                </a:pPr>
                <a:r>
                  <a:rPr lang="en-US" sz="2000" b="1" dirty="0">
                    <a:solidFill>
                      <a:srgbClr val="000000"/>
                    </a:solidFill>
                  </a:rPr>
                  <a:t>Hardware</a:t>
                </a:r>
              </a:p>
            </p:txBody>
          </p:sp>
          <p:sp>
            <p:nvSpPr>
              <p:cNvPr id="22" name="Rectangle 21"/>
              <p:cNvSpPr/>
              <p:nvPr/>
            </p:nvSpPr>
            <p:spPr>
              <a:xfrm>
                <a:off x="1666191" y="2658632"/>
                <a:ext cx="1711764" cy="471481"/>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b="1" dirty="0">
                    <a:solidFill>
                      <a:srgbClr val="000000"/>
                    </a:solidFill>
                  </a:rPr>
                  <a:t>Operative System</a:t>
                </a:r>
              </a:p>
            </p:txBody>
          </p:sp>
          <p:cxnSp>
            <p:nvCxnSpPr>
              <p:cNvPr id="23" name="Straight Connector 22"/>
              <p:cNvCxnSpPr/>
              <p:nvPr/>
            </p:nvCxnSpPr>
            <p:spPr>
              <a:xfrm flipH="1">
                <a:off x="1448372" y="3242591"/>
                <a:ext cx="2164508" cy="0"/>
              </a:xfrm>
              <a:prstGeom prst="line">
                <a:avLst/>
              </a:prstGeom>
              <a:ln>
                <a:solidFill>
                  <a:srgbClr val="000000"/>
                </a:solidFill>
                <a:prstDash val="dash"/>
              </a:ln>
            </p:spPr>
            <p:style>
              <a:lnRef idx="1">
                <a:schemeClr val="accent1"/>
              </a:lnRef>
              <a:fillRef idx="0">
                <a:schemeClr val="accent1"/>
              </a:fillRef>
              <a:effectRef idx="0">
                <a:schemeClr val="accent1"/>
              </a:effectRef>
              <a:fontRef idx="minor">
                <a:schemeClr val="tx1"/>
              </a:fontRef>
            </p:style>
          </p:cxnSp>
          <p:sp>
            <p:nvSpPr>
              <p:cNvPr id="24" name="Rounded Rectangle 23"/>
              <p:cNvSpPr/>
              <p:nvPr/>
            </p:nvSpPr>
            <p:spPr>
              <a:xfrm>
                <a:off x="854215" y="3128573"/>
                <a:ext cx="530294" cy="228807"/>
              </a:xfrm>
              <a:prstGeom prst="round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hangingPunct="1">
                  <a:defRPr/>
                </a:pPr>
                <a:r>
                  <a:rPr lang="en-US" sz="2000" b="1" dirty="0">
                    <a:solidFill>
                      <a:srgbClr val="000000"/>
                    </a:solidFill>
                  </a:rPr>
                  <a:t>ISA</a:t>
                </a:r>
              </a:p>
            </p:txBody>
          </p:sp>
          <p:sp>
            <p:nvSpPr>
              <p:cNvPr id="25" name="Rectangle 24"/>
              <p:cNvSpPr/>
              <p:nvPr/>
            </p:nvSpPr>
            <p:spPr>
              <a:xfrm>
                <a:off x="1675314" y="1952950"/>
                <a:ext cx="1710623" cy="472252"/>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b="1" dirty="0">
                    <a:solidFill>
                      <a:srgbClr val="000000"/>
                    </a:solidFill>
                  </a:rPr>
                  <a:t>Virtual Machine Manager</a:t>
                </a:r>
              </a:p>
            </p:txBody>
          </p:sp>
          <p:cxnSp>
            <p:nvCxnSpPr>
              <p:cNvPr id="26" name="Straight Connector 25"/>
              <p:cNvCxnSpPr/>
              <p:nvPr/>
            </p:nvCxnSpPr>
            <p:spPr>
              <a:xfrm flipH="1">
                <a:off x="1448372" y="1859732"/>
                <a:ext cx="2164508" cy="0"/>
              </a:xfrm>
              <a:prstGeom prst="line">
                <a:avLst/>
              </a:prstGeom>
              <a:ln>
                <a:solidFill>
                  <a:srgbClr val="000000"/>
                </a:solidFill>
                <a:prstDash val="dash"/>
              </a:ln>
            </p:spPr>
            <p:style>
              <a:lnRef idx="1">
                <a:schemeClr val="accent1"/>
              </a:lnRef>
              <a:fillRef idx="0">
                <a:schemeClr val="accent1"/>
              </a:fillRef>
              <a:effectRef idx="0">
                <a:schemeClr val="accent1"/>
              </a:effectRef>
              <a:fontRef idx="minor">
                <a:schemeClr val="tx1"/>
              </a:fontRef>
            </p:style>
          </p:cxnSp>
          <p:sp>
            <p:nvSpPr>
              <p:cNvPr id="27" name="Rounded Rectangle 26"/>
              <p:cNvSpPr/>
              <p:nvPr/>
            </p:nvSpPr>
            <p:spPr>
              <a:xfrm>
                <a:off x="854215" y="1745714"/>
                <a:ext cx="530294" cy="228807"/>
              </a:xfrm>
              <a:prstGeom prst="round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hangingPunct="1">
                  <a:defRPr/>
                </a:pPr>
                <a:r>
                  <a:rPr lang="en-US" sz="2000" b="1" dirty="0">
                    <a:solidFill>
                      <a:srgbClr val="000000"/>
                    </a:solidFill>
                  </a:rPr>
                  <a:t>ISA</a:t>
                </a:r>
              </a:p>
            </p:txBody>
          </p:sp>
          <p:sp>
            <p:nvSpPr>
              <p:cNvPr id="28" name="Rectangle 27"/>
              <p:cNvSpPr/>
              <p:nvPr/>
            </p:nvSpPr>
            <p:spPr>
              <a:xfrm>
                <a:off x="1683298" y="1465290"/>
                <a:ext cx="399145" cy="280424"/>
              </a:xfrm>
              <a:prstGeom prst="rect">
                <a:avLst/>
              </a:prstGeom>
              <a:solidFill>
                <a:schemeClr val="bg1"/>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b="1" dirty="0">
                    <a:solidFill>
                      <a:srgbClr val="000000"/>
                    </a:solidFill>
                  </a:rPr>
                  <a:t>VM</a:t>
                </a:r>
              </a:p>
            </p:txBody>
          </p:sp>
          <p:sp>
            <p:nvSpPr>
              <p:cNvPr id="29" name="Rectangle 28"/>
              <p:cNvSpPr/>
              <p:nvPr/>
            </p:nvSpPr>
            <p:spPr>
              <a:xfrm>
                <a:off x="2118936" y="1465290"/>
                <a:ext cx="398005" cy="280424"/>
              </a:xfrm>
              <a:prstGeom prst="rect">
                <a:avLst/>
              </a:prstGeom>
              <a:solidFill>
                <a:schemeClr val="bg1"/>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b="1" dirty="0">
                    <a:solidFill>
                      <a:srgbClr val="000000"/>
                    </a:solidFill>
                  </a:rPr>
                  <a:t>VM</a:t>
                </a:r>
              </a:p>
            </p:txBody>
          </p:sp>
          <p:sp>
            <p:nvSpPr>
              <p:cNvPr id="30" name="Rectangle 29"/>
              <p:cNvSpPr/>
              <p:nvPr/>
            </p:nvSpPr>
            <p:spPr>
              <a:xfrm>
                <a:off x="2552294" y="1465290"/>
                <a:ext cx="398005" cy="280424"/>
              </a:xfrm>
              <a:prstGeom prst="rect">
                <a:avLst/>
              </a:prstGeom>
              <a:solidFill>
                <a:schemeClr val="bg1"/>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b="1" dirty="0">
                    <a:solidFill>
                      <a:srgbClr val="000000"/>
                    </a:solidFill>
                  </a:rPr>
                  <a:t>VM</a:t>
                </a:r>
              </a:p>
            </p:txBody>
          </p:sp>
          <p:sp>
            <p:nvSpPr>
              <p:cNvPr id="31" name="Rectangle 30"/>
              <p:cNvSpPr/>
              <p:nvPr/>
            </p:nvSpPr>
            <p:spPr>
              <a:xfrm>
                <a:off x="2987933" y="1469143"/>
                <a:ext cx="398005" cy="280424"/>
              </a:xfrm>
              <a:prstGeom prst="rect">
                <a:avLst/>
              </a:prstGeom>
              <a:solidFill>
                <a:schemeClr val="bg1"/>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b="1" dirty="0">
                    <a:solidFill>
                      <a:srgbClr val="000000"/>
                    </a:solidFill>
                  </a:rPr>
                  <a:t>VM</a:t>
                </a:r>
              </a:p>
            </p:txBody>
          </p:sp>
        </p:grpSp>
        <p:grpSp>
          <p:nvGrpSpPr>
            <p:cNvPr id="5" name="Group 55"/>
            <p:cNvGrpSpPr>
              <a:grpSpLocks/>
            </p:cNvGrpSpPr>
            <p:nvPr/>
          </p:nvGrpSpPr>
          <p:grpSpPr bwMode="auto">
            <a:xfrm>
              <a:off x="3726620" y="2148497"/>
              <a:ext cx="2770217" cy="1660555"/>
              <a:chOff x="3726620" y="2148497"/>
              <a:chExt cx="2770217" cy="1660555"/>
            </a:xfrm>
          </p:grpSpPr>
          <p:sp>
            <p:nvSpPr>
              <p:cNvPr id="9" name="Rectangle 8"/>
              <p:cNvSpPr/>
              <p:nvPr/>
            </p:nvSpPr>
            <p:spPr>
              <a:xfrm>
                <a:off x="4025711" y="3337349"/>
                <a:ext cx="1710623" cy="471482"/>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anchor="ctr"/>
              <a:lstStyle/>
              <a:p>
                <a:pPr indent="-285750" algn="ctr" eaLnBrk="1" hangingPunct="1">
                  <a:spcBef>
                    <a:spcPct val="20000"/>
                  </a:spcBef>
                  <a:buClr>
                    <a:schemeClr val="accent2"/>
                  </a:buClr>
                  <a:buSzPct val="60000"/>
                  <a:buFont typeface="Wingdings" pitchFamily="2" charset="2"/>
                  <a:buNone/>
                  <a:defRPr/>
                </a:pPr>
                <a:r>
                  <a:rPr lang="en-US" sz="2000" b="1" dirty="0">
                    <a:solidFill>
                      <a:srgbClr val="000000"/>
                    </a:solidFill>
                  </a:rPr>
                  <a:t>Hardware</a:t>
                </a:r>
              </a:p>
            </p:txBody>
          </p:sp>
          <p:cxnSp>
            <p:nvCxnSpPr>
              <p:cNvPr id="10" name="Straight Connector 9"/>
              <p:cNvCxnSpPr/>
              <p:nvPr/>
            </p:nvCxnSpPr>
            <p:spPr>
              <a:xfrm flipH="1">
                <a:off x="3726922" y="3237969"/>
                <a:ext cx="2163367" cy="0"/>
              </a:xfrm>
              <a:prstGeom prst="line">
                <a:avLst/>
              </a:prstGeom>
              <a:ln>
                <a:solidFill>
                  <a:srgbClr val="000000"/>
                </a:solidFill>
                <a:prstDash val="dash"/>
              </a:ln>
            </p:spPr>
            <p:style>
              <a:lnRef idx="1">
                <a:schemeClr val="accent1"/>
              </a:lnRef>
              <a:fillRef idx="0">
                <a:schemeClr val="accent1"/>
              </a:fillRef>
              <a:effectRef idx="0">
                <a:schemeClr val="accent1"/>
              </a:effectRef>
              <a:fontRef idx="minor">
                <a:schemeClr val="tx1"/>
              </a:fontRef>
            </p:style>
          </p:cxnSp>
          <p:sp>
            <p:nvSpPr>
              <p:cNvPr id="11" name="Rounded Rectangle 10"/>
              <p:cNvSpPr/>
              <p:nvPr/>
            </p:nvSpPr>
            <p:spPr>
              <a:xfrm>
                <a:off x="5966697" y="3123950"/>
                <a:ext cx="530293" cy="228807"/>
              </a:xfrm>
              <a:prstGeom prst="round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hangingPunct="1">
                  <a:defRPr/>
                </a:pPr>
                <a:r>
                  <a:rPr lang="en-US" sz="2000" b="1" dirty="0">
                    <a:solidFill>
                      <a:srgbClr val="000000"/>
                    </a:solidFill>
                  </a:rPr>
                  <a:t>ISA</a:t>
                </a:r>
              </a:p>
            </p:txBody>
          </p:sp>
          <p:sp>
            <p:nvSpPr>
              <p:cNvPr id="12" name="Rectangle 11"/>
              <p:cNvSpPr/>
              <p:nvPr/>
            </p:nvSpPr>
            <p:spPr>
              <a:xfrm>
                <a:off x="4034834" y="2645535"/>
                <a:ext cx="1710623" cy="471482"/>
              </a:xfrm>
              <a:prstGeom prst="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b="1" dirty="0">
                    <a:solidFill>
                      <a:srgbClr val="000000"/>
                    </a:solidFill>
                  </a:rPr>
                  <a:t>Virtual Machine Manager</a:t>
                </a:r>
              </a:p>
            </p:txBody>
          </p:sp>
          <p:cxnSp>
            <p:nvCxnSpPr>
              <p:cNvPr id="13" name="Straight Connector 12"/>
              <p:cNvCxnSpPr/>
              <p:nvPr/>
            </p:nvCxnSpPr>
            <p:spPr>
              <a:xfrm flipH="1">
                <a:off x="3726922" y="2543073"/>
                <a:ext cx="2163367" cy="0"/>
              </a:xfrm>
              <a:prstGeom prst="line">
                <a:avLst/>
              </a:prstGeom>
              <a:ln>
                <a:solidFill>
                  <a:srgbClr val="000000"/>
                </a:solidFill>
                <a:prstDash val="dash"/>
              </a:ln>
            </p:spPr>
            <p:style>
              <a:lnRef idx="1">
                <a:schemeClr val="accent1"/>
              </a:lnRef>
              <a:fillRef idx="0">
                <a:schemeClr val="accent1"/>
              </a:fillRef>
              <a:effectRef idx="0">
                <a:schemeClr val="accent1"/>
              </a:effectRef>
              <a:fontRef idx="minor">
                <a:schemeClr val="tx1"/>
              </a:fontRef>
            </p:style>
          </p:cxnSp>
          <p:sp>
            <p:nvSpPr>
              <p:cNvPr id="14" name="Rounded Rectangle 13"/>
              <p:cNvSpPr/>
              <p:nvPr/>
            </p:nvSpPr>
            <p:spPr>
              <a:xfrm>
                <a:off x="5966697" y="2429054"/>
                <a:ext cx="530293" cy="228807"/>
              </a:xfrm>
              <a:prstGeom prst="roundRect">
                <a:avLst/>
              </a:prstGeom>
              <a:solidFill>
                <a:schemeClr val="bg1"/>
              </a:solidFill>
              <a:ln w="127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hangingPunct="1">
                  <a:defRPr/>
                </a:pPr>
                <a:r>
                  <a:rPr lang="en-US" sz="2000" b="1" dirty="0">
                    <a:solidFill>
                      <a:srgbClr val="000000"/>
                    </a:solidFill>
                  </a:rPr>
                  <a:t>ISA</a:t>
                </a:r>
              </a:p>
            </p:txBody>
          </p:sp>
          <p:sp>
            <p:nvSpPr>
              <p:cNvPr id="15" name="Rectangle 14"/>
              <p:cNvSpPr/>
              <p:nvPr/>
            </p:nvSpPr>
            <p:spPr>
              <a:xfrm>
                <a:off x="4043957" y="2148630"/>
                <a:ext cx="398005" cy="280424"/>
              </a:xfrm>
              <a:prstGeom prst="rect">
                <a:avLst/>
              </a:prstGeom>
              <a:solidFill>
                <a:schemeClr val="bg1"/>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b="1" dirty="0">
                    <a:solidFill>
                      <a:srgbClr val="000000"/>
                    </a:solidFill>
                  </a:rPr>
                  <a:t>VM</a:t>
                </a:r>
              </a:p>
            </p:txBody>
          </p:sp>
          <p:sp>
            <p:nvSpPr>
              <p:cNvPr id="16" name="Rectangle 15"/>
              <p:cNvSpPr/>
              <p:nvPr/>
            </p:nvSpPr>
            <p:spPr>
              <a:xfrm>
                <a:off x="4478455" y="2148630"/>
                <a:ext cx="398005" cy="280424"/>
              </a:xfrm>
              <a:prstGeom prst="rect">
                <a:avLst/>
              </a:prstGeom>
              <a:solidFill>
                <a:schemeClr val="bg1"/>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b="1" dirty="0">
                    <a:solidFill>
                      <a:srgbClr val="000000"/>
                    </a:solidFill>
                  </a:rPr>
                  <a:t>VM</a:t>
                </a:r>
              </a:p>
            </p:txBody>
          </p:sp>
          <p:sp>
            <p:nvSpPr>
              <p:cNvPr id="17" name="Rectangle 16"/>
              <p:cNvSpPr/>
              <p:nvPr/>
            </p:nvSpPr>
            <p:spPr>
              <a:xfrm>
                <a:off x="4911813" y="2148630"/>
                <a:ext cx="398005" cy="280424"/>
              </a:xfrm>
              <a:prstGeom prst="rect">
                <a:avLst/>
              </a:prstGeom>
              <a:solidFill>
                <a:schemeClr val="bg1"/>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b="1" dirty="0">
                    <a:solidFill>
                      <a:srgbClr val="000000"/>
                    </a:solidFill>
                  </a:rPr>
                  <a:t>VM</a:t>
                </a:r>
              </a:p>
            </p:txBody>
          </p:sp>
          <p:sp>
            <p:nvSpPr>
              <p:cNvPr id="18" name="Rectangle 17"/>
              <p:cNvSpPr/>
              <p:nvPr/>
            </p:nvSpPr>
            <p:spPr>
              <a:xfrm>
                <a:off x="5347451" y="2152482"/>
                <a:ext cx="398005" cy="280424"/>
              </a:xfrm>
              <a:prstGeom prst="rect">
                <a:avLst/>
              </a:prstGeom>
              <a:solidFill>
                <a:schemeClr val="bg1"/>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b="1" dirty="0">
                    <a:solidFill>
                      <a:srgbClr val="000000"/>
                    </a:solidFill>
                  </a:rPr>
                  <a:t>VM</a:t>
                </a:r>
              </a:p>
            </p:txBody>
          </p:sp>
        </p:gr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69689"/>
          </a:xfrm>
        </p:spPr>
        <p:style>
          <a:lnRef idx="0">
            <a:scrgbClr r="0" g="0" b="0"/>
          </a:lnRef>
          <a:fillRef idx="1003">
            <a:schemeClr val="lt2"/>
          </a:fillRef>
          <a:effectRef idx="0">
            <a:scrgbClr r="0" g="0" b="0"/>
          </a:effectRef>
          <a:fontRef idx="major"/>
        </p:style>
        <p:txBody>
          <a:bodyPr>
            <a:normAutofit/>
          </a:bodyPr>
          <a:lstStyle/>
          <a:p>
            <a:r>
              <a:rPr lang="en-IN" sz="3600" dirty="0"/>
              <a:t>Research Scope</a:t>
            </a:r>
            <a:endParaRPr lang="en-US" sz="3600" dirty="0"/>
          </a:p>
        </p:txBody>
      </p:sp>
      <p:pic>
        <p:nvPicPr>
          <p:cNvPr id="5" name="Content Placeholder 4" descr="Untitled1.png"/>
          <p:cNvPicPr>
            <a:picLocks noGrp="1" noChangeAspect="1"/>
          </p:cNvPicPr>
          <p:nvPr>
            <p:ph idx="1"/>
          </p:nvPr>
        </p:nvPicPr>
        <p:blipFill>
          <a:blip r:embed="rId2"/>
          <a:stretch>
            <a:fillRect/>
          </a:stretch>
        </p:blipFill>
        <p:spPr>
          <a:xfrm>
            <a:off x="1187670" y="1040524"/>
            <a:ext cx="10037378" cy="5817476"/>
          </a:xfrm>
        </p:spPr>
      </p:pic>
      <p:sp>
        <p:nvSpPr>
          <p:cNvPr id="4" name="Slide Number Placeholder 3"/>
          <p:cNvSpPr>
            <a:spLocks noGrp="1"/>
          </p:cNvSpPr>
          <p:nvPr>
            <p:ph type="sldNum" sz="quarter" idx="12"/>
          </p:nvPr>
        </p:nvSpPr>
        <p:spPr/>
        <p:txBody>
          <a:bodyPr/>
          <a:lstStyle/>
          <a:p>
            <a:fld id="{2019AD06-451C-413E-AF31-86503C137FDF}"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96116"/>
          </a:xfrm>
        </p:spPr>
        <p:style>
          <a:lnRef idx="0">
            <a:scrgbClr r="0" g="0" b="0"/>
          </a:lnRef>
          <a:fillRef idx="1003">
            <a:schemeClr val="lt2"/>
          </a:fillRef>
          <a:effectRef idx="0">
            <a:scrgbClr r="0" g="0" b="0"/>
          </a:effectRef>
          <a:fontRef idx="major"/>
        </p:style>
        <p:txBody>
          <a:bodyPr>
            <a:normAutofit/>
          </a:bodyPr>
          <a:lstStyle/>
          <a:p>
            <a:r>
              <a:rPr lang="en-IN" sz="3600" dirty="0">
                <a:solidFill>
                  <a:srgbClr val="FF0000"/>
                </a:solidFill>
              </a:rPr>
              <a:t>Limitations</a:t>
            </a:r>
            <a:r>
              <a:rPr lang="en-IN" sz="3600" dirty="0"/>
              <a:t> and </a:t>
            </a:r>
            <a:r>
              <a:rPr lang="en-IN" sz="3600" dirty="0">
                <a:solidFill>
                  <a:srgbClr val="FF0000"/>
                </a:solidFill>
              </a:rPr>
              <a:t>Disadvantages</a:t>
            </a:r>
            <a:endParaRPr lang="en-US" sz="3600" dirty="0">
              <a:solidFill>
                <a:srgbClr val="FF0000"/>
              </a:solidFill>
            </a:endParaRPr>
          </a:p>
        </p:txBody>
      </p:sp>
      <p:sp>
        <p:nvSpPr>
          <p:cNvPr id="3" name="Content Placeholder 2"/>
          <p:cNvSpPr>
            <a:spLocks noGrp="1"/>
          </p:cNvSpPr>
          <p:nvPr>
            <p:ph idx="1"/>
          </p:nvPr>
        </p:nvSpPr>
        <p:spPr>
          <a:xfrm>
            <a:off x="838200" y="1460938"/>
            <a:ext cx="10515600" cy="5171090"/>
          </a:xfrm>
        </p:spPr>
        <p:txBody>
          <a:bodyPr>
            <a:normAutofit fontScale="70000" lnSpcReduction="20000"/>
          </a:bodyPr>
          <a:lstStyle/>
          <a:p>
            <a:pPr algn="just"/>
            <a:r>
              <a:rPr lang="en-US" dirty="0"/>
              <a:t>According to </a:t>
            </a:r>
            <a:r>
              <a:rPr lang="en-US" dirty="0">
                <a:hlinkClick r:id="rId2" tooltip="Bruce Schneier"/>
              </a:rPr>
              <a:t>Bruce </a:t>
            </a:r>
            <a:r>
              <a:rPr lang="en-US" dirty="0" err="1">
                <a:hlinkClick r:id="rId2" tooltip="Bruce Schneier"/>
              </a:rPr>
              <a:t>Schneier</a:t>
            </a:r>
            <a:r>
              <a:rPr lang="en-US" dirty="0"/>
              <a:t>, "The downside is that you will have limited customization options.</a:t>
            </a:r>
          </a:p>
          <a:p>
            <a:pPr algn="just"/>
            <a:r>
              <a:rPr lang="en-US" dirty="0"/>
              <a:t>Cloud computing is cheaper because of </a:t>
            </a:r>
            <a:r>
              <a:rPr lang="en-US" dirty="0">
                <a:hlinkClick r:id="rId3" tooltip="Economies of scale"/>
              </a:rPr>
              <a:t>economics of scale</a:t>
            </a:r>
            <a:r>
              <a:rPr lang="en-US" dirty="0"/>
              <a:t>, and—like any outsourced task—you tend to get what you want. A restaurant with a limited menu is cheaper than a personal chef who can cook anything you want. Fewer options at a much cheaper price: it's a feature, not a bug." </a:t>
            </a:r>
          </a:p>
          <a:p>
            <a:pPr algn="just"/>
            <a:r>
              <a:rPr lang="en-US" dirty="0"/>
              <a:t>He also suggests that "the cloud provider might not meet your legal needs" and that businesses need to weigh the benefits of cloud computing against the risks. In cloud computing, the control of the back end infrastructure is limited to the cloud vendor only. Cloud providers often decide on the management policies, which moderates what the cloud users are able to do with their deployment.</a:t>
            </a:r>
            <a:r>
              <a:rPr lang="en-US" baseline="30000" dirty="0"/>
              <a:t> </a:t>
            </a:r>
            <a:r>
              <a:rPr lang="en-US" dirty="0"/>
              <a:t>Cloud users are also limited to the control and management of their applications, data and services.</a:t>
            </a:r>
            <a:r>
              <a:rPr lang="en-US" baseline="30000" dirty="0"/>
              <a:t> </a:t>
            </a:r>
            <a:r>
              <a:rPr lang="en-US" dirty="0"/>
              <a:t>This includes </a:t>
            </a:r>
            <a:r>
              <a:rPr lang="en-US" dirty="0">
                <a:hlinkClick r:id="rId4" tooltip="Data cap"/>
              </a:rPr>
              <a:t>data caps</a:t>
            </a:r>
            <a:r>
              <a:rPr lang="en-US" dirty="0"/>
              <a:t>, which are placed on cloud users by the cloud vendor allocating certain amount of bandwidth for each customer and are often shared among other cloud users.</a:t>
            </a:r>
          </a:p>
          <a:p>
            <a:pPr algn="just"/>
            <a:r>
              <a:rPr lang="en-US" dirty="0"/>
              <a:t>Privacy and </a:t>
            </a:r>
            <a:r>
              <a:rPr lang="en-US" dirty="0">
                <a:hlinkClick r:id="rId5" tooltip="Confidentiality"/>
              </a:rPr>
              <a:t>confidentiality</a:t>
            </a:r>
            <a:r>
              <a:rPr lang="en-US" dirty="0"/>
              <a:t> are big concerns in some activities. </a:t>
            </a:r>
          </a:p>
          <a:p>
            <a:pPr algn="just"/>
            <a:r>
              <a:rPr lang="en-US" dirty="0"/>
              <a:t>Cloud computing is beneficial to many enterprises; it lowers costs and allows them to focus on competence instead of on matters of IT and infrastructure. Nevertheless, cloud computing has proven to have some limitations and disadvantages, especially for smaller business operations, particularly regarding security and downtime. </a:t>
            </a:r>
          </a:p>
          <a:p>
            <a:pPr algn="just"/>
            <a:r>
              <a:rPr lang="en-US" dirty="0"/>
              <a:t>Since this technology's systems rely on the internet, an individual cannot be able to access their applications, server or data from the cloud during an outage.</a:t>
            </a:r>
          </a:p>
          <a:p>
            <a:endParaRPr lang="en-US" dirty="0"/>
          </a:p>
        </p:txBody>
      </p:sp>
      <p:sp>
        <p:nvSpPr>
          <p:cNvPr id="4" name="Slide Number Placeholder 3"/>
          <p:cNvSpPr>
            <a:spLocks noGrp="1"/>
          </p:cNvSpPr>
          <p:nvPr>
            <p:ph type="sldNum" sz="quarter" idx="12"/>
          </p:nvPr>
        </p:nvSpPr>
        <p:spPr/>
        <p:txBody>
          <a:bodyPr/>
          <a:lstStyle/>
          <a:p>
            <a:fld id="{2019AD06-451C-413E-AF31-86503C137FDF}"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32751"/>
          </a:xfrm>
        </p:spPr>
        <p:style>
          <a:lnRef idx="0">
            <a:scrgbClr r="0" g="0" b="0"/>
          </a:lnRef>
          <a:fillRef idx="1003">
            <a:schemeClr val="lt2"/>
          </a:fillRef>
          <a:effectRef idx="0">
            <a:scrgbClr r="0" g="0" b="0"/>
          </a:effectRef>
          <a:fontRef idx="major"/>
        </p:style>
        <p:txBody>
          <a:bodyPr>
            <a:normAutofit/>
          </a:bodyPr>
          <a:lstStyle/>
          <a:p>
            <a:r>
              <a:rPr lang="en-IN" sz="3600" dirty="0"/>
              <a:t>Simulation Tool</a:t>
            </a:r>
            <a:endParaRPr lang="en-US" sz="3600" dirty="0"/>
          </a:p>
        </p:txBody>
      </p:sp>
      <p:sp>
        <p:nvSpPr>
          <p:cNvPr id="3" name="Content Placeholder 2"/>
          <p:cNvSpPr>
            <a:spLocks noGrp="1"/>
          </p:cNvSpPr>
          <p:nvPr>
            <p:ph idx="1"/>
          </p:nvPr>
        </p:nvSpPr>
        <p:spPr>
          <a:xfrm>
            <a:off x="838200" y="1618592"/>
            <a:ext cx="10515600" cy="4771697"/>
          </a:xfrm>
        </p:spPr>
        <p:txBody>
          <a:bodyPr/>
          <a:lstStyle/>
          <a:p>
            <a:r>
              <a:rPr lang="en-IN" dirty="0">
                <a:solidFill>
                  <a:srgbClr val="FF0000"/>
                </a:solidFill>
              </a:rPr>
              <a:t>Cloud Sim</a:t>
            </a:r>
            <a:r>
              <a:rPr lang="en-IN" dirty="0"/>
              <a:t>ulator (</a:t>
            </a:r>
            <a:r>
              <a:rPr lang="en-IN" dirty="0" err="1"/>
              <a:t>CloudSim</a:t>
            </a:r>
            <a:r>
              <a:rPr lang="en-IN" dirty="0"/>
              <a:t>)</a:t>
            </a:r>
          </a:p>
          <a:p>
            <a:r>
              <a:rPr lang="en-IN" dirty="0">
                <a:solidFill>
                  <a:srgbClr val="FF0000"/>
                </a:solidFill>
              </a:rPr>
              <a:t>Prerequisites</a:t>
            </a:r>
          </a:p>
          <a:p>
            <a:pPr marL="971550" lvl="1" indent="-514350">
              <a:buFont typeface="+mj-lt"/>
              <a:buAutoNum type="arabicPeriod"/>
            </a:pPr>
            <a:r>
              <a:rPr lang="en-IN" dirty="0" err="1"/>
              <a:t>CloudSim</a:t>
            </a:r>
            <a:r>
              <a:rPr lang="en-IN" dirty="0"/>
              <a:t> 3.0.3 </a:t>
            </a:r>
            <a:r>
              <a:rPr lang="en-IN" dirty="0">
                <a:solidFill>
                  <a:schemeClr val="accent1">
                    <a:lumMod val="75000"/>
                  </a:schemeClr>
                </a:solidFill>
              </a:rPr>
              <a:t>(</a:t>
            </a:r>
            <a:r>
              <a:rPr lang="en-US" dirty="0">
                <a:hlinkClick r:id="rId2"/>
              </a:rPr>
              <a:t>https://github.com/Cloudslab/cloudsim/releases/tag/cloudsim-3.0.3</a:t>
            </a:r>
            <a:r>
              <a:rPr lang="en-IN" dirty="0">
                <a:solidFill>
                  <a:schemeClr val="accent1">
                    <a:lumMod val="75000"/>
                  </a:schemeClr>
                </a:solidFill>
              </a:rPr>
              <a:t>)</a:t>
            </a:r>
          </a:p>
          <a:p>
            <a:pPr marL="971550" lvl="1" indent="-514350">
              <a:buFont typeface="+mj-lt"/>
              <a:buAutoNum type="arabicPeriod"/>
            </a:pPr>
            <a:r>
              <a:rPr lang="en-IN" dirty="0"/>
              <a:t>JDK (Preferably latest version) </a:t>
            </a:r>
            <a:r>
              <a:rPr lang="en-IN" dirty="0">
                <a:solidFill>
                  <a:schemeClr val="accent1">
                    <a:lumMod val="75000"/>
                  </a:schemeClr>
                </a:solidFill>
              </a:rPr>
              <a:t>(</a:t>
            </a:r>
            <a:r>
              <a:rPr lang="en-US" dirty="0">
                <a:hlinkClick r:id="rId3"/>
              </a:rPr>
              <a:t>https://www.oracle.com/technetwork/java/javase/downloads/index.html</a:t>
            </a:r>
            <a:r>
              <a:rPr lang="en-IN" dirty="0">
                <a:solidFill>
                  <a:schemeClr val="accent1">
                    <a:lumMod val="75000"/>
                  </a:schemeClr>
                </a:solidFill>
              </a:rPr>
              <a:t>)</a:t>
            </a:r>
          </a:p>
          <a:p>
            <a:pPr marL="971550" lvl="1" indent="-514350">
              <a:buFont typeface="+mj-lt"/>
              <a:buAutoNum type="arabicPeriod"/>
            </a:pPr>
            <a:r>
              <a:rPr lang="en-IN" dirty="0"/>
              <a:t>Eclipse IDE or </a:t>
            </a:r>
            <a:r>
              <a:rPr lang="en-IN" dirty="0" err="1"/>
              <a:t>Netbeans</a:t>
            </a:r>
            <a:r>
              <a:rPr lang="en-IN" dirty="0"/>
              <a:t> </a:t>
            </a:r>
            <a:r>
              <a:rPr lang="en-IN" dirty="0">
                <a:solidFill>
                  <a:schemeClr val="accent1">
                    <a:lumMod val="75000"/>
                  </a:schemeClr>
                </a:solidFill>
              </a:rPr>
              <a:t>(</a:t>
            </a:r>
            <a:r>
              <a:rPr lang="en-US" dirty="0">
                <a:hlinkClick r:id="rId4"/>
              </a:rPr>
              <a:t>https://www.eclipse.org/downloads/packages/release/oxygen</a:t>
            </a:r>
            <a:r>
              <a:rPr lang="en-IN" dirty="0">
                <a:solidFill>
                  <a:schemeClr val="accent1">
                    <a:lumMod val="75000"/>
                  </a:schemeClr>
                </a:solidFill>
              </a:rPr>
              <a:t>)</a:t>
            </a:r>
          </a:p>
          <a:p>
            <a:pPr marL="971550" lvl="1" indent="-514350">
              <a:buFont typeface="+mj-lt"/>
              <a:buAutoNum type="arabicPeriod"/>
            </a:pPr>
            <a:r>
              <a:rPr lang="en-IN" dirty="0"/>
              <a:t>Commons Math3 3.6.1 (commons-math3-3.6.1.jar) </a:t>
            </a:r>
            <a:r>
              <a:rPr lang="en-IN" dirty="0">
                <a:solidFill>
                  <a:schemeClr val="accent1">
                    <a:lumMod val="75000"/>
                  </a:schemeClr>
                </a:solidFill>
              </a:rPr>
              <a:t>(</a:t>
            </a:r>
            <a:r>
              <a:rPr lang="en-US" dirty="0">
                <a:hlinkClick r:id="rId5"/>
              </a:rPr>
              <a:t>http://commons.apache.org/proper/commons-math/download_math.cgi</a:t>
            </a:r>
            <a:r>
              <a:rPr lang="en-IN" dirty="0">
                <a:solidFill>
                  <a:schemeClr val="accent1">
                    <a:lumMod val="75000"/>
                  </a:schemeClr>
                </a:solidFill>
              </a:rPr>
              <a:t>)</a:t>
            </a:r>
          </a:p>
          <a:p>
            <a:pPr>
              <a:buNone/>
            </a:pPr>
            <a:endParaRPr lang="en-US" dirty="0"/>
          </a:p>
        </p:txBody>
      </p:sp>
      <p:sp>
        <p:nvSpPr>
          <p:cNvPr id="4" name="Slide Number Placeholder 3"/>
          <p:cNvSpPr>
            <a:spLocks noGrp="1"/>
          </p:cNvSpPr>
          <p:nvPr>
            <p:ph type="sldNum" sz="quarter" idx="12"/>
          </p:nvPr>
        </p:nvSpPr>
        <p:spPr/>
        <p:txBody>
          <a:bodyPr/>
          <a:lstStyle/>
          <a:p>
            <a:fld id="{2019AD06-451C-413E-AF31-86503C137FDF}"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69689"/>
          </a:xfrm>
        </p:spPr>
        <p:style>
          <a:lnRef idx="0">
            <a:scrgbClr r="0" g="0" b="0"/>
          </a:lnRef>
          <a:fillRef idx="1003">
            <a:schemeClr val="lt2"/>
          </a:fillRef>
          <a:effectRef idx="0">
            <a:scrgbClr r="0" g="0" b="0"/>
          </a:effectRef>
          <a:fontRef idx="major"/>
        </p:style>
        <p:txBody>
          <a:bodyPr>
            <a:normAutofit/>
          </a:bodyPr>
          <a:lstStyle/>
          <a:p>
            <a:r>
              <a:rPr lang="en-IN" sz="3600" dirty="0">
                <a:solidFill>
                  <a:srgbClr val="FF0000"/>
                </a:solidFill>
              </a:rPr>
              <a:t>Why</a:t>
            </a:r>
            <a:r>
              <a:rPr lang="en-IN" sz="3600" dirty="0"/>
              <a:t> </a:t>
            </a:r>
            <a:r>
              <a:rPr lang="en-IN" sz="3600" dirty="0" err="1"/>
              <a:t>CloudSim</a:t>
            </a:r>
            <a:r>
              <a:rPr lang="en-IN" sz="3600" dirty="0"/>
              <a:t> ?</a:t>
            </a:r>
            <a:endParaRPr lang="en-US" sz="3600" dirty="0"/>
          </a:p>
        </p:txBody>
      </p:sp>
      <p:sp>
        <p:nvSpPr>
          <p:cNvPr id="3" name="Content Placeholder 2"/>
          <p:cNvSpPr>
            <a:spLocks noGrp="1"/>
          </p:cNvSpPr>
          <p:nvPr>
            <p:ph idx="1"/>
          </p:nvPr>
        </p:nvSpPr>
        <p:spPr>
          <a:xfrm>
            <a:off x="838200" y="1797269"/>
            <a:ext cx="10515600" cy="4582510"/>
          </a:xfrm>
        </p:spPr>
        <p:txBody>
          <a:bodyPr>
            <a:normAutofit/>
          </a:bodyPr>
          <a:lstStyle/>
          <a:p>
            <a:pPr algn="just"/>
            <a:r>
              <a:rPr lang="en-US" sz="2000" dirty="0"/>
              <a:t>Support for modeling and simulation of large-scale Cloud computing environments, including data centers, on a single physical computing node(could be a desktop, laptop, or server machine).</a:t>
            </a:r>
          </a:p>
          <a:p>
            <a:pPr algn="just"/>
            <a:r>
              <a:rPr lang="en-US" sz="2000" dirty="0"/>
              <a:t>A self-contained platform for modeling Clouds, service brokers, provisioning, and allocation policies.</a:t>
            </a:r>
          </a:p>
          <a:p>
            <a:pPr algn="just"/>
            <a:r>
              <a:rPr lang="en-US" sz="2000" dirty="0"/>
              <a:t>Facilitates the simulation of network connections across the simulated system elements.</a:t>
            </a:r>
          </a:p>
          <a:p>
            <a:pPr algn="just"/>
            <a:r>
              <a:rPr lang="en-US" sz="2000" dirty="0"/>
              <a:t>Facility for simulation of federated Cloud environment that inter-networks resources from both private and public domains, a feature critical for research studies related to Cloudbursts and automatic application scaling.</a:t>
            </a:r>
          </a:p>
          <a:p>
            <a:pPr algn="just"/>
            <a:r>
              <a:rPr lang="en-US" sz="2000" dirty="0"/>
              <a:t>Availability of a virtualization engine that facilitates the creation and management of multiple, independent, and co-hosted virtualized services on a data center node.</a:t>
            </a:r>
          </a:p>
          <a:p>
            <a:pPr algn="just"/>
            <a:r>
              <a:rPr lang="en-US" sz="2000" dirty="0"/>
              <a:t>Flexibility to switch between space-shared and time-shared allocation of processing cores to virtualized services.</a:t>
            </a:r>
          </a:p>
          <a:p>
            <a:endParaRPr lang="en-US" dirty="0"/>
          </a:p>
        </p:txBody>
      </p:sp>
      <p:sp>
        <p:nvSpPr>
          <p:cNvPr id="4" name="Slide Number Placeholder 3"/>
          <p:cNvSpPr>
            <a:spLocks noGrp="1"/>
          </p:cNvSpPr>
          <p:nvPr>
            <p:ph type="sldNum" sz="quarter" idx="12"/>
          </p:nvPr>
        </p:nvSpPr>
        <p:spPr/>
        <p:txBody>
          <a:bodyPr/>
          <a:lstStyle/>
          <a:p>
            <a:fld id="{2019AD06-451C-413E-AF31-86503C137FDF}"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0">
            <a:scrgbClr r="0" g="0" b="0"/>
          </a:lnRef>
          <a:fillRef idx="1003">
            <a:schemeClr val="lt2"/>
          </a:fillRef>
          <a:effectRef idx="0">
            <a:scrgbClr r="0" g="0" b="0"/>
          </a:effectRef>
          <a:fontRef idx="major"/>
        </p:style>
        <p:txBody>
          <a:bodyPr>
            <a:normAutofit/>
          </a:bodyPr>
          <a:lstStyle/>
          <a:p>
            <a:r>
              <a:rPr lang="en-IN" sz="3600" dirty="0">
                <a:solidFill>
                  <a:srgbClr val="FF0000"/>
                </a:solidFill>
              </a:rPr>
              <a:t>What</a:t>
            </a:r>
            <a:r>
              <a:rPr lang="en-IN" sz="3600" dirty="0"/>
              <a:t> </a:t>
            </a:r>
            <a:r>
              <a:rPr lang="en-IN" sz="3600" dirty="0" err="1"/>
              <a:t>CloudSim</a:t>
            </a:r>
            <a:r>
              <a:rPr lang="en-IN" sz="3600" dirty="0"/>
              <a:t>?</a:t>
            </a:r>
            <a:endParaRPr lang="en-US" sz="3600" dirty="0"/>
          </a:p>
        </p:txBody>
      </p:sp>
      <p:sp>
        <p:nvSpPr>
          <p:cNvPr id="3" name="Content Placeholder 2"/>
          <p:cNvSpPr>
            <a:spLocks noGrp="1"/>
          </p:cNvSpPr>
          <p:nvPr>
            <p:ph idx="1"/>
          </p:nvPr>
        </p:nvSpPr>
        <p:spPr>
          <a:xfrm>
            <a:off x="838200" y="1986455"/>
            <a:ext cx="10515600" cy="4190508"/>
          </a:xfrm>
        </p:spPr>
        <p:txBody>
          <a:bodyPr>
            <a:normAutofit/>
          </a:bodyPr>
          <a:lstStyle/>
          <a:p>
            <a:pPr algn="just"/>
            <a:r>
              <a:rPr lang="en-US" sz="2000" dirty="0"/>
              <a:t>Several simulators can be used to simulate the working of new services, among them </a:t>
            </a:r>
            <a:r>
              <a:rPr lang="en-US" sz="2000" b="1" dirty="0" err="1"/>
              <a:t>CloudSim</a:t>
            </a:r>
            <a:r>
              <a:rPr lang="en-US" sz="2000" b="1" dirty="0"/>
              <a:t> Simulation Toolkit is the more generalized and effective simulator for testing Cloud computing-related hypothesis</a:t>
            </a:r>
            <a:r>
              <a:rPr lang="en-US" sz="2000" dirty="0"/>
              <a:t>. </a:t>
            </a:r>
          </a:p>
          <a:p>
            <a:pPr algn="just"/>
            <a:r>
              <a:rPr lang="en-US" sz="2000" dirty="0" err="1">
                <a:hlinkClick r:id="rId2"/>
              </a:rPr>
              <a:t>CloudSim</a:t>
            </a:r>
            <a:r>
              <a:rPr lang="en-US" sz="2000" dirty="0"/>
              <a:t> is an extensible simulation framework developed by a team of researchers(under the guidance of </a:t>
            </a:r>
            <a:r>
              <a:rPr lang="en-US" sz="2000" dirty="0">
                <a:hlinkClick r:id="rId3"/>
              </a:rPr>
              <a:t>Dr. Raj Kumar </a:t>
            </a:r>
            <a:r>
              <a:rPr lang="en-US" sz="2000" dirty="0" err="1">
                <a:hlinkClick r:id="rId3"/>
              </a:rPr>
              <a:t>Buyya</a:t>
            </a:r>
            <a:r>
              <a:rPr lang="en-US" sz="2000" dirty="0"/>
              <a:t>) at </a:t>
            </a:r>
            <a:r>
              <a:rPr lang="en-US" sz="2000" dirty="0">
                <a:hlinkClick r:id="rId4"/>
              </a:rPr>
              <a:t>Cloud Computing and Distributed Systems (CLOUDS) Laboratory, University of Melbourne</a:t>
            </a:r>
            <a:r>
              <a:rPr lang="en-US" sz="2000" dirty="0"/>
              <a:t>. </a:t>
            </a:r>
          </a:p>
          <a:p>
            <a:pPr algn="just"/>
            <a:r>
              <a:rPr lang="en-US" sz="2000" dirty="0"/>
              <a:t>This toolkit allows seamless modeling, simulation, and Experimentation related to cloud-based infrastructures and application services and its various released versions are published on </a:t>
            </a:r>
            <a:r>
              <a:rPr lang="en-US" sz="2000" dirty="0" err="1"/>
              <a:t>Cloudsim’s</a:t>
            </a:r>
            <a:r>
              <a:rPr lang="en-US" sz="2000" dirty="0"/>
              <a:t> </a:t>
            </a:r>
            <a:r>
              <a:rPr lang="en-US" sz="2000" dirty="0" err="1"/>
              <a:t>GitHub</a:t>
            </a:r>
            <a:r>
              <a:rPr lang="en-US" sz="2000" dirty="0"/>
              <a:t> project page.</a:t>
            </a:r>
          </a:p>
          <a:p>
            <a:pPr algn="just"/>
            <a:r>
              <a:rPr lang="en-US" sz="2000" dirty="0"/>
              <a:t>This simulation toolkit allows the researchers as well as cloud developers to test the performance of the potential cloud application for performance testing in a controlled and easy to setup environment.</a:t>
            </a:r>
          </a:p>
        </p:txBody>
      </p:sp>
      <p:sp>
        <p:nvSpPr>
          <p:cNvPr id="4" name="Slide Number Placeholder 3"/>
          <p:cNvSpPr>
            <a:spLocks noGrp="1"/>
          </p:cNvSpPr>
          <p:nvPr>
            <p:ph type="sldNum" sz="quarter" idx="12"/>
          </p:nvPr>
        </p:nvSpPr>
        <p:spPr/>
        <p:txBody>
          <a:bodyPr/>
          <a:lstStyle/>
          <a:p>
            <a:fld id="{2019AD06-451C-413E-AF31-86503C137FDF}"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0">
            <a:scrgbClr r="0" g="0" b="0"/>
          </a:lnRef>
          <a:fillRef idx="1003">
            <a:schemeClr val="lt2"/>
          </a:fillRef>
          <a:effectRef idx="0">
            <a:scrgbClr r="0" g="0" b="0"/>
          </a:effectRef>
          <a:fontRef idx="major"/>
        </p:style>
        <p:txBody>
          <a:bodyPr>
            <a:normAutofit/>
          </a:bodyPr>
          <a:lstStyle/>
          <a:p>
            <a:r>
              <a:rPr lang="en-IN" sz="3600" dirty="0" err="1"/>
              <a:t>CloudSim</a:t>
            </a:r>
            <a:r>
              <a:rPr lang="en-IN" sz="3600" dirty="0"/>
              <a:t> Architecture</a:t>
            </a:r>
            <a:endParaRPr lang="en-US" sz="3600" dirty="0"/>
          </a:p>
        </p:txBody>
      </p:sp>
      <p:pic>
        <p:nvPicPr>
          <p:cNvPr id="5" name="Content Placeholder 4" descr="Architecture-of-CloudSim-18.png"/>
          <p:cNvPicPr>
            <a:picLocks noGrp="1" noChangeAspect="1"/>
          </p:cNvPicPr>
          <p:nvPr>
            <p:ph idx="1"/>
          </p:nvPr>
        </p:nvPicPr>
        <p:blipFill>
          <a:blip r:embed="rId2"/>
          <a:stretch>
            <a:fillRect/>
          </a:stretch>
        </p:blipFill>
        <p:spPr>
          <a:xfrm>
            <a:off x="1513491" y="1825625"/>
            <a:ext cx="9669516" cy="4774872"/>
          </a:xfrm>
        </p:spPr>
      </p:pic>
      <p:sp>
        <p:nvSpPr>
          <p:cNvPr id="4" name="Slide Number Placeholder 3"/>
          <p:cNvSpPr>
            <a:spLocks noGrp="1"/>
          </p:cNvSpPr>
          <p:nvPr>
            <p:ph type="sldNum" sz="quarter" idx="12"/>
          </p:nvPr>
        </p:nvSpPr>
        <p:spPr/>
        <p:txBody>
          <a:bodyPr/>
          <a:lstStyle/>
          <a:p>
            <a:fld id="{2019AD06-451C-413E-AF31-86503C137FDF}"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0709"/>
          </a:xfrm>
        </p:spPr>
        <p:style>
          <a:lnRef idx="0">
            <a:scrgbClr r="0" g="0" b="0"/>
          </a:lnRef>
          <a:fillRef idx="1003">
            <a:schemeClr val="lt2"/>
          </a:fillRef>
          <a:effectRef idx="0">
            <a:scrgbClr r="0" g="0" b="0"/>
          </a:effectRef>
          <a:fontRef idx="major"/>
        </p:style>
        <p:txBody>
          <a:bodyPr>
            <a:normAutofit/>
          </a:bodyPr>
          <a:lstStyle/>
          <a:p>
            <a:r>
              <a:rPr lang="en-IN" sz="3600" dirty="0"/>
              <a:t>Contd… </a:t>
            </a:r>
            <a:endParaRPr lang="en-US" sz="3600" dirty="0"/>
          </a:p>
        </p:txBody>
      </p:sp>
      <p:sp>
        <p:nvSpPr>
          <p:cNvPr id="3" name="Content Placeholder 2"/>
          <p:cNvSpPr>
            <a:spLocks noGrp="1"/>
          </p:cNvSpPr>
          <p:nvPr>
            <p:ph idx="1"/>
          </p:nvPr>
        </p:nvSpPr>
        <p:spPr>
          <a:xfrm>
            <a:off x="838200" y="1597572"/>
            <a:ext cx="10515600" cy="4579391"/>
          </a:xfrm>
        </p:spPr>
        <p:txBody>
          <a:bodyPr>
            <a:normAutofit/>
          </a:bodyPr>
          <a:lstStyle/>
          <a:p>
            <a:pPr algn="just"/>
            <a:r>
              <a:rPr lang="en-US" sz="2000" dirty="0"/>
              <a:t>The above diagram demonstrates the layered architecture of </a:t>
            </a:r>
            <a:r>
              <a:rPr lang="en-US" sz="2000" dirty="0" err="1"/>
              <a:t>CloudSim</a:t>
            </a:r>
            <a:r>
              <a:rPr lang="en-US" sz="2000" dirty="0"/>
              <a:t> Simulation Toolkit. The </a:t>
            </a:r>
            <a:r>
              <a:rPr lang="en-US" sz="2000" b="1" dirty="0" err="1"/>
              <a:t>CloudSim</a:t>
            </a:r>
            <a:r>
              <a:rPr lang="en-US" sz="2000" b="1" dirty="0"/>
              <a:t> Core simulation engine</a:t>
            </a:r>
            <a:r>
              <a:rPr lang="en-US" sz="2000" dirty="0"/>
              <a:t> provides support for modeling and simulation of virtualized Cloud-based data center environments including queuing and processing of events, creation of cloud system entities (like data center, host, virtual machines, brokers, services, etc.) communication between components and management of the simulation clock.</a:t>
            </a:r>
          </a:p>
          <a:p>
            <a:pPr algn="just">
              <a:buNone/>
            </a:pPr>
            <a:endParaRPr lang="en-US" sz="2000" dirty="0"/>
          </a:p>
          <a:p>
            <a:pPr algn="just"/>
            <a:r>
              <a:rPr lang="en-US" sz="2000" dirty="0"/>
              <a:t>The </a:t>
            </a:r>
            <a:r>
              <a:rPr lang="en-US" sz="2000" b="1" dirty="0" err="1"/>
              <a:t>CloudSim</a:t>
            </a:r>
            <a:r>
              <a:rPr lang="en-US" sz="2000" b="1" dirty="0"/>
              <a:t> layer</a:t>
            </a:r>
            <a:r>
              <a:rPr lang="en-US" sz="2000" dirty="0"/>
              <a:t> provides dedicated management interfaces for Virtual Machines, memory, storage, and bandwidth. Also, it manages the other fundamental issues, such as provisioning of hosts to Virtual Machines, managing application execution, and monitoring dynamic system state(e.g. Network topology, sensors, storage characteristics, etc), etc.</a:t>
            </a:r>
          </a:p>
          <a:p>
            <a:pPr algn="just">
              <a:buNone/>
            </a:pPr>
            <a:endParaRPr lang="en-US" sz="2000" dirty="0"/>
          </a:p>
          <a:p>
            <a:pPr algn="just"/>
            <a:r>
              <a:rPr lang="en-US" sz="2000" dirty="0"/>
              <a:t>The </a:t>
            </a:r>
            <a:r>
              <a:rPr lang="en-US" sz="2000" b="1" dirty="0"/>
              <a:t>User Code layer</a:t>
            </a:r>
            <a:r>
              <a:rPr lang="en-US" sz="2000" dirty="0"/>
              <a:t> is a custom layer where the user writes their own code to redefine the characteristics of the stimulating environment as per their new research findings.</a:t>
            </a:r>
          </a:p>
          <a:p>
            <a:endParaRPr lang="en-US" dirty="0"/>
          </a:p>
        </p:txBody>
      </p:sp>
      <p:sp>
        <p:nvSpPr>
          <p:cNvPr id="4" name="Slide Number Placeholder 3"/>
          <p:cNvSpPr>
            <a:spLocks noGrp="1"/>
          </p:cNvSpPr>
          <p:nvPr>
            <p:ph type="sldNum" sz="quarter" idx="12"/>
          </p:nvPr>
        </p:nvSpPr>
        <p:spPr/>
        <p:txBody>
          <a:bodyPr/>
          <a:lstStyle/>
          <a:p>
            <a:fld id="{2019AD06-451C-413E-AF31-86503C137FDF}"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33054"/>
          </a:xfrm>
        </p:spPr>
        <p:style>
          <a:lnRef idx="0">
            <a:scrgbClr r="0" g="0" b="0"/>
          </a:lnRef>
          <a:fillRef idx="1003">
            <a:schemeClr val="lt2"/>
          </a:fillRef>
          <a:effectRef idx="0">
            <a:scrgbClr r="0" g="0" b="0"/>
          </a:effectRef>
          <a:fontRef idx="major"/>
        </p:style>
        <p:txBody>
          <a:bodyPr>
            <a:normAutofit/>
          </a:bodyPr>
          <a:lstStyle/>
          <a:p>
            <a:r>
              <a:rPr lang="en-IN" sz="3600" dirty="0"/>
              <a:t>Classes Of </a:t>
            </a:r>
            <a:r>
              <a:rPr lang="en-IN" sz="3600" dirty="0" err="1"/>
              <a:t>CloudSim</a:t>
            </a:r>
            <a:endParaRPr lang="en-US" sz="3600" dirty="0"/>
          </a:p>
        </p:txBody>
      </p:sp>
      <p:sp>
        <p:nvSpPr>
          <p:cNvPr id="3" name="Content Placeholder 2"/>
          <p:cNvSpPr>
            <a:spLocks noGrp="1"/>
          </p:cNvSpPr>
          <p:nvPr>
            <p:ph idx="1"/>
          </p:nvPr>
        </p:nvSpPr>
        <p:spPr>
          <a:xfrm>
            <a:off x="838200" y="1292772"/>
            <a:ext cx="10515600" cy="5360276"/>
          </a:xfrm>
        </p:spPr>
        <p:txBody>
          <a:bodyPr>
            <a:normAutofit lnSpcReduction="10000"/>
          </a:bodyPr>
          <a:lstStyle/>
          <a:p>
            <a:pPr algn="just"/>
            <a:r>
              <a:rPr lang="en-US" sz="2000" u="sng" dirty="0">
                <a:solidFill>
                  <a:srgbClr val="FF0000"/>
                </a:solidFill>
              </a:rPr>
              <a:t>Cloudlet</a:t>
            </a:r>
            <a:r>
              <a:rPr lang="en-US" sz="2000" dirty="0">
                <a:solidFill>
                  <a:srgbClr val="FF0000"/>
                </a:solidFill>
              </a:rPr>
              <a:t>:</a:t>
            </a:r>
            <a:r>
              <a:rPr lang="en-US" sz="2000" dirty="0"/>
              <a:t> This class model(define specific attributes such as length of instruction, input/output </a:t>
            </a:r>
            <a:r>
              <a:rPr lang="en-US" sz="2000" dirty="0" err="1"/>
              <a:t>filesize</a:t>
            </a:r>
            <a:r>
              <a:rPr lang="en-US" sz="2000" dirty="0"/>
              <a:t>, no of processor required, etc).</a:t>
            </a:r>
          </a:p>
          <a:p>
            <a:pPr algn="just"/>
            <a:r>
              <a:rPr lang="en-US" sz="2000" u="sng" dirty="0" err="1">
                <a:solidFill>
                  <a:srgbClr val="FF0000"/>
                </a:solidFill>
              </a:rPr>
              <a:t>CloudletScheduler</a:t>
            </a:r>
            <a:r>
              <a:rPr lang="en-US" sz="2000" dirty="0">
                <a:solidFill>
                  <a:srgbClr val="FF0000"/>
                </a:solidFill>
              </a:rPr>
              <a:t>:</a:t>
            </a:r>
            <a:r>
              <a:rPr lang="en-US" sz="2000" dirty="0"/>
              <a:t> This is responsible for the implementation of different policies that determine the share of processing power among Cloudlets in a VM. </a:t>
            </a:r>
            <a:r>
              <a:rPr lang="en-US" sz="2000" i="1" dirty="0"/>
              <a:t>There are two types of provisioning policies offered: space-shared (using </a:t>
            </a:r>
            <a:r>
              <a:rPr lang="en-US" sz="2000" i="1" dirty="0" err="1"/>
              <a:t>CloudetSchedulerSpaceShared</a:t>
            </a:r>
            <a:r>
              <a:rPr lang="en-US" sz="2000" i="1" dirty="0"/>
              <a:t> class) and time-shared (using </a:t>
            </a:r>
            <a:r>
              <a:rPr lang="en-US" sz="2000" i="1" dirty="0" err="1"/>
              <a:t>CloudletSchedulerTimeShared</a:t>
            </a:r>
            <a:r>
              <a:rPr lang="en-US" sz="2000" i="1" dirty="0"/>
              <a:t> class</a:t>
            </a:r>
            <a:r>
              <a:rPr lang="en-US" sz="2000" dirty="0"/>
              <a:t>).</a:t>
            </a:r>
          </a:p>
          <a:p>
            <a:pPr algn="just"/>
            <a:r>
              <a:rPr lang="en-US" sz="2000" u="sng" dirty="0">
                <a:solidFill>
                  <a:srgbClr val="FF0000"/>
                </a:solidFill>
              </a:rPr>
              <a:t>Datacenter</a:t>
            </a:r>
            <a:r>
              <a:rPr lang="en-US" sz="2000" dirty="0">
                <a:solidFill>
                  <a:srgbClr val="FF0000"/>
                </a:solidFill>
              </a:rPr>
              <a:t>:</a:t>
            </a:r>
            <a:r>
              <a:rPr lang="en-US" sz="2000" dirty="0"/>
              <a:t> This class model the core infrastructure-level services (i.e. hardware) that are offered by Cloud providers (Amazon, Azure, and App Engine). </a:t>
            </a:r>
            <a:r>
              <a:rPr lang="en-US" sz="2000" i="1" dirty="0"/>
              <a:t>It encapsulates a set of hosts(resembling server machine model) instances that can either be homogeneous or heterogeneous concerning their hardware configurations (memory, cores, capacity, and storage).</a:t>
            </a:r>
            <a:r>
              <a:rPr lang="en-US" sz="2000" dirty="0"/>
              <a:t> </a:t>
            </a:r>
          </a:p>
          <a:p>
            <a:pPr algn="just"/>
            <a:r>
              <a:rPr lang="en-US" sz="2000" u="sng" dirty="0" err="1">
                <a:solidFill>
                  <a:srgbClr val="FF0000"/>
                </a:solidFill>
              </a:rPr>
              <a:t>DatacenterBroker</a:t>
            </a:r>
            <a:r>
              <a:rPr lang="en-US" sz="2000" u="sng" dirty="0">
                <a:solidFill>
                  <a:srgbClr val="FF0000"/>
                </a:solidFill>
              </a:rPr>
              <a:t> or Cloud Broker:</a:t>
            </a:r>
            <a:r>
              <a:rPr lang="en-US" sz="2000" dirty="0"/>
              <a:t> This class model a broker, which is responsible for mediating negotiations between </a:t>
            </a:r>
            <a:r>
              <a:rPr lang="en-US" sz="2000" dirty="0" err="1"/>
              <a:t>SaaS</a:t>
            </a:r>
            <a:r>
              <a:rPr lang="en-US" sz="2000" dirty="0"/>
              <a:t> and Cloud providers and such negotiations are driven by QoS requirements. The broker class acts on behalf of applications. Its prime role is to query the CIS to discover suitable resources/services and undertakes negotiations for the allocation of resources/services that can fulfill the application’s QoS needs. This class must be extended for evaluating and testing custom brokering policies.</a:t>
            </a:r>
          </a:p>
          <a:p>
            <a:pPr algn="just"/>
            <a:r>
              <a:rPr lang="en-US" sz="2000" u="sng" dirty="0" err="1">
                <a:solidFill>
                  <a:srgbClr val="FF0000"/>
                </a:solidFill>
              </a:rPr>
              <a:t>DatacenterCharacteristics</a:t>
            </a:r>
            <a:r>
              <a:rPr lang="en-US" sz="2000" dirty="0">
                <a:solidFill>
                  <a:srgbClr val="FF0000"/>
                </a:solidFill>
              </a:rPr>
              <a:t>:</a:t>
            </a:r>
            <a:r>
              <a:rPr lang="en-US" sz="2000" dirty="0"/>
              <a:t> This class contains configuration information of data center resources like the available host list, the fine-grained cost for each resource type, etc.</a:t>
            </a:r>
          </a:p>
          <a:p>
            <a:pPr algn="just">
              <a:buNone/>
            </a:pPr>
            <a:endParaRPr lang="en-US" sz="2000" dirty="0"/>
          </a:p>
        </p:txBody>
      </p:sp>
      <p:sp>
        <p:nvSpPr>
          <p:cNvPr id="4" name="Slide Number Placeholder 3"/>
          <p:cNvSpPr>
            <a:spLocks noGrp="1"/>
          </p:cNvSpPr>
          <p:nvPr>
            <p:ph type="sldNum" sz="quarter" idx="12"/>
          </p:nvPr>
        </p:nvSpPr>
        <p:spPr/>
        <p:txBody>
          <a:bodyPr/>
          <a:lstStyle/>
          <a:p>
            <a:fld id="{2019AD06-451C-413E-AF31-86503C137FDF}"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22544"/>
          </a:xfrm>
        </p:spPr>
        <p:style>
          <a:lnRef idx="0">
            <a:scrgbClr r="0" g="0" b="0"/>
          </a:lnRef>
          <a:fillRef idx="1003">
            <a:schemeClr val="lt2"/>
          </a:fillRef>
          <a:effectRef idx="0">
            <a:scrgbClr r="0" g="0" b="0"/>
          </a:effectRef>
          <a:fontRef idx="major"/>
        </p:style>
        <p:txBody>
          <a:bodyPr>
            <a:normAutofit/>
          </a:bodyPr>
          <a:lstStyle/>
          <a:p>
            <a:r>
              <a:rPr lang="en-IN" sz="3600" dirty="0"/>
              <a:t>Contd…</a:t>
            </a:r>
            <a:endParaRPr lang="en-US" sz="3600" dirty="0"/>
          </a:p>
        </p:txBody>
      </p:sp>
      <p:sp>
        <p:nvSpPr>
          <p:cNvPr id="3" name="Content Placeholder 2"/>
          <p:cNvSpPr>
            <a:spLocks noGrp="1"/>
          </p:cNvSpPr>
          <p:nvPr>
            <p:ph idx="1"/>
          </p:nvPr>
        </p:nvSpPr>
        <p:spPr>
          <a:xfrm>
            <a:off x="838200" y="1292772"/>
            <a:ext cx="10515600" cy="5391807"/>
          </a:xfrm>
        </p:spPr>
        <p:txBody>
          <a:bodyPr>
            <a:normAutofit fontScale="92500" lnSpcReduction="20000"/>
          </a:bodyPr>
          <a:lstStyle/>
          <a:p>
            <a:pPr algn="just"/>
            <a:r>
              <a:rPr lang="en-US" sz="2200" u="sng" dirty="0">
                <a:solidFill>
                  <a:srgbClr val="FF0000"/>
                </a:solidFill>
              </a:rPr>
              <a:t>Host</a:t>
            </a:r>
            <a:r>
              <a:rPr lang="en-US" sz="2200" dirty="0">
                <a:solidFill>
                  <a:srgbClr val="FF0000"/>
                </a:solidFill>
              </a:rPr>
              <a:t>:</a:t>
            </a:r>
            <a:r>
              <a:rPr lang="en-US" sz="2200" dirty="0"/>
              <a:t> This class model a physical resource such as a computer or storage server. It encapsulates important information such as the amount of memory and storage, a list and type of processing cores (if it is a multi-core machine), an allocation of policy for provisioning the compute, memory and bandwidth to the VMs.</a:t>
            </a:r>
          </a:p>
          <a:p>
            <a:pPr algn="just"/>
            <a:r>
              <a:rPr lang="en-US" sz="2200" u="sng" dirty="0" err="1">
                <a:solidFill>
                  <a:srgbClr val="FF0000"/>
                </a:solidFill>
              </a:rPr>
              <a:t>RamProvisioner</a:t>
            </a:r>
            <a:r>
              <a:rPr lang="en-US" sz="2200" dirty="0">
                <a:solidFill>
                  <a:srgbClr val="FF0000"/>
                </a:solidFill>
              </a:rPr>
              <a:t>:</a:t>
            </a:r>
            <a:r>
              <a:rPr lang="en-US" sz="2200" dirty="0"/>
              <a:t> This is an abstract class that represents the provisioning policy for allocating primary memory (RAM) to Virtual Machines. The execution and deployment of VM on a host are feasible only if the </a:t>
            </a:r>
            <a:r>
              <a:rPr lang="en-US" sz="2200" dirty="0" err="1"/>
              <a:t>RamProvisioner</a:t>
            </a:r>
            <a:r>
              <a:rPr lang="en-US" sz="2200" dirty="0"/>
              <a:t> component approves that the host has the required amount of free memory. The </a:t>
            </a:r>
            <a:r>
              <a:rPr lang="en-US" sz="2200" dirty="0" err="1"/>
              <a:t>RamProvisionerSimple</a:t>
            </a:r>
            <a:r>
              <a:rPr lang="en-US" sz="2200" dirty="0"/>
              <a:t> does not enforce any limitation on the amount of memory that a VM may request. The RAM resource request will be rejected if it is beyond the available capacity.</a:t>
            </a:r>
          </a:p>
          <a:p>
            <a:pPr algn="just"/>
            <a:r>
              <a:rPr lang="en-US" sz="2200" u="sng" dirty="0" err="1">
                <a:solidFill>
                  <a:srgbClr val="FF0000"/>
                </a:solidFill>
              </a:rPr>
              <a:t>BwProvisioner</a:t>
            </a:r>
            <a:r>
              <a:rPr lang="en-US" sz="2200" dirty="0">
                <a:solidFill>
                  <a:srgbClr val="FF0000"/>
                </a:solidFill>
              </a:rPr>
              <a:t>:</a:t>
            </a:r>
            <a:r>
              <a:rPr lang="en-US" sz="2200" dirty="0"/>
              <a:t> The main role of this component is to undertake the allocation of network bandwidths to a set of competing VMs that are deployed across the data center.</a:t>
            </a:r>
          </a:p>
          <a:p>
            <a:pPr algn="just"/>
            <a:r>
              <a:rPr lang="en-US" sz="2200" u="sng" dirty="0" err="1">
                <a:solidFill>
                  <a:srgbClr val="FF0000"/>
                </a:solidFill>
              </a:rPr>
              <a:t>Vm</a:t>
            </a:r>
            <a:r>
              <a:rPr lang="en-US" sz="2200" dirty="0">
                <a:solidFill>
                  <a:srgbClr val="FF0000"/>
                </a:solidFill>
              </a:rPr>
              <a:t>:</a:t>
            </a:r>
            <a:r>
              <a:rPr lang="en-US" sz="2200" dirty="0"/>
              <a:t> This class model a Virtual Machine (VM), which is managed and hosted by a Cloud host component. Every VM component has access to a component that stores the following characteristics related to a VM (i.e.) accessible memory, processor, storage size, and the VM’s internal provisioning policy that is extended from an abstract class called the </a:t>
            </a:r>
            <a:r>
              <a:rPr lang="en-US" sz="2200" dirty="0" err="1"/>
              <a:t>CloudletScheduler</a:t>
            </a:r>
            <a:r>
              <a:rPr lang="en-US" sz="2200" dirty="0"/>
              <a:t>.</a:t>
            </a:r>
          </a:p>
          <a:p>
            <a:pPr algn="just"/>
            <a:r>
              <a:rPr lang="en-US" sz="2200" u="sng" dirty="0" err="1">
                <a:solidFill>
                  <a:srgbClr val="FF0000"/>
                </a:solidFill>
              </a:rPr>
              <a:t>VmAllocationPolicy</a:t>
            </a:r>
            <a:r>
              <a:rPr lang="en-US" sz="2200" dirty="0">
                <a:solidFill>
                  <a:srgbClr val="FF0000"/>
                </a:solidFill>
              </a:rPr>
              <a:t>:</a:t>
            </a:r>
            <a:r>
              <a:rPr lang="en-US" sz="2200" dirty="0"/>
              <a:t> This is an abstract class that represents a provisioning policy to be utilized by VM Monitor for mapping VMs to hosts. </a:t>
            </a:r>
          </a:p>
          <a:p>
            <a:pPr algn="just"/>
            <a:r>
              <a:rPr lang="en-US" sz="2200" u="sng" dirty="0" err="1">
                <a:solidFill>
                  <a:srgbClr val="FF0000"/>
                </a:solidFill>
              </a:rPr>
              <a:t>VmScheduler</a:t>
            </a:r>
            <a:r>
              <a:rPr lang="en-US" sz="2200" dirty="0">
                <a:solidFill>
                  <a:srgbClr val="FF0000"/>
                </a:solidFill>
              </a:rPr>
              <a:t>:</a:t>
            </a:r>
            <a:r>
              <a:rPr lang="en-US" sz="2200" dirty="0"/>
              <a:t> This is an abstract class implemented by a Host component that models the allocation policies (space-shared, time-shared) defining the rules for processor cores allocations to VMs.</a:t>
            </a:r>
          </a:p>
          <a:p>
            <a:endParaRPr lang="en-US" dirty="0"/>
          </a:p>
        </p:txBody>
      </p:sp>
      <p:sp>
        <p:nvSpPr>
          <p:cNvPr id="4" name="Slide Number Placeholder 3"/>
          <p:cNvSpPr>
            <a:spLocks noGrp="1"/>
          </p:cNvSpPr>
          <p:nvPr>
            <p:ph type="sldNum" sz="quarter" idx="12"/>
          </p:nvPr>
        </p:nvSpPr>
        <p:spPr/>
        <p:txBody>
          <a:bodyPr/>
          <a:lstStyle/>
          <a:p>
            <a:fld id="{2019AD06-451C-413E-AF31-86503C137FDF}"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06627"/>
          </a:xfrm>
        </p:spPr>
        <p:style>
          <a:lnRef idx="0">
            <a:scrgbClr r="0" g="0" b="0"/>
          </a:lnRef>
          <a:fillRef idx="1003">
            <a:schemeClr val="lt2"/>
          </a:fillRef>
          <a:effectRef idx="0">
            <a:scrgbClr r="0" g="0" b="0"/>
          </a:effectRef>
          <a:fontRef idx="major"/>
        </p:style>
        <p:txBody>
          <a:bodyPr>
            <a:normAutofit/>
          </a:bodyPr>
          <a:lstStyle/>
          <a:p>
            <a:r>
              <a:rPr lang="en-IN" sz="3600" dirty="0"/>
              <a:t>Contd…</a:t>
            </a:r>
            <a:endParaRPr lang="en-US" sz="3600" dirty="0"/>
          </a:p>
        </p:txBody>
      </p:sp>
      <p:sp>
        <p:nvSpPr>
          <p:cNvPr id="3" name="Content Placeholder 2"/>
          <p:cNvSpPr>
            <a:spLocks noGrp="1"/>
          </p:cNvSpPr>
          <p:nvPr>
            <p:ph idx="1"/>
          </p:nvPr>
        </p:nvSpPr>
        <p:spPr>
          <a:xfrm>
            <a:off x="838200" y="1208690"/>
            <a:ext cx="10515600" cy="5507420"/>
          </a:xfrm>
        </p:spPr>
        <p:txBody>
          <a:bodyPr>
            <a:normAutofit fontScale="92500"/>
          </a:bodyPr>
          <a:lstStyle/>
          <a:p>
            <a:pPr algn="just"/>
            <a:r>
              <a:rPr lang="en-US" sz="2200" u="sng" dirty="0" err="1">
                <a:solidFill>
                  <a:srgbClr val="FF0000"/>
                </a:solidFill>
              </a:rPr>
              <a:t>CloudSim</a:t>
            </a:r>
            <a:r>
              <a:rPr lang="en-US" sz="2200" dirty="0">
                <a:solidFill>
                  <a:srgbClr val="FF0000"/>
                </a:solidFill>
              </a:rPr>
              <a:t>:</a:t>
            </a:r>
            <a:r>
              <a:rPr lang="en-US" sz="2200" dirty="0"/>
              <a:t> This is the prime class, with the role of managing entity event queues and controlling the sequential execution of simulation events.</a:t>
            </a:r>
          </a:p>
          <a:p>
            <a:pPr algn="just"/>
            <a:r>
              <a:rPr lang="en-US" sz="2200" u="sng" dirty="0" err="1">
                <a:solidFill>
                  <a:srgbClr val="FF0000"/>
                </a:solidFill>
              </a:rPr>
              <a:t>SimEntity</a:t>
            </a:r>
            <a:r>
              <a:rPr lang="en-US" sz="2200" dirty="0">
                <a:solidFill>
                  <a:srgbClr val="FF0000"/>
                </a:solidFill>
              </a:rPr>
              <a:t>:</a:t>
            </a:r>
            <a:r>
              <a:rPr lang="en-US" sz="2200" dirty="0"/>
              <a:t> This is an abstract class, which represents a simulation entity (such as </a:t>
            </a:r>
            <a:r>
              <a:rPr lang="en-US" sz="2200" dirty="0" err="1"/>
              <a:t>DataCenter</a:t>
            </a:r>
            <a:r>
              <a:rPr lang="en-US" sz="2200" dirty="0"/>
              <a:t>, </a:t>
            </a:r>
            <a:r>
              <a:rPr lang="en-US" sz="2200" dirty="0" err="1"/>
              <a:t>DatacenterBroker</a:t>
            </a:r>
            <a:r>
              <a:rPr lang="en-US" sz="2200" dirty="0"/>
              <a:t>, etc) ) that is able to send messages to other entities and processes received messages as well as fire and handle events. </a:t>
            </a:r>
            <a:r>
              <a:rPr lang="en-US" sz="2200" i="1" dirty="0" err="1">
                <a:solidFill>
                  <a:schemeClr val="accent1">
                    <a:lumMod val="75000"/>
                  </a:schemeClr>
                </a:solidFill>
              </a:rPr>
              <a:t>SimEntity</a:t>
            </a:r>
            <a:r>
              <a:rPr lang="en-US" sz="2200" i="1" dirty="0">
                <a:solidFill>
                  <a:schemeClr val="accent1">
                    <a:lumMod val="75000"/>
                  </a:schemeClr>
                </a:solidFill>
              </a:rPr>
              <a:t> class provides the ability to schedule new events and send messages to other entities, where network delay is calculated according to the BRITE model. Once created, entities automatically register with CIS.</a:t>
            </a:r>
            <a:r>
              <a:rPr lang="en-US" sz="2200" dirty="0"/>
              <a:t> All entities must extend this class and override its three core methods: </a:t>
            </a:r>
            <a:r>
              <a:rPr lang="en-US" sz="2200" dirty="0" err="1">
                <a:solidFill>
                  <a:srgbClr val="FF0000"/>
                </a:solidFill>
              </a:rPr>
              <a:t>startEntity</a:t>
            </a:r>
            <a:r>
              <a:rPr lang="en-US" sz="2200" dirty="0">
                <a:solidFill>
                  <a:srgbClr val="FF0000"/>
                </a:solidFill>
              </a:rPr>
              <a:t>()</a:t>
            </a:r>
            <a:r>
              <a:rPr lang="en-US" sz="2200" dirty="0"/>
              <a:t>, which define actions for entity initialization, </a:t>
            </a:r>
            <a:r>
              <a:rPr lang="en-US" sz="2200" dirty="0" err="1">
                <a:solidFill>
                  <a:srgbClr val="FF0000"/>
                </a:solidFill>
              </a:rPr>
              <a:t>processEvent</a:t>
            </a:r>
            <a:r>
              <a:rPr lang="en-US" sz="2200" dirty="0">
                <a:solidFill>
                  <a:srgbClr val="FF0000"/>
                </a:solidFill>
              </a:rPr>
              <a:t>()</a:t>
            </a:r>
            <a:r>
              <a:rPr lang="en-US" sz="2200" dirty="0"/>
              <a:t>, which defines actions processing of each called event(s) with respect to the entity, </a:t>
            </a:r>
            <a:r>
              <a:rPr lang="en-US" sz="2200" dirty="0" err="1">
                <a:solidFill>
                  <a:srgbClr val="FF0000"/>
                </a:solidFill>
              </a:rPr>
              <a:t>shutdownEntity</a:t>
            </a:r>
            <a:r>
              <a:rPr lang="en-US" sz="2200" dirty="0">
                <a:solidFill>
                  <a:srgbClr val="FF0000"/>
                </a:solidFill>
              </a:rPr>
              <a:t>()</a:t>
            </a:r>
            <a:r>
              <a:rPr lang="en-US" sz="2200" dirty="0"/>
              <a:t>,which define actions for entity destruction.</a:t>
            </a:r>
          </a:p>
          <a:p>
            <a:pPr algn="just"/>
            <a:r>
              <a:rPr lang="en-US" sz="2200" u="sng" dirty="0" err="1">
                <a:solidFill>
                  <a:srgbClr val="FF0000"/>
                </a:solidFill>
              </a:rPr>
              <a:t>SimEvent</a:t>
            </a:r>
            <a:r>
              <a:rPr lang="en-US" sz="2200" dirty="0">
                <a:solidFill>
                  <a:srgbClr val="FF0000"/>
                </a:solidFill>
              </a:rPr>
              <a:t>:</a:t>
            </a:r>
            <a:r>
              <a:rPr lang="en-US" sz="2200" dirty="0"/>
              <a:t> This entity represents a simulation event that is passed between two or more entities. </a:t>
            </a:r>
            <a:r>
              <a:rPr lang="en-US" sz="2200" dirty="0" err="1"/>
              <a:t>SimEvent</a:t>
            </a:r>
            <a:r>
              <a:rPr lang="en-US" sz="2200" dirty="0"/>
              <a:t> stores the following information about an event: type, init time, time at which the event should occur, finish time, time at which the event should be delivered to its destination entity, IDs of the source and destination entities, the tag of the event, and Data that have to be passed to the destination entity.</a:t>
            </a:r>
          </a:p>
          <a:p>
            <a:pPr algn="just"/>
            <a:r>
              <a:rPr lang="en-US" sz="2200" u="sng" dirty="0" err="1">
                <a:solidFill>
                  <a:srgbClr val="FF0000"/>
                </a:solidFill>
              </a:rPr>
              <a:t>CloudSimShutdown</a:t>
            </a:r>
            <a:r>
              <a:rPr lang="en-US" sz="2200" dirty="0">
                <a:solidFill>
                  <a:srgbClr val="FF0000"/>
                </a:solidFill>
              </a:rPr>
              <a:t>:</a:t>
            </a:r>
            <a:r>
              <a:rPr lang="en-US" sz="2200" dirty="0"/>
              <a:t> This is an entity class that waits for the termination of all end-user submitted cloudlets(tasks) and broker entities events, and once detected, then signals the end of simulation to CIS.</a:t>
            </a:r>
          </a:p>
          <a:p>
            <a:endParaRPr lang="en-US" dirty="0"/>
          </a:p>
          <a:p>
            <a:endParaRPr lang="en-US" dirty="0"/>
          </a:p>
        </p:txBody>
      </p:sp>
      <p:sp>
        <p:nvSpPr>
          <p:cNvPr id="4" name="Slide Number Placeholder 3"/>
          <p:cNvSpPr>
            <a:spLocks noGrp="1"/>
          </p:cNvSpPr>
          <p:nvPr>
            <p:ph type="sldNum" sz="quarter" idx="12"/>
          </p:nvPr>
        </p:nvSpPr>
        <p:spPr/>
        <p:txBody>
          <a:bodyPr/>
          <a:lstStyle/>
          <a:p>
            <a:fld id="{2019AD06-451C-413E-AF31-86503C137FDF}"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74792"/>
          </a:xfrm>
        </p:spPr>
        <p:style>
          <a:lnRef idx="0">
            <a:scrgbClr r="0" g="0" b="0"/>
          </a:lnRef>
          <a:fillRef idx="1003">
            <a:schemeClr val="lt2"/>
          </a:fillRef>
          <a:effectRef idx="0">
            <a:scrgbClr r="0" g="0" b="0"/>
          </a:effectRef>
          <a:fontRef idx="major"/>
        </p:style>
        <p:txBody>
          <a:bodyPr>
            <a:normAutofit/>
          </a:bodyPr>
          <a:lstStyle/>
          <a:p>
            <a:r>
              <a:rPr lang="en-IN" sz="3600" dirty="0"/>
              <a:t>Steps to Implement </a:t>
            </a:r>
            <a:endParaRPr lang="en-US" sz="3600" dirty="0"/>
          </a:p>
        </p:txBody>
      </p:sp>
      <p:sp>
        <p:nvSpPr>
          <p:cNvPr id="3" name="Content Placeholder 2"/>
          <p:cNvSpPr>
            <a:spLocks noGrp="1"/>
          </p:cNvSpPr>
          <p:nvPr>
            <p:ph idx="1"/>
          </p:nvPr>
        </p:nvSpPr>
        <p:spPr>
          <a:xfrm>
            <a:off x="838200" y="1702676"/>
            <a:ext cx="10515600" cy="4474287"/>
          </a:xfrm>
        </p:spPr>
        <p:txBody>
          <a:bodyPr>
            <a:normAutofit/>
          </a:bodyPr>
          <a:lstStyle/>
          <a:p>
            <a:pPr marL="514350" indent="-514350" algn="just">
              <a:buFont typeface="+mj-lt"/>
              <a:buAutoNum type="arabicPeriod"/>
            </a:pPr>
            <a:r>
              <a:rPr lang="en-IN" sz="2000" dirty="0"/>
              <a:t>Initialize the </a:t>
            </a:r>
            <a:r>
              <a:rPr lang="en-IN" sz="2000" dirty="0" err="1"/>
              <a:t>CloudSim</a:t>
            </a:r>
            <a:r>
              <a:rPr lang="en-IN" sz="2000" dirty="0"/>
              <a:t> package. It should be called before creating any entities.</a:t>
            </a:r>
          </a:p>
          <a:p>
            <a:pPr marL="514350" indent="-514350" algn="just">
              <a:buFont typeface="+mj-lt"/>
              <a:buAutoNum type="arabicPeriod"/>
            </a:pPr>
            <a:r>
              <a:rPr lang="en-IN" sz="2000" dirty="0"/>
              <a:t>Create </a:t>
            </a:r>
            <a:r>
              <a:rPr lang="en-IN" sz="2000" dirty="0" err="1"/>
              <a:t>Datacenter</a:t>
            </a:r>
            <a:r>
              <a:rPr lang="en-IN" sz="2000" dirty="0"/>
              <a:t>(s) (</a:t>
            </a:r>
            <a:r>
              <a:rPr lang="en-IN" sz="2000" dirty="0" err="1"/>
              <a:t>Datacenter</a:t>
            </a:r>
            <a:r>
              <a:rPr lang="en-IN" sz="2000" dirty="0"/>
              <a:t> </a:t>
            </a:r>
            <a:r>
              <a:rPr lang="en-IN" sz="2000" dirty="0">
                <a:sym typeface="Wingdings" pitchFamily="2" charset="2"/>
              </a:rPr>
              <a:t> </a:t>
            </a:r>
            <a:r>
              <a:rPr lang="en-IN" sz="2000" dirty="0" err="1">
                <a:sym typeface="Wingdings" pitchFamily="2" charset="2"/>
              </a:rPr>
              <a:t>DatacenterCharacteristics</a:t>
            </a:r>
            <a:r>
              <a:rPr lang="en-IN" sz="2000" dirty="0">
                <a:sym typeface="Wingdings" pitchFamily="2" charset="2"/>
              </a:rPr>
              <a:t>  </a:t>
            </a:r>
            <a:r>
              <a:rPr lang="en-IN" sz="2000" dirty="0" err="1">
                <a:sym typeface="Wingdings" pitchFamily="2" charset="2"/>
              </a:rPr>
              <a:t>HostList</a:t>
            </a:r>
            <a:r>
              <a:rPr lang="en-IN" sz="2000" dirty="0">
                <a:sym typeface="Wingdings" pitchFamily="2" charset="2"/>
              </a:rPr>
              <a:t>  </a:t>
            </a:r>
            <a:r>
              <a:rPr lang="en-IN" sz="2000" dirty="0" err="1">
                <a:sym typeface="Wingdings" pitchFamily="2" charset="2"/>
              </a:rPr>
              <a:t>ProcessingElementList</a:t>
            </a:r>
            <a:r>
              <a:rPr lang="en-IN" sz="2000" dirty="0"/>
              <a:t>) </a:t>
            </a:r>
          </a:p>
          <a:p>
            <a:pPr marL="514350" indent="-514350" algn="just">
              <a:buNone/>
            </a:pPr>
            <a:r>
              <a:rPr lang="en-IN" sz="2000" dirty="0"/>
              <a:t>	(Define policy for VM allocation and scheduling)</a:t>
            </a:r>
          </a:p>
          <a:p>
            <a:pPr marL="514350" indent="-514350" algn="just">
              <a:buAutoNum type="arabicPeriod" startAt="3"/>
            </a:pPr>
            <a:r>
              <a:rPr lang="en-IN" sz="2000" dirty="0"/>
              <a:t>Create Broker</a:t>
            </a:r>
          </a:p>
          <a:p>
            <a:pPr marL="514350" indent="-514350" algn="just">
              <a:buAutoNum type="arabicPeriod" startAt="3"/>
            </a:pPr>
            <a:r>
              <a:rPr lang="en-IN" sz="2000" dirty="0"/>
              <a:t>Create Cloudlet(s) (Define workload)</a:t>
            </a:r>
          </a:p>
          <a:p>
            <a:pPr marL="514350" indent="-514350" algn="just">
              <a:buAutoNum type="arabicPeriod" startAt="3"/>
            </a:pPr>
            <a:r>
              <a:rPr lang="en-IN" sz="2000" dirty="0"/>
              <a:t>Create VMs (Define the procedure for Task Scheduling Algorithm)</a:t>
            </a:r>
          </a:p>
          <a:p>
            <a:pPr marL="514350" indent="-514350" algn="just">
              <a:buAutoNum type="arabicPeriod" startAt="3"/>
            </a:pPr>
            <a:r>
              <a:rPr lang="en-IN" sz="2000" dirty="0"/>
              <a:t>Starts the simulation (automated process, handled through created event simulation engine)</a:t>
            </a:r>
          </a:p>
          <a:p>
            <a:pPr marL="514350" indent="-514350" algn="just">
              <a:buAutoNum type="arabicPeriod" startAt="3"/>
            </a:pPr>
            <a:r>
              <a:rPr lang="en-IN" sz="2000" dirty="0"/>
              <a:t>Print results when simulation is over (outputs)</a:t>
            </a:r>
            <a:endParaRPr lang="en-US" sz="2000" dirty="0"/>
          </a:p>
        </p:txBody>
      </p:sp>
      <p:sp>
        <p:nvSpPr>
          <p:cNvPr id="4" name="Slide Number Placeholder 3"/>
          <p:cNvSpPr>
            <a:spLocks noGrp="1"/>
          </p:cNvSpPr>
          <p:nvPr>
            <p:ph type="sldNum" sz="quarter" idx="12"/>
          </p:nvPr>
        </p:nvSpPr>
        <p:spPr/>
        <p:txBody>
          <a:bodyPr/>
          <a:lstStyle/>
          <a:p>
            <a:fld id="{2019AD06-451C-413E-AF31-86503C137FDF}"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59178"/>
          </a:xfrm>
        </p:spPr>
        <p:style>
          <a:lnRef idx="0">
            <a:scrgbClr r="0" g="0" b="0"/>
          </a:lnRef>
          <a:fillRef idx="1003">
            <a:schemeClr val="lt2"/>
          </a:fillRef>
          <a:effectRef idx="0">
            <a:scrgbClr r="0" g="0" b="0"/>
          </a:effectRef>
          <a:fontRef idx="major"/>
        </p:style>
        <p:txBody>
          <a:bodyPr>
            <a:normAutofit/>
          </a:bodyPr>
          <a:lstStyle/>
          <a:p>
            <a:r>
              <a:rPr lang="en-IN" sz="3600" dirty="0"/>
              <a:t>Narration of </a:t>
            </a:r>
            <a:r>
              <a:rPr lang="en-IN" sz="3600" dirty="0" err="1"/>
              <a:t>CloudSim</a:t>
            </a:r>
            <a:r>
              <a:rPr lang="en-IN" sz="3600" dirty="0"/>
              <a:t> Example 1</a:t>
            </a:r>
            <a:endParaRPr lang="en-US" sz="3600" dirty="0"/>
          </a:p>
        </p:txBody>
      </p:sp>
      <p:sp>
        <p:nvSpPr>
          <p:cNvPr id="3" name="Content Placeholder 2"/>
          <p:cNvSpPr>
            <a:spLocks noGrp="1"/>
          </p:cNvSpPr>
          <p:nvPr>
            <p:ph idx="1"/>
          </p:nvPr>
        </p:nvSpPr>
        <p:spPr>
          <a:xfrm>
            <a:off x="838200" y="2144109"/>
            <a:ext cx="10515600" cy="4032853"/>
          </a:xfrm>
        </p:spPr>
        <p:txBody>
          <a:bodyPr/>
          <a:lstStyle/>
          <a:p>
            <a:r>
              <a:rPr lang="en-US" dirty="0" err="1"/>
              <a:t>CloudSim</a:t>
            </a:r>
            <a:r>
              <a:rPr lang="en-US" dirty="0"/>
              <a:t>: Simulation Of Cloud Computing Infrastructures And Services</a:t>
            </a:r>
          </a:p>
        </p:txBody>
      </p:sp>
      <p:sp>
        <p:nvSpPr>
          <p:cNvPr id="4" name="Slide Number Placeholder 3"/>
          <p:cNvSpPr>
            <a:spLocks noGrp="1"/>
          </p:cNvSpPr>
          <p:nvPr>
            <p:ph type="sldNum" sz="quarter" idx="12"/>
          </p:nvPr>
        </p:nvSpPr>
        <p:spPr/>
        <p:txBody>
          <a:bodyPr/>
          <a:lstStyle/>
          <a:p>
            <a:fld id="{2019AD06-451C-413E-AF31-86503C137FDF}" type="slidenum">
              <a:rPr lang="en-US" smtClean="0"/>
              <a:pPr/>
              <a:t>32</a:t>
            </a:fld>
            <a:endParaRPr lang="en-US"/>
          </a:p>
        </p:txBody>
      </p:sp>
      <p:sp>
        <p:nvSpPr>
          <p:cNvPr id="5" name="Rectangle 4"/>
          <p:cNvSpPr/>
          <p:nvPr/>
        </p:nvSpPr>
        <p:spPr>
          <a:xfrm>
            <a:off x="1135567" y="2924294"/>
            <a:ext cx="4800225" cy="369332"/>
          </a:xfrm>
          <a:prstGeom prst="rect">
            <a:avLst/>
          </a:prstGeom>
        </p:spPr>
        <p:txBody>
          <a:bodyPr wrap="none">
            <a:spAutoFit/>
          </a:bodyPr>
          <a:lstStyle/>
          <a:p>
            <a:r>
              <a:rPr lang="en-US" dirty="0"/>
              <a:t>https://github.com/amelcharolinesgn2/CloudSim</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0709"/>
          </a:xfrm>
        </p:spPr>
        <p:style>
          <a:lnRef idx="0">
            <a:scrgbClr r="0" g="0" b="0"/>
          </a:lnRef>
          <a:fillRef idx="1003">
            <a:schemeClr val="lt2"/>
          </a:fillRef>
          <a:effectRef idx="0">
            <a:scrgbClr r="0" g="0" b="0"/>
          </a:effectRef>
          <a:fontRef idx="major"/>
        </p:style>
        <p:txBody>
          <a:bodyPr>
            <a:normAutofit/>
          </a:bodyPr>
          <a:lstStyle/>
          <a:p>
            <a:r>
              <a:rPr lang="en-IN" sz="3600" dirty="0"/>
              <a:t>can Experiment</a:t>
            </a:r>
            <a:endParaRPr lang="en-US" sz="3600" dirty="0"/>
          </a:p>
        </p:txBody>
      </p:sp>
      <p:sp>
        <p:nvSpPr>
          <p:cNvPr id="3" name="Content Placeholder 2"/>
          <p:cNvSpPr>
            <a:spLocks noGrp="1"/>
          </p:cNvSpPr>
          <p:nvPr>
            <p:ph idx="1"/>
          </p:nvPr>
        </p:nvSpPr>
        <p:spPr>
          <a:xfrm>
            <a:off x="838200" y="1366346"/>
            <a:ext cx="10515600" cy="5349764"/>
          </a:xfrm>
        </p:spPr>
        <p:txBody>
          <a:bodyPr>
            <a:noAutofit/>
          </a:bodyPr>
          <a:lstStyle/>
          <a:p>
            <a:pPr algn="just">
              <a:lnSpc>
                <a:spcPct val="120000"/>
              </a:lnSpc>
            </a:pPr>
            <a:r>
              <a:rPr lang="en-IN" sz="2000" dirty="0"/>
              <a:t>By taking number of Cloudlets with varying length of instructions</a:t>
            </a:r>
          </a:p>
          <a:p>
            <a:pPr algn="just">
              <a:lnSpc>
                <a:spcPct val="120000"/>
              </a:lnSpc>
            </a:pPr>
            <a:r>
              <a:rPr lang="en-IN" sz="2000" dirty="0"/>
              <a:t>By taking varying number of VMs (homogeneous or heterogeneous)</a:t>
            </a:r>
          </a:p>
          <a:p>
            <a:pPr algn="just">
              <a:lnSpc>
                <a:spcPct val="120000"/>
              </a:lnSpc>
            </a:pPr>
            <a:r>
              <a:rPr lang="en-IN" sz="2000" dirty="0"/>
              <a:t>Also, can work on by taking some real world workloads</a:t>
            </a:r>
          </a:p>
          <a:p>
            <a:pPr algn="just">
              <a:lnSpc>
                <a:spcPct val="120000"/>
              </a:lnSpc>
            </a:pPr>
            <a:r>
              <a:rPr lang="en-IN" sz="2000" dirty="0"/>
              <a:t>By taking number of hosts with different number of processing core(s)</a:t>
            </a:r>
          </a:p>
          <a:p>
            <a:pPr algn="just">
              <a:lnSpc>
                <a:spcPct val="120000"/>
              </a:lnSpc>
            </a:pPr>
            <a:r>
              <a:rPr lang="en-IN" sz="2000" dirty="0"/>
              <a:t>By defining your own scheduling algorithm by modifying the code in </a:t>
            </a:r>
            <a:r>
              <a:rPr lang="en-IN" sz="2000" dirty="0" err="1"/>
              <a:t>bindtocloudlet</a:t>
            </a:r>
            <a:r>
              <a:rPr lang="en-IN" sz="2000" dirty="0"/>
              <a:t>() method of datacenterbroker.java class.</a:t>
            </a:r>
          </a:p>
          <a:p>
            <a:pPr algn="just">
              <a:lnSpc>
                <a:spcPct val="120000"/>
              </a:lnSpc>
            </a:pPr>
            <a:r>
              <a:rPr lang="en-IN" sz="2000" dirty="0"/>
              <a:t>You can analyse and compare your own algorithm against other load balancing and scheduling algorithms by taking different performance metrics (such as, throughput, response time, resource utilization, makespan, degree of imbalance (DOI) etc.) </a:t>
            </a:r>
          </a:p>
          <a:p>
            <a:pPr algn="just">
              <a:lnSpc>
                <a:spcPct val="120000"/>
              </a:lnSpc>
            </a:pPr>
            <a:r>
              <a:rPr lang="en-IN" sz="2000" dirty="0"/>
              <a:t>Can work on reduction of energy consumption by modifying in power package in </a:t>
            </a:r>
            <a:r>
              <a:rPr lang="en-IN" sz="2000" dirty="0" err="1"/>
              <a:t>CloudSim</a:t>
            </a:r>
            <a:r>
              <a:rPr lang="en-IN" sz="2000" dirty="0"/>
              <a:t> and so on… </a:t>
            </a:r>
          </a:p>
          <a:p>
            <a:pPr algn="just">
              <a:lnSpc>
                <a:spcPct val="120000"/>
              </a:lnSpc>
            </a:pPr>
            <a:r>
              <a:rPr lang="en-IN" sz="2000" dirty="0"/>
              <a:t>It concludes, there are endless opportunity that you can work upon using </a:t>
            </a:r>
            <a:r>
              <a:rPr lang="en-IN" sz="2000" dirty="0" err="1"/>
              <a:t>CloudSim</a:t>
            </a:r>
            <a:r>
              <a:rPr lang="en-IN" sz="2000" dirty="0"/>
              <a:t>.</a:t>
            </a:r>
            <a:endParaRPr lang="en-US" sz="2000" dirty="0"/>
          </a:p>
        </p:txBody>
      </p:sp>
      <p:sp>
        <p:nvSpPr>
          <p:cNvPr id="4" name="Slide Number Placeholder 3"/>
          <p:cNvSpPr>
            <a:spLocks noGrp="1"/>
          </p:cNvSpPr>
          <p:nvPr>
            <p:ph type="sldNum" sz="quarter" idx="12"/>
          </p:nvPr>
        </p:nvSpPr>
        <p:spPr/>
        <p:txBody>
          <a:bodyPr/>
          <a:lstStyle/>
          <a:p>
            <a:fld id="{2019AD06-451C-413E-AF31-86503C137FDF}" type="slidenum">
              <a:rPr lang="en-US" smtClean="0"/>
              <a:pPr/>
              <a:t>33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417</TotalTime>
  <Words>1501</Words>
  <Application>Microsoft Office PowerPoint</Application>
  <PresentationFormat>Widescreen</PresentationFormat>
  <Paragraphs>370</Paragraphs>
  <Slides>33</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33</vt:i4>
      </vt:variant>
    </vt:vector>
  </HeadingPairs>
  <TitlesOfParts>
    <vt:vector size="45" baseType="lpstr">
      <vt:lpstr>맑은 고딕</vt:lpstr>
      <vt:lpstr>宋体</vt:lpstr>
      <vt:lpstr>宋体</vt:lpstr>
      <vt:lpstr>Arial</vt:lpstr>
      <vt:lpstr>Calibri</vt:lpstr>
      <vt:lpstr>Calibri Light</vt:lpstr>
      <vt:lpstr>Cambria</vt:lpstr>
      <vt:lpstr>Tahoma</vt:lpstr>
      <vt:lpstr>Times New Roman</vt:lpstr>
      <vt:lpstr>Verdana</vt:lpstr>
      <vt:lpstr>Wingdings</vt:lpstr>
      <vt:lpstr>Office Theme</vt:lpstr>
      <vt:lpstr>PowerPoint Presentation</vt:lpstr>
      <vt:lpstr>Introduction to Cloud Computing, Virtualization and CloudSim</vt:lpstr>
      <vt:lpstr>The Next Revolution in IT                                The Big Switch in IT</vt:lpstr>
      <vt:lpstr>.</vt:lpstr>
      <vt:lpstr>.</vt:lpstr>
      <vt:lpstr>.</vt:lpstr>
      <vt:lpstr>.</vt:lpstr>
      <vt:lpstr>                 Rentable Cloud Services</vt:lpstr>
      <vt:lpstr>                 </vt:lpstr>
      <vt:lpstr>                 </vt:lpstr>
      <vt:lpstr>.</vt:lpstr>
      <vt:lpstr>.</vt:lpstr>
      <vt:lpstr>.</vt:lpstr>
      <vt:lpstr>.</vt:lpstr>
      <vt:lpstr>.</vt:lpstr>
      <vt:lpstr>PowerPoint Presentation</vt:lpstr>
      <vt:lpstr>.</vt:lpstr>
      <vt:lpstr>.</vt:lpstr>
      <vt:lpstr>.</vt:lpstr>
      <vt:lpstr>.</vt:lpstr>
      <vt:lpstr>Research Scope</vt:lpstr>
      <vt:lpstr>Limitations and Disadvantages</vt:lpstr>
      <vt:lpstr>Simulation Tool</vt:lpstr>
      <vt:lpstr>Why CloudSim ?</vt:lpstr>
      <vt:lpstr>What CloudSim?</vt:lpstr>
      <vt:lpstr>CloudSim Architecture</vt:lpstr>
      <vt:lpstr>Contd… </vt:lpstr>
      <vt:lpstr>Classes Of CloudSim</vt:lpstr>
      <vt:lpstr>Contd…</vt:lpstr>
      <vt:lpstr>Contd…</vt:lpstr>
      <vt:lpstr>Steps to Implement </vt:lpstr>
      <vt:lpstr>Narration of CloudSim Example 1</vt:lpstr>
      <vt:lpstr>can Experiment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pds</dc:title>
  <dc:creator>pds</dc:creator>
  <cp:lastModifiedBy>user</cp:lastModifiedBy>
  <cp:revision>55</cp:revision>
  <dcterms:created xsi:type="dcterms:W3CDTF">2017-12-27T08:07:54Z</dcterms:created>
  <dcterms:modified xsi:type="dcterms:W3CDTF">2026-09-11T05:57:59Z</dcterms:modified>
</cp:coreProperties>
</file>