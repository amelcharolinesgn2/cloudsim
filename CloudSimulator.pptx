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7" r:id="rId2"/>
    <p:sldMasterId id="2147483718" r:id="rId3"/>
  </p:sldMasterIdLst>
  <p:notesMasterIdLst>
    <p:notesMasterId r:id="rId24"/>
  </p:notesMasterIdLst>
  <p:sldIdLst>
    <p:sldId id="256" r:id="rId4"/>
    <p:sldId id="416" r:id="rId5"/>
    <p:sldId id="449" r:id="rId6"/>
    <p:sldId id="450" r:id="rId7"/>
    <p:sldId id="451" r:id="rId8"/>
    <p:sldId id="452" r:id="rId9"/>
    <p:sldId id="453" r:id="rId10"/>
    <p:sldId id="415" r:id="rId11"/>
    <p:sldId id="439" r:id="rId12"/>
    <p:sldId id="422" r:id="rId13"/>
    <p:sldId id="444" r:id="rId14"/>
    <p:sldId id="445" r:id="rId15"/>
    <p:sldId id="446" r:id="rId16"/>
    <p:sldId id="447" r:id="rId17"/>
    <p:sldId id="440" r:id="rId18"/>
    <p:sldId id="441" r:id="rId19"/>
    <p:sldId id="448" r:id="rId20"/>
    <p:sldId id="442" r:id="rId21"/>
    <p:sldId id="443" r:id="rId22"/>
    <p:sldId id="43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DAE4"/>
    <a:srgbClr val="FFC9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431" autoAdjust="0"/>
  </p:normalViewPr>
  <p:slideViewPr>
    <p:cSldViewPr>
      <p:cViewPr varScale="1">
        <p:scale>
          <a:sx n="64" d="100"/>
          <a:sy n="64" d="100"/>
        </p:scale>
        <p:origin x="102" y="42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E7D5171-42B1-4CC4-8E0F-92E417EF189B}" type="datetimeFigureOut">
              <a:rPr lang="en-US" smtClean="0"/>
              <a:pPr/>
              <a:t>9/11/2026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C037F12-F326-45E3-9B5A-3FF8F6C69D9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theaquaponicsource.com/flourish-farm-aquaponic-systems/"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https://drive.google.com/drive/folders/10Jn-lD_ae6PH-ixi1LViORn1hEgi-vII</a:t>
            </a:r>
          </a:p>
          <a:p>
            <a:endParaRPr lang="en-US" dirty="0" smtClean="0"/>
          </a:p>
          <a:p>
            <a:endParaRPr lang="en-US" smtClean="0"/>
          </a:p>
          <a:p>
            <a:r>
              <a:rPr lang="en-US" smtClean="0"/>
              <a:t>https</a:t>
            </a:r>
            <a:r>
              <a:rPr lang="en-US" dirty="0" smtClean="0"/>
              <a:t>://github.com/Azure/opendigitaltwins-smartcities/blob/main/README.md</a:t>
            </a:r>
          </a:p>
          <a:p>
            <a:endParaRPr lang="en-US" dirty="0" smtClean="0"/>
          </a:p>
          <a:p>
            <a:r>
              <a:rPr lang="en-US" sz="1200" b="0" i="0" kern="1200" dirty="0" smtClean="0">
                <a:solidFill>
                  <a:schemeClr val="tx1"/>
                </a:solidFill>
                <a:effectLst/>
                <a:latin typeface="+mn-lt"/>
                <a:ea typeface="+mn-ea"/>
                <a:cs typeface="+mn-cs"/>
              </a:rPr>
              <a:t>Flourish </a:t>
            </a:r>
            <a:r>
              <a:rPr lang="en-US" sz="1200" b="1" i="0" kern="1200" dirty="0" smtClean="0">
                <a:solidFill>
                  <a:schemeClr val="tx1"/>
                </a:solidFill>
                <a:effectLst/>
                <a:latin typeface="+mn-lt"/>
                <a:ea typeface="+mn-ea"/>
                <a:cs typeface="+mn-cs"/>
              </a:rPr>
              <a:t>Farm </a:t>
            </a:r>
            <a:r>
              <a:rPr lang="en-US" sz="1200" b="0" i="0" kern="1200" dirty="0" err="1" smtClean="0">
                <a:solidFill>
                  <a:schemeClr val="tx1"/>
                </a:solidFill>
                <a:effectLst/>
                <a:latin typeface="+mn-lt"/>
                <a:ea typeface="+mn-ea"/>
                <a:cs typeface="+mn-cs"/>
              </a:rPr>
              <a:t>Aquaponic</a:t>
            </a:r>
            <a:r>
              <a:rPr lang="en-US" sz="1200" b="0" i="0" kern="1200" dirty="0" smtClean="0">
                <a:solidFill>
                  <a:schemeClr val="tx1"/>
                </a:solidFill>
                <a:effectLst/>
                <a:latin typeface="+mn-lt"/>
                <a:ea typeface="+mn-ea"/>
                <a:cs typeface="+mn-cs"/>
              </a:rPr>
              <a:t> Systems | The </a:t>
            </a:r>
            <a:r>
              <a:rPr lang="en-US" sz="1200" b="0" i="0" kern="1200" dirty="0" err="1" smtClean="0">
                <a:solidFill>
                  <a:schemeClr val="tx1"/>
                </a:solidFill>
                <a:effectLst/>
                <a:latin typeface="+mn-lt"/>
                <a:ea typeface="+mn-ea"/>
                <a:cs typeface="+mn-cs"/>
              </a:rPr>
              <a:t>Aquaponic</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Source</a:t>
            </a:r>
            <a:r>
              <a:rPr lang="en-US" sz="1200" b="0" i="0" u="none" strike="noStrike" kern="1200" dirty="0" err="1" smtClean="0">
                <a:solidFill>
                  <a:schemeClr val="tx1"/>
                </a:solidFill>
                <a:effectLst/>
                <a:latin typeface="+mn-lt"/>
                <a:ea typeface="+mn-ea"/>
                <a:cs typeface="+mn-cs"/>
              </a:rPr>
              <a:t>Lainnya</a:t>
            </a:r>
            <a:endParaRPr lang="en-US" sz="1200" b="0" i="0"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hlinkClick r:id="rId3"/>
              </a:rPr>
              <a:t/>
            </a:r>
            <a:br>
              <a:rPr lang="en-US" sz="1200" b="0" i="0" u="none" strike="noStrike" kern="1200" dirty="0" smtClean="0">
                <a:solidFill>
                  <a:schemeClr val="tx1"/>
                </a:solidFill>
                <a:effectLst/>
                <a:latin typeface="+mn-lt"/>
                <a:ea typeface="+mn-ea"/>
                <a:cs typeface="+mn-cs"/>
                <a:hlinkClick r:id="rId3"/>
              </a:rPr>
            </a:br>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a:t>
            </a:fld>
            <a:endParaRPr lang="en-US"/>
          </a:p>
        </p:txBody>
      </p:sp>
    </p:spTree>
    <p:extLst>
      <p:ext uri="{BB962C8B-B14F-4D97-AF65-F5344CB8AC3E}">
        <p14:creationId xmlns:p14="http://schemas.microsoft.com/office/powerpoint/2010/main" val="4235303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noRot="1" noChangeAspect="1"/>
          </p:cNvSpPr>
          <p:nvPr>
            <p:ph type="sldImg"/>
          </p:nvPr>
        </p:nvSpPr>
        <p:spPr>
          <a:xfrm>
            <a:off x="823913" y="1006475"/>
            <a:ext cx="6124575" cy="3446463"/>
          </a:xfrm>
          <a:prstGeom prst="rect">
            <a:avLst/>
          </a:prstGeom>
        </p:spPr>
      </p:sp>
      <p:sp>
        <p:nvSpPr>
          <p:cNvPr id="48" name="PlaceHolder 2"/>
          <p:cNvSpPr>
            <a:spLocks noGrp="1"/>
          </p:cNvSpPr>
          <p:nvPr>
            <p:ph type="body"/>
          </p:nvPr>
        </p:nvSpPr>
        <p:spPr>
          <a:xfrm>
            <a:off x="1185120" y="4787640"/>
            <a:ext cx="5407560" cy="4816800"/>
          </a:xfrm>
          <a:prstGeom prst="rect">
            <a:avLst/>
          </a:prstGeom>
        </p:spPr>
        <p:txBody>
          <a:bodyPr lIns="0" tIns="0" rIns="0" bIns="0">
            <a:normAutofit lnSpcReduction="10000"/>
          </a:bodyPr>
          <a:lstStyle/>
          <a:p>
            <a:r>
              <a:rPr lang="en-US" sz="2000" b="0" strike="noStrike" spc="-1">
                <a:latin typeface="Arial"/>
              </a:rPr>
              <a:t>The evolution of CloudSim.</a:t>
            </a:r>
          </a:p>
          <a:p>
            <a:r>
              <a:rPr lang="en-US" sz="2000" b="0" strike="noStrike" spc="-1">
                <a:latin typeface="Arial"/>
              </a:rPr>
              <a:t>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 </a:t>
            </a:r>
          </a:p>
        </p:txBody>
      </p:sp>
    </p:spTree>
    <p:extLst>
      <p:ext uri="{BB962C8B-B14F-4D97-AF65-F5344CB8AC3E}">
        <p14:creationId xmlns:p14="http://schemas.microsoft.com/office/powerpoint/2010/main" val="620935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noRot="1" noChangeAspect="1"/>
          </p:cNvSpPr>
          <p:nvPr>
            <p:ph type="sldImg"/>
          </p:nvPr>
        </p:nvSpPr>
        <p:spPr>
          <a:xfrm>
            <a:off x="823913" y="1006475"/>
            <a:ext cx="6124575" cy="3446463"/>
          </a:xfrm>
          <a:prstGeom prst="rect">
            <a:avLst/>
          </a:prstGeom>
        </p:spPr>
      </p:sp>
      <p:sp>
        <p:nvSpPr>
          <p:cNvPr id="48" name="PlaceHolder 2"/>
          <p:cNvSpPr>
            <a:spLocks noGrp="1"/>
          </p:cNvSpPr>
          <p:nvPr>
            <p:ph type="body"/>
          </p:nvPr>
        </p:nvSpPr>
        <p:spPr>
          <a:xfrm>
            <a:off x="1185120" y="4787640"/>
            <a:ext cx="5407560" cy="6233400"/>
          </a:xfrm>
          <a:prstGeom prst="rect">
            <a:avLst/>
          </a:prstGeom>
        </p:spPr>
        <p:txBody>
          <a:bodyPr lIns="0" tIns="0" rIns="0" bIns="0">
            <a:normAutofit lnSpcReduction="10000"/>
          </a:bodyPr>
          <a:lstStyle/>
          <a:p>
            <a:r>
              <a:rPr lang="en-US" sz="2000" b="0" strike="noStrike" spc="-1">
                <a:latin typeface="Arial"/>
              </a:rPr>
              <a:t>The architecture of CloudSim 7G. Blue boxes correspond to the CloudSim components of the base layer. Orange boxes correspond to user‐defined policies and configurations, as well as newly created or extended CloudSim components.</a:t>
            </a:r>
          </a:p>
          <a:p>
            <a:r>
              <a:rPr lang="en-US" sz="2000" b="0" strike="noStrike" spc="-1">
                <a:latin typeface="Arial"/>
              </a:rPr>
              <a:t>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 </a:t>
            </a:r>
          </a:p>
        </p:txBody>
      </p:sp>
    </p:spTree>
    <p:extLst>
      <p:ext uri="{BB962C8B-B14F-4D97-AF65-F5344CB8AC3E}">
        <p14:creationId xmlns:p14="http://schemas.microsoft.com/office/powerpoint/2010/main" val="424457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noRot="1" noChangeAspect="1"/>
          </p:cNvSpPr>
          <p:nvPr>
            <p:ph type="sldImg"/>
          </p:nvPr>
        </p:nvSpPr>
        <p:spPr>
          <a:xfrm>
            <a:off x="823913" y="1006475"/>
            <a:ext cx="6124575" cy="3446463"/>
          </a:xfrm>
          <a:prstGeom prst="rect">
            <a:avLst/>
          </a:prstGeom>
        </p:spPr>
      </p:sp>
      <p:sp>
        <p:nvSpPr>
          <p:cNvPr id="48" name="PlaceHolder 2"/>
          <p:cNvSpPr>
            <a:spLocks noGrp="1"/>
          </p:cNvSpPr>
          <p:nvPr>
            <p:ph type="body"/>
          </p:nvPr>
        </p:nvSpPr>
        <p:spPr>
          <a:xfrm>
            <a:off x="1185120" y="4787640"/>
            <a:ext cx="5407560" cy="6516720"/>
          </a:xfrm>
          <a:prstGeom prst="rect">
            <a:avLst/>
          </a:prstGeom>
        </p:spPr>
        <p:txBody>
          <a:bodyPr lIns="0" tIns="0" rIns="0" bIns="0">
            <a:normAutofit lnSpcReduction="10000"/>
          </a:bodyPr>
          <a:lstStyle/>
          <a:p>
            <a:r>
              <a:rPr lang="en-US" sz="2000" b="0" strike="noStrike" spc="-1">
                <a:latin typeface="Arial"/>
              </a:rPr>
              <a:t>UML class diagram of host and guest entities in CloudSim. Green boxes depict Java interfaces, and blue boxes represent Java classes. The relationship arrows follow the UML relations notation style: A dashed line represents a realization/implementation, and a full line represents inheritance.</a:t>
            </a:r>
          </a:p>
          <a:p>
            <a:r>
              <a:rPr lang="en-US" sz="2000" b="0" strike="noStrike" spc="-1">
                <a:latin typeface="Arial"/>
              </a:rPr>
              <a:t>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 </a:t>
            </a:r>
          </a:p>
        </p:txBody>
      </p:sp>
    </p:spTree>
    <p:extLst>
      <p:ext uri="{BB962C8B-B14F-4D97-AF65-F5344CB8AC3E}">
        <p14:creationId xmlns:p14="http://schemas.microsoft.com/office/powerpoint/2010/main" val="37087167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noRot="1" noChangeAspect="1"/>
          </p:cNvSpPr>
          <p:nvPr>
            <p:ph type="sldImg"/>
          </p:nvPr>
        </p:nvSpPr>
        <p:spPr>
          <a:xfrm>
            <a:off x="823913" y="1006475"/>
            <a:ext cx="6124575" cy="3446463"/>
          </a:xfrm>
          <a:prstGeom prst="rect">
            <a:avLst/>
          </a:prstGeom>
        </p:spPr>
      </p:sp>
      <p:sp>
        <p:nvSpPr>
          <p:cNvPr id="48" name="PlaceHolder 2"/>
          <p:cNvSpPr>
            <a:spLocks noGrp="1"/>
          </p:cNvSpPr>
          <p:nvPr>
            <p:ph type="body"/>
          </p:nvPr>
        </p:nvSpPr>
        <p:spPr>
          <a:xfrm>
            <a:off x="1185120" y="4787640"/>
            <a:ext cx="5407560" cy="7083360"/>
          </a:xfrm>
          <a:prstGeom prst="rect">
            <a:avLst/>
          </a:prstGeom>
        </p:spPr>
        <p:txBody>
          <a:bodyPr lIns="0" tIns="0" rIns="0" bIns="0">
            <a:normAutofit lnSpcReduction="10000"/>
          </a:bodyPr>
          <a:lstStyle/>
          <a:p>
            <a:r>
              <a:rPr lang="en-US" sz="2000" b="0" strike="noStrike" spc="-1">
                <a:latin typeface="Arial"/>
              </a:rPr>
              <a:t>UML class diagram of the host and guest selection policies in CloudSim. Green boxes depict Java interfaces, and blue boxes represent Java classes. The relationship arrows follow the UML relations notation style: A dashed line represents a realization/implementation, and a full line represents inheritance. Line colors are for presentation purposes only.</a:t>
            </a:r>
          </a:p>
          <a:p>
            <a:r>
              <a:rPr lang="en-US" sz="2000" b="0" strike="noStrike" spc="-1">
                <a:latin typeface="Arial"/>
              </a:rPr>
              <a:t>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 </a:t>
            </a:r>
          </a:p>
        </p:txBody>
      </p:sp>
    </p:spTree>
    <p:extLst>
      <p:ext uri="{BB962C8B-B14F-4D97-AF65-F5344CB8AC3E}">
        <p14:creationId xmlns:p14="http://schemas.microsoft.com/office/powerpoint/2010/main" val="2941237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p>
          <a:p>
            <a:r>
              <a:rPr lang="en-US" dirty="0" smtClean="0"/>
              <a:t>https://github.com/Cloudslab/cloudsim</a:t>
            </a:r>
          </a:p>
          <a:p>
            <a:r>
              <a:rPr lang="en-US" dirty="0" smtClean="0"/>
              <a:t>https://github.com/mayankrastogi/cloud-simulation</a:t>
            </a:r>
          </a:p>
          <a:p>
            <a:r>
              <a:rPr lang="en-US" dirty="0" smtClean="0"/>
              <a:t>https://github.com/cloudsimplus/cloudsimplus-automation/tree/cloudsim-version</a:t>
            </a:r>
          </a:p>
          <a:p>
            <a:r>
              <a:rPr lang="en-US" dirty="0" smtClean="0"/>
              <a:t>https://github.com/mayankrastogi/cloud-simulation</a:t>
            </a:r>
          </a:p>
          <a:p>
            <a:r>
              <a:rPr lang="en-US" dirty="0" smtClean="0"/>
              <a:t>https://groups.google.com/g/cloudsimplus?pli=1</a:t>
            </a:r>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8</a:t>
            </a:fld>
            <a:endParaRPr lang="en-US"/>
          </a:p>
        </p:txBody>
      </p:sp>
    </p:spTree>
    <p:extLst>
      <p:ext uri="{BB962C8B-B14F-4D97-AF65-F5344CB8AC3E}">
        <p14:creationId xmlns:p14="http://schemas.microsoft.com/office/powerpoint/2010/main" val="2913540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p>
          <a:p>
            <a:r>
              <a:rPr lang="en-US" dirty="0" smtClean="0"/>
              <a:t>https://github.com/mayankrastogi/cloud-simulation</a:t>
            </a:r>
          </a:p>
          <a:p>
            <a:r>
              <a:rPr lang="en-US" dirty="0" smtClean="0"/>
              <a:t>[1] R. </a:t>
            </a:r>
            <a:r>
              <a:rPr lang="en-US" dirty="0" err="1" smtClean="0"/>
              <a:t>Buyya</a:t>
            </a:r>
            <a:r>
              <a:rPr lang="en-US" dirty="0" smtClean="0"/>
              <a:t>, R. </a:t>
            </a:r>
            <a:r>
              <a:rPr lang="en-US" dirty="0" err="1" smtClean="0"/>
              <a:t>Ranjan</a:t>
            </a:r>
            <a:r>
              <a:rPr lang="en-US" dirty="0" smtClean="0"/>
              <a:t>, and R. N. </a:t>
            </a:r>
            <a:r>
              <a:rPr lang="en-US" dirty="0" err="1" smtClean="0"/>
              <a:t>Calheiros</a:t>
            </a:r>
            <a:r>
              <a:rPr lang="en-US" dirty="0" smtClean="0"/>
              <a:t>, "</a:t>
            </a:r>
            <a:r>
              <a:rPr lang="en-US" dirty="0" err="1" smtClean="0"/>
              <a:t>CloudSim</a:t>
            </a:r>
            <a:r>
              <a:rPr lang="en-US" dirty="0" smtClean="0"/>
              <a:t>: A Toolkit for Modeling and Simulation of Cloud Computing Infrastructures and Services," Software: Practice and Experience, vol. 41, no. 1, pp. 23-50, 2011.[2] </a:t>
            </a:r>
            <a:r>
              <a:rPr lang="en-US" dirty="0" err="1" smtClean="0"/>
              <a:t>Cloudslab</a:t>
            </a:r>
            <a:r>
              <a:rPr lang="en-US" dirty="0" smtClean="0"/>
              <a:t>, "</a:t>
            </a:r>
            <a:r>
              <a:rPr lang="en-US" dirty="0" err="1" smtClean="0"/>
              <a:t>CloudSim</a:t>
            </a:r>
            <a:r>
              <a:rPr lang="en-US" dirty="0" smtClean="0"/>
              <a:t>: A Framework For Modeling And Simulation Of Cloud Computing Infrastructures And Services," GitHub Repository, 2026. [Online]. Available: https://github.com</a:t>
            </a:r>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9</a:t>
            </a:fld>
            <a:endParaRPr lang="en-US"/>
          </a:p>
        </p:txBody>
      </p:sp>
    </p:spTree>
    <p:extLst>
      <p:ext uri="{BB962C8B-B14F-4D97-AF65-F5344CB8AC3E}">
        <p14:creationId xmlns:p14="http://schemas.microsoft.com/office/powerpoint/2010/main" val="4249206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10</a:t>
            </a:fld>
            <a:endParaRPr lang="en-US"/>
          </a:p>
        </p:txBody>
      </p:sp>
    </p:spTree>
    <p:extLst>
      <p:ext uri="{BB962C8B-B14F-4D97-AF65-F5344CB8AC3E}">
        <p14:creationId xmlns:p14="http://schemas.microsoft.com/office/powerpoint/2010/main" val="3544923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11</a:t>
            </a:fld>
            <a:endParaRPr lang="en-US"/>
          </a:p>
        </p:txBody>
      </p:sp>
    </p:spTree>
    <p:extLst>
      <p:ext uri="{BB962C8B-B14F-4D97-AF65-F5344CB8AC3E}">
        <p14:creationId xmlns:p14="http://schemas.microsoft.com/office/powerpoint/2010/main" val="5236279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12</a:t>
            </a:fld>
            <a:endParaRPr lang="en-US"/>
          </a:p>
        </p:txBody>
      </p:sp>
    </p:spTree>
    <p:extLst>
      <p:ext uri="{BB962C8B-B14F-4D97-AF65-F5344CB8AC3E}">
        <p14:creationId xmlns:p14="http://schemas.microsoft.com/office/powerpoint/2010/main" val="15148176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13</a:t>
            </a:fld>
            <a:endParaRPr lang="en-US"/>
          </a:p>
        </p:txBody>
      </p:sp>
    </p:spTree>
    <p:extLst>
      <p:ext uri="{BB962C8B-B14F-4D97-AF65-F5344CB8AC3E}">
        <p14:creationId xmlns:p14="http://schemas.microsoft.com/office/powerpoint/2010/main" val="3463878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14</a:t>
            </a:fld>
            <a:endParaRPr lang="en-US"/>
          </a:p>
        </p:txBody>
      </p:sp>
    </p:spTree>
    <p:extLst>
      <p:ext uri="{BB962C8B-B14F-4D97-AF65-F5344CB8AC3E}">
        <p14:creationId xmlns:p14="http://schemas.microsoft.com/office/powerpoint/2010/main" val="1647209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15</a:t>
            </a:fld>
            <a:endParaRPr lang="en-US"/>
          </a:p>
        </p:txBody>
      </p:sp>
    </p:spTree>
    <p:extLst>
      <p:ext uri="{BB962C8B-B14F-4D97-AF65-F5344CB8AC3E}">
        <p14:creationId xmlns:p14="http://schemas.microsoft.com/office/powerpoint/2010/main" val="2686637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16</a:t>
            </a:fld>
            <a:endParaRPr lang="en-US"/>
          </a:p>
        </p:txBody>
      </p:sp>
    </p:spTree>
    <p:extLst>
      <p:ext uri="{BB962C8B-B14F-4D97-AF65-F5344CB8AC3E}">
        <p14:creationId xmlns:p14="http://schemas.microsoft.com/office/powerpoint/2010/main" val="4886137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17</a:t>
            </a:fld>
            <a:endParaRPr lang="en-US"/>
          </a:p>
        </p:txBody>
      </p:sp>
    </p:spTree>
    <p:extLst>
      <p:ext uri="{BB962C8B-B14F-4D97-AF65-F5344CB8AC3E}">
        <p14:creationId xmlns:p14="http://schemas.microsoft.com/office/powerpoint/2010/main" val="28839889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dirty="0" smtClean="0"/>
              <a:t>https://cloudsimplus.org/</a:t>
            </a:r>
          </a:p>
          <a:p>
            <a:r>
              <a:rPr lang="en-US" dirty="0" smtClean="0"/>
              <a:t>https://github.com/mayankrastogi/cloud-simulation</a:t>
            </a:r>
          </a:p>
          <a:p>
            <a:endParaRPr lang="en-US" dirty="0" smtClean="0"/>
          </a:p>
          <a:p>
            <a:r>
              <a:rPr lang="en-US" dirty="0" smtClean="0"/>
              <a:t>INFO  Statistics for DatacenterBrokerSimple18ResourceManager for iteration 1:</a:t>
            </a:r>
          </a:p>
          <a:p>
            <a:endParaRPr lang="en-US" dirty="0" smtClean="0"/>
          </a:p>
          <a:p>
            <a:r>
              <a:rPr lang="en-US" dirty="0" smtClean="0"/>
              <a:t>Cloud Architecture     : Cloud Architecture having 1 data center with 96 hosts using First-Fit VM allocation policy and Round-Robin load balancing of cloudlets</a:t>
            </a:r>
          </a:p>
          <a:p>
            <a:r>
              <a:rPr lang="en-US" dirty="0" smtClean="0"/>
              <a:t>Average Cloudlet Length: 69276569.00 MI</a:t>
            </a:r>
          </a:p>
          <a:p>
            <a:r>
              <a:rPr lang="en-US" dirty="0" smtClean="0"/>
              <a:t>Average Execution Time : 5218.95 seconds</a:t>
            </a:r>
          </a:p>
          <a:p>
            <a:r>
              <a:rPr lang="en-US" dirty="0" smtClean="0"/>
              <a:t>Average CPU Cost       : $ 52.19</a:t>
            </a:r>
          </a:p>
          <a:p>
            <a:r>
              <a:rPr lang="en-US" dirty="0" smtClean="0"/>
              <a:t>Average Bandwidth Cost : $ 0.10</a:t>
            </a:r>
          </a:p>
          <a:p>
            <a:r>
              <a:rPr lang="en-US" dirty="0" smtClean="0"/>
              <a:t>Average Total Cost     : $ 52.39</a:t>
            </a:r>
          </a:p>
          <a:p>
            <a:endParaRPr lang="en-US" dirty="0" smtClean="0"/>
          </a:p>
          <a:p>
            <a:endParaRPr lang="en-US" dirty="0" smtClean="0"/>
          </a:p>
          <a:p>
            <a:endParaRPr lang="en-US" dirty="0" smtClean="0"/>
          </a:p>
          <a:p>
            <a:r>
              <a:rPr lang="en-US" dirty="0" smtClean="0"/>
              <a:t>================== Simulation finished at time 5370.86 ==================</a:t>
            </a:r>
          </a:p>
          <a:p>
            <a:endParaRPr lang="en-US" dirty="0" smtClean="0"/>
          </a:p>
          <a:p>
            <a:r>
              <a:rPr lang="en-US" dirty="0" smtClean="0"/>
              <a:t>INFO  Simulation completed.</a:t>
            </a:r>
          </a:p>
          <a:p>
            <a:endParaRPr lang="en-US" dirty="0" smtClean="0"/>
          </a:p>
          <a:p>
            <a:endParaRPr lang="en-US" dirty="0" smtClean="0"/>
          </a:p>
          <a:p>
            <a:r>
              <a:rPr lang="en-US" dirty="0" smtClean="0"/>
              <a:t>                                      SIMULATION RESULTS: DatacenterBrokerSimple18ResourceManager</a:t>
            </a:r>
          </a:p>
          <a:p>
            <a:endParaRPr lang="en-US" dirty="0" smtClean="0"/>
          </a:p>
          <a:p>
            <a:r>
              <a:rPr lang="en-US" dirty="0" err="1" smtClean="0"/>
              <a:t>Cloudlet|Status</a:t>
            </a:r>
            <a:r>
              <a:rPr lang="en-US" dirty="0" smtClean="0"/>
              <a:t> |</a:t>
            </a:r>
            <a:r>
              <a:rPr lang="en-US" dirty="0" err="1" smtClean="0"/>
              <a:t>DC|Host|Host</a:t>
            </a:r>
            <a:r>
              <a:rPr lang="en-US" dirty="0" smtClean="0"/>
              <a:t> PEs |VM|VM PEs   |</a:t>
            </a:r>
            <a:r>
              <a:rPr lang="en-US" dirty="0" err="1" smtClean="0"/>
              <a:t>CloudletLen|CloudletPEs|StartTime|FinishTime|ExecTime|CPU</a:t>
            </a:r>
            <a:r>
              <a:rPr lang="en-US" dirty="0" smtClean="0"/>
              <a:t> </a:t>
            </a:r>
            <a:r>
              <a:rPr lang="en-US" dirty="0" err="1" smtClean="0"/>
              <a:t>Cost|Bandwidth</a:t>
            </a:r>
            <a:r>
              <a:rPr lang="en-US" dirty="0" smtClean="0"/>
              <a:t> </a:t>
            </a:r>
            <a:r>
              <a:rPr lang="en-US" dirty="0" err="1" smtClean="0"/>
              <a:t>Cost|Total</a:t>
            </a:r>
            <a:r>
              <a:rPr lang="en-US" dirty="0" smtClean="0"/>
              <a:t> Cost</a:t>
            </a:r>
          </a:p>
          <a:p>
            <a:r>
              <a:rPr lang="en-US" dirty="0" smtClean="0"/>
              <a:t>      ID|       |ID|  ID|CPU </a:t>
            </a:r>
            <a:r>
              <a:rPr lang="en-US" dirty="0" err="1" smtClean="0"/>
              <a:t>cores|ID|CPU</a:t>
            </a:r>
            <a:r>
              <a:rPr lang="en-US" dirty="0" smtClean="0"/>
              <a:t> cores|         MI|  CPU cores|  Seconds|   Seconds| Seconds|     USD|           USD|       USD</a:t>
            </a:r>
          </a:p>
          <a:p>
            <a:r>
              <a:rPr lang="en-US" dirty="0" smtClean="0"/>
              <a:t>----------------------------------------------------------------------------------------------------------------------------------------</a:t>
            </a:r>
          </a:p>
          <a:p>
            <a:r>
              <a:rPr lang="en-US" dirty="0" smtClean="0"/>
              <a:t>       0|SUCCESS| 1|   0|        4| 0|        2|   67108864|          2|        0|      4699|    4699| $ 46.99|        $ 0.10|   $ 47.19</a:t>
            </a:r>
          </a:p>
          <a:p>
            <a:r>
              <a:rPr lang="en-US" dirty="0" smtClean="0"/>
              <a:t>       4|SUCCESS| 1|   0|        4| 0|        2|   67108864|          2|        0|      4699|    4699| $ 46.99|        $ 0.10|   $ 47.19</a:t>
            </a:r>
          </a:p>
          <a:p>
            <a:r>
              <a:rPr lang="en-US" dirty="0" smtClean="0"/>
              <a:t>       8|SUCCESS| 1|   0|        4| 0|        2|   67108864|          2|        0|      4699|    4699| $ 46.99|        $ 0.10|   $ 47.19</a:t>
            </a:r>
          </a:p>
          <a:p>
            <a:r>
              <a:rPr lang="en-US" dirty="0" smtClean="0"/>
              <a:t>      12|SUCCESS| 1|   0|        4| 0|        2|   67108864|          2|        0|      4699|    4699| $ 46.99|        $ 0.10|   $ 47.19</a:t>
            </a:r>
          </a:p>
          <a:p>
            <a:r>
              <a:rPr lang="en-US" dirty="0" smtClean="0"/>
              <a:t>      50|SUCCESS| 1|   0|        4| 0|        2|       3000|          2|        0|      4699|    4700| $ 46.99|        $ 0.10|   $ 47.19</a:t>
            </a:r>
          </a:p>
          <a:p>
            <a:r>
              <a:rPr lang="en-US" dirty="0" smtClean="0"/>
              <a:t>      90|SUCCESS| 1|   0|        4| 0|        2|       3000|          2|        0|      4699|    4700| $ 46.99|        $ 0.10|   $ 47.19</a:t>
            </a:r>
          </a:p>
          <a:p>
            <a:r>
              <a:rPr lang="en-US" dirty="0" smtClean="0"/>
              <a:t>     130|SUCCESS| 1|   0|        4| 0|        2|       3000|          2|        0|      4699|    4700| $ 46.99|        $ 0.10|   $ 47.19</a:t>
            </a:r>
          </a:p>
          <a:p>
            <a:r>
              <a:rPr lang="en-US" dirty="0" smtClean="0"/>
              <a:t>       1|SUCCESS| 1|   0|        4| 1|        2|   67108864|          2|        0|      5371|    5371| $ 53.71|        $ 0.10|   $ 53.91</a:t>
            </a:r>
          </a:p>
          <a:p>
            <a:r>
              <a:rPr lang="en-US" dirty="0" smtClean="0"/>
              <a:t>       5|SUCCESS| 1|   0|        4| 1|        2|   67108864|          2|        0|      5371|    5371| $ 53.71|        $ 0.10|   $ 53.91</a:t>
            </a:r>
          </a:p>
          <a:p>
            <a:r>
              <a:rPr lang="en-US" dirty="0" smtClean="0"/>
              <a:t>       9|SUCCESS| 1|   0|        4| 1|        2|   67108864|          2|        0|      5371|    5371| $ 53.71|        $ 0.10|   $ 53.91</a:t>
            </a:r>
          </a:p>
          <a:p>
            <a:r>
              <a:rPr lang="en-US" dirty="0" smtClean="0"/>
              <a:t>      13|SUCCESS| 1|   0|        4| 1|        2|   67108864|          2|        0|      5371|    5371| $ 53.71|        $ 0.10|   $ 53.91</a:t>
            </a:r>
          </a:p>
          <a:p>
            <a:r>
              <a:rPr lang="en-US" dirty="0" smtClean="0"/>
              <a:t>       2|SUCCESS| 1|   1|        4| 2|        2|   67108864|          2|        0|      5371|    5371| $ 53.71|        $ 0.10|   $ 53.91</a:t>
            </a:r>
          </a:p>
          <a:p>
            <a:r>
              <a:rPr lang="en-US" dirty="0" smtClean="0"/>
              <a:t>       6|SUCCESS| 1|   1|        4| 2|        2|   67108864|          2|        0|      5371|    5371| $ 53.71|        $ 0.10|   $ 53.91</a:t>
            </a:r>
          </a:p>
          <a:p>
            <a:r>
              <a:rPr lang="en-US" dirty="0" smtClean="0"/>
              <a:t>      10|SUCCESS| 1|   1|        4| 2|        2|   67108864|          2|        0|      5371|    5371| $ 53.71|        $ 0.10|   $ 53.91</a:t>
            </a:r>
          </a:p>
          <a:p>
            <a:r>
              <a:rPr lang="en-US" dirty="0" smtClean="0"/>
              <a:t>      14|SUCCESS| 1|   1|        4| 2|        2|   67108864|          2|        0|      5371|    5371| $ 53.71|        $ 0.10|   $ 53.91</a:t>
            </a:r>
          </a:p>
          <a:p>
            <a:r>
              <a:rPr lang="en-US" dirty="0" smtClean="0"/>
              <a:t>       3|SUCCESS| 1|   1|        4| 3|        2|   67108864|          2|        0|      5371|    5371| $ 53.71|        $ 0.10|   $ 53.91</a:t>
            </a:r>
          </a:p>
          <a:p>
            <a:r>
              <a:rPr lang="en-US" dirty="0" smtClean="0"/>
              <a:t>       7|SUCCESS| 1|   1|        4| 3|        2|   67108864|          2|        0|      5371|    5371| $ 53.71|        $ 0.10|   $ 53.91</a:t>
            </a:r>
          </a:p>
          <a:p>
            <a:r>
              <a:rPr lang="en-US" dirty="0" smtClean="0"/>
              <a:t>      11|SUCCESS| 1|   1|        4| 3|        2|   67108864|          2|        0|      5371|    5371| $ 53.71|        $ 0.10|   $ 53.91</a:t>
            </a:r>
          </a:p>
          <a:p>
            <a:r>
              <a:rPr lang="en-US" dirty="0" smtClean="0"/>
              <a:t>      15|SUCCESS| 1|   1|        4| 3|        2|   67108864|          2|        0|      5371|    5371| $ 53.71|        $ 0.10|   $ 53.91</a:t>
            </a:r>
          </a:p>
          <a:p>
            <a:r>
              <a:rPr lang="en-US" dirty="0" smtClean="0"/>
              <a:t>      20|SUCCESS| 1|   0|        4| 1|        2|       3000|          2|        0|      5371|    5371| $ 53.71|        $ 0.10|   $ 53.91</a:t>
            </a:r>
          </a:p>
          <a:p>
            <a:r>
              <a:rPr lang="en-US" dirty="0" smtClean="0"/>
              <a:t>      60|SUCCESS| 1|   0|        4| 1|        2|       3000|          2|        0|      5371|    5371| $ 53.71|        $ 0.10|   $ 53.91</a:t>
            </a:r>
          </a:p>
          <a:p>
            <a:r>
              <a:rPr lang="en-US" dirty="0" smtClean="0"/>
              <a:t>     100|SUCCESS| 1|   0|        4| 1|        2|       3000|          2|        0|      5371|    5371| $ 53.71|        $ 0.10|   $ 53.91</a:t>
            </a:r>
          </a:p>
          <a:p>
            <a:r>
              <a:rPr lang="en-US" dirty="0" smtClean="0"/>
              <a:t>     140|SUCCESS| 1|   0|        4| 1|        2|       3000|          2|        0|      5371|    5371| $ 53.71|        $ 0.10|   $ 53.91</a:t>
            </a:r>
          </a:p>
          <a:p>
            <a:r>
              <a:rPr lang="en-US" dirty="0" smtClean="0"/>
              <a:t>      30|SUCCESS| 1|   1|        4| 2|        2|       3000|          2|        0|      5371|    5371| $ 53.71|        $ 0.10|   $ 53.91</a:t>
            </a:r>
          </a:p>
          <a:p>
            <a:r>
              <a:rPr lang="en-US" dirty="0" smtClean="0"/>
              <a:t>      70|SUCCESS| 1|   1|        4| 2|        2|       3000|          2|        0|      5371|    5371| $ 53.71|        $ 0.10|   $ 53.91</a:t>
            </a:r>
          </a:p>
          <a:p>
            <a:r>
              <a:rPr lang="en-US" dirty="0" smtClean="0"/>
              <a:t>     110|SUCCESS| 1|   1|        4| 2|        2|       3000|          2|        0|      5371|    5371| $ 53.71|        $ 0.10|   $ 53.91</a:t>
            </a:r>
          </a:p>
          <a:p>
            <a:r>
              <a:rPr lang="en-US" dirty="0" smtClean="0"/>
              <a:t>     150|SUCCESS| 1|   1|        4| 2|        2|       3000|          2|        0|      5371|    5371| $ 53.71|        $ 0.10|   $ 53.91</a:t>
            </a:r>
          </a:p>
          <a:p>
            <a:r>
              <a:rPr lang="en-US" dirty="0" smtClean="0"/>
              <a:t>      40|SUCCESS| 1|   1|        4| 3|        2|       3000|          2|        0|      5371|    5371| $ 53.71|        $ 0.10|   $ 53.91</a:t>
            </a:r>
          </a:p>
          <a:p>
            <a:r>
              <a:rPr lang="en-US" dirty="0" smtClean="0"/>
              <a:t>      80|SUCCESS| 1|   1|        4| 3|        2|       3000|          2|        0|      5371|    5371| $ 53.71|        $ 0.10|   $ 53.91</a:t>
            </a:r>
          </a:p>
          <a:p>
            <a:r>
              <a:rPr lang="en-US" dirty="0" smtClean="0"/>
              <a:t>     120|SUCCESS| 1|   1|        4| 3|        2|       3000|          2|        0|      5371|    5371| $ 53.71|        $ 0.10|   $ 53.91</a:t>
            </a:r>
          </a:p>
          <a:p>
            <a:r>
              <a:rPr lang="en-US" dirty="0" smtClean="0"/>
              <a:t>     160|SUCCESS| 1|   1|        4| 3|        2|       3000|          2|        0|      5371|    5371| $ 53.71|        $ 0.10|   $ 53.91</a:t>
            </a:r>
          </a:p>
          <a:p>
            <a:r>
              <a:rPr lang="en-US" dirty="0" smtClean="0"/>
              <a:t>----------------------------------------------------------------------------------------------------------------------------------------</a:t>
            </a:r>
          </a:p>
          <a:p>
            <a:r>
              <a:rPr lang="en-US" dirty="0" smtClean="0"/>
              <a:t>INFO  Statistics for DatacenterBrokerSimple18ResourceManager for iteration 1:</a:t>
            </a:r>
          </a:p>
          <a:p>
            <a:endParaRPr lang="en-US" dirty="0" smtClean="0"/>
          </a:p>
          <a:p>
            <a:r>
              <a:rPr lang="en-US" dirty="0" smtClean="0"/>
              <a:t>Cloud Architecture     : Cloud Architecture having 1 data center with 96 hosts using First-Fit VM allocation policy and Round-Robin load balancing of cloudlets</a:t>
            </a:r>
          </a:p>
          <a:p>
            <a:r>
              <a:rPr lang="en-US" dirty="0" smtClean="0"/>
              <a:t>Average Cloudlet Length: 69276569.00 MI</a:t>
            </a:r>
          </a:p>
          <a:p>
            <a:r>
              <a:rPr lang="en-US" dirty="0" smtClean="0"/>
              <a:t>Average Execution Time : 5218.95 seconds</a:t>
            </a:r>
          </a:p>
          <a:p>
            <a:r>
              <a:rPr lang="en-US" dirty="0" smtClean="0"/>
              <a:t>Average CPU Cost       : $ 52.19</a:t>
            </a:r>
          </a:p>
          <a:p>
            <a:r>
              <a:rPr lang="en-US" dirty="0" smtClean="0"/>
              <a:t>Average Bandwidth Cost : $ 0.10</a:t>
            </a:r>
          </a:p>
          <a:p>
            <a:r>
              <a:rPr lang="en-US" dirty="0" smtClean="0"/>
              <a:t>Average Total Cost     : $ 52.39</a:t>
            </a:r>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18</a:t>
            </a:fld>
            <a:endParaRPr lang="en-US"/>
          </a:p>
        </p:txBody>
      </p:sp>
    </p:spTree>
    <p:extLst>
      <p:ext uri="{BB962C8B-B14F-4D97-AF65-F5344CB8AC3E}">
        <p14:creationId xmlns:p14="http://schemas.microsoft.com/office/powerpoint/2010/main" val="16818505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dirty="0" smtClean="0"/>
              <a:t>================== Simulation finished at time 5370.86 ==================</a:t>
            </a:r>
          </a:p>
          <a:p>
            <a:endParaRPr lang="en-US" dirty="0" smtClean="0"/>
          </a:p>
          <a:p>
            <a:r>
              <a:rPr lang="en-US" dirty="0" smtClean="0"/>
              <a:t>INFO  Simulation completed.</a:t>
            </a:r>
          </a:p>
          <a:p>
            <a:endParaRPr lang="en-US" dirty="0" smtClean="0"/>
          </a:p>
          <a:p>
            <a:endParaRPr lang="en-US" dirty="0" smtClean="0"/>
          </a:p>
          <a:p>
            <a:r>
              <a:rPr lang="en-US" dirty="0" smtClean="0"/>
              <a:t>                                      SIMULATION RESULTS: DatacenterBrokerSimple18ResourceManager</a:t>
            </a:r>
          </a:p>
          <a:p>
            <a:endParaRPr lang="en-US" dirty="0" smtClean="0"/>
          </a:p>
          <a:p>
            <a:r>
              <a:rPr lang="en-US" dirty="0" err="1" smtClean="0"/>
              <a:t>Cloudlet|Status</a:t>
            </a:r>
            <a:r>
              <a:rPr lang="en-US" dirty="0" smtClean="0"/>
              <a:t> |</a:t>
            </a:r>
            <a:r>
              <a:rPr lang="en-US" dirty="0" err="1" smtClean="0"/>
              <a:t>DC|Host|Host</a:t>
            </a:r>
            <a:r>
              <a:rPr lang="en-US" dirty="0" smtClean="0"/>
              <a:t> PEs |VM|VM PEs   |</a:t>
            </a:r>
            <a:r>
              <a:rPr lang="en-US" dirty="0" err="1" smtClean="0"/>
              <a:t>CloudletLen|CloudletPEs|StartTime|FinishTime|ExecTime|CPU</a:t>
            </a:r>
            <a:r>
              <a:rPr lang="en-US" dirty="0" smtClean="0"/>
              <a:t> </a:t>
            </a:r>
            <a:r>
              <a:rPr lang="en-US" dirty="0" err="1" smtClean="0"/>
              <a:t>Cost|Bandwidth</a:t>
            </a:r>
            <a:r>
              <a:rPr lang="en-US" dirty="0" smtClean="0"/>
              <a:t> </a:t>
            </a:r>
            <a:r>
              <a:rPr lang="en-US" dirty="0" err="1" smtClean="0"/>
              <a:t>Cost|Total</a:t>
            </a:r>
            <a:r>
              <a:rPr lang="en-US" dirty="0" smtClean="0"/>
              <a:t> Cost</a:t>
            </a:r>
          </a:p>
          <a:p>
            <a:r>
              <a:rPr lang="en-US" dirty="0" smtClean="0"/>
              <a:t>      ID|       |ID|  ID|CPU </a:t>
            </a:r>
            <a:r>
              <a:rPr lang="en-US" dirty="0" err="1" smtClean="0"/>
              <a:t>cores|ID|CPU</a:t>
            </a:r>
            <a:r>
              <a:rPr lang="en-US" dirty="0" smtClean="0"/>
              <a:t> cores|         MI|  CPU cores|  Seconds|   Seconds| Seconds|     USD|           USD|       USD</a:t>
            </a:r>
          </a:p>
          <a:p>
            <a:r>
              <a:rPr lang="en-US" dirty="0" smtClean="0"/>
              <a:t>----------------------------------------------------------------------------------------------------------------------------------------</a:t>
            </a:r>
          </a:p>
          <a:p>
            <a:r>
              <a:rPr lang="en-US" dirty="0" smtClean="0"/>
              <a:t>       0|SUCCESS| 1|   0|        4| 0|        2|   67108864|          2|        0|      4699|    4699| $ 46.99|        $ 0.10|   $ 47.19</a:t>
            </a:r>
          </a:p>
          <a:p>
            <a:r>
              <a:rPr lang="en-US" dirty="0" smtClean="0"/>
              <a:t>       4|SUCCESS| 1|   0|        4| 0|        2|   67108864|          2|        0|      4699|    4699| $ 46.99|        $ 0.10|   $ 47.19</a:t>
            </a:r>
          </a:p>
          <a:p>
            <a:r>
              <a:rPr lang="en-US" dirty="0" smtClean="0"/>
              <a:t>       8|SUCCESS| 1|   0|        4| 0|        2|   67108864|          2|        0|      4699|    4699| $ 46.99|        $ 0.10|   $ 47.19</a:t>
            </a:r>
          </a:p>
          <a:p>
            <a:r>
              <a:rPr lang="en-US" dirty="0" smtClean="0"/>
              <a:t>      12|SUCCESS| 1|   0|        4| 0|        2|   67108864|          2|        0|      4699|    4699| $ 46.99|        $ 0.10|   $ 47.19</a:t>
            </a:r>
          </a:p>
          <a:p>
            <a:r>
              <a:rPr lang="en-US" dirty="0" smtClean="0"/>
              <a:t>      50|SUCCESS| 1|   0|        4| 0|        2|       3000|          2|        0|      4699|    4700| $ 46.99|        $ 0.10|   $ 47.19</a:t>
            </a:r>
          </a:p>
          <a:p>
            <a:r>
              <a:rPr lang="en-US" dirty="0" smtClean="0"/>
              <a:t>      90|SUCCESS| 1|   0|        4| 0|        2|       3000|          2|        0|      4699|    4700| $ 46.99|        $ 0.10|   $ 47.19</a:t>
            </a:r>
          </a:p>
          <a:p>
            <a:r>
              <a:rPr lang="en-US" dirty="0" smtClean="0"/>
              <a:t>     130|SUCCESS| 1|   0|        4| 0|        2|       3000|          2|        0|      4699|    4700| $ 46.99|        $ 0.10|   $ 47.19</a:t>
            </a:r>
          </a:p>
          <a:p>
            <a:r>
              <a:rPr lang="en-US" dirty="0" smtClean="0"/>
              <a:t>       1|SUCCESS| 1|   0|        4| 1|        2|   67108864|          2|        0|      5371|    5371| $ 53.71|        $ 0.10|   $ 53.91</a:t>
            </a:r>
          </a:p>
          <a:p>
            <a:r>
              <a:rPr lang="en-US" dirty="0" smtClean="0"/>
              <a:t>       5|SUCCESS| 1|   0|        4| 1|        2|   67108864|          2|        0|      5371|    5371| $ 53.71|        $ 0.10|   $ 53.91</a:t>
            </a:r>
          </a:p>
          <a:p>
            <a:r>
              <a:rPr lang="en-US" dirty="0" smtClean="0"/>
              <a:t>       9|SUCCESS| 1|   0|        4| 1|        2|   67108864|          2|        0|      5371|    5371| $ 53.71|        $ 0.10|   $ 53.91</a:t>
            </a:r>
          </a:p>
          <a:p>
            <a:r>
              <a:rPr lang="en-US" dirty="0" smtClean="0"/>
              <a:t>      13|SUCCESS| 1|   0|        4| 1|        2|   67108864|          2|        0|      5371|    5371| $ 53.71|        $ 0.10|   $ 53.91</a:t>
            </a:r>
          </a:p>
          <a:p>
            <a:r>
              <a:rPr lang="en-US" dirty="0" smtClean="0"/>
              <a:t>       2|SUCCESS| 1|   1|        4| 2|        2|   67108864|          2|        0|      5371|    5371| $ 53.71|        $ 0.10|   $ 53.91</a:t>
            </a:r>
          </a:p>
          <a:p>
            <a:r>
              <a:rPr lang="en-US" dirty="0" smtClean="0"/>
              <a:t>       6|SUCCESS| 1|   1|        4| 2|        2|   67108864|          2|        0|      5371|    5371| $ 53.71|        $ 0.10|   $ 53.91</a:t>
            </a:r>
          </a:p>
          <a:p>
            <a:r>
              <a:rPr lang="en-US" dirty="0" smtClean="0"/>
              <a:t>      10|SUCCESS| 1|   1|        4| 2|        2|   67108864|          2|        0|      5371|    5371| $ 53.71|        $ 0.10|   $ 53.91</a:t>
            </a:r>
          </a:p>
          <a:p>
            <a:r>
              <a:rPr lang="en-US" dirty="0" smtClean="0"/>
              <a:t>      14|SUCCESS| 1|   1|        4| 2|        2|   67108864|          2|        0|      5371|    5371| $ 53.71|        $ 0.10|   $ 53.91</a:t>
            </a:r>
          </a:p>
          <a:p>
            <a:r>
              <a:rPr lang="en-US" dirty="0" smtClean="0"/>
              <a:t>       3|SUCCESS| 1|   1|        4| 3|        2|   67108864|          2|        0|      5371|    5371| $ 53.71|        $ 0.10|   $ 53.91</a:t>
            </a:r>
          </a:p>
          <a:p>
            <a:r>
              <a:rPr lang="en-US" dirty="0" smtClean="0"/>
              <a:t>       7|SUCCESS| 1|   1|        4| 3|        2|   67108864|          2|        0|      5371|    5371| $ 53.71|        $ 0.10|   $ 53.91</a:t>
            </a:r>
          </a:p>
          <a:p>
            <a:r>
              <a:rPr lang="en-US" dirty="0" smtClean="0"/>
              <a:t>      11|SUCCESS| 1|   1|        4| 3|        2|   67108864|          2|        0|      5371|    5371| $ 53.71|        $ 0.10|   $ 53.91</a:t>
            </a:r>
          </a:p>
          <a:p>
            <a:r>
              <a:rPr lang="en-US" dirty="0" smtClean="0"/>
              <a:t>      15|SUCCESS| 1|   1|        4| 3|        2|   67108864|          2|        0|      5371|    5371| $ 53.71|        $ 0.10|   $ 53.91</a:t>
            </a:r>
          </a:p>
          <a:p>
            <a:r>
              <a:rPr lang="en-US" dirty="0" smtClean="0"/>
              <a:t>      20|SUCCESS| 1|   0|        4| 1|        2|       3000|          2|        0|      5371|    5371| $ 53.71|        $ 0.10|   $ 53.91</a:t>
            </a:r>
          </a:p>
          <a:p>
            <a:r>
              <a:rPr lang="en-US" dirty="0" smtClean="0"/>
              <a:t>      60|SUCCESS| 1|   0|        4| 1|        2|       3000|          2|        0|      5371|    5371| $ 53.71|        $ 0.10|   $ 53.91</a:t>
            </a:r>
          </a:p>
          <a:p>
            <a:r>
              <a:rPr lang="en-US" dirty="0" smtClean="0"/>
              <a:t>     100|SUCCESS| 1|   0|        4| 1|        2|       3000|          2|        0|      5371|    5371| $ 53.71|        $ 0.10|   $ 53.91</a:t>
            </a:r>
          </a:p>
          <a:p>
            <a:r>
              <a:rPr lang="en-US" dirty="0" smtClean="0"/>
              <a:t>     140|SUCCESS| 1|   0|        4| 1|        2|       3000|          2|        0|      5371|    5371| $ 53.71|        $ 0.10|   $ 53.91</a:t>
            </a:r>
          </a:p>
          <a:p>
            <a:r>
              <a:rPr lang="en-US" dirty="0" smtClean="0"/>
              <a:t>      30|SUCCESS| 1|   1|        4| 2|        2|       3000|          2|        0|      5371|    5371| $ 53.71|        $ 0.10|   $ 53.91</a:t>
            </a:r>
          </a:p>
          <a:p>
            <a:r>
              <a:rPr lang="en-US" dirty="0" smtClean="0"/>
              <a:t>      70|SUCCESS| 1|   1|        4| 2|        2|       3000|          2|        0|      5371|    5371| $ 53.71|        $ 0.10|   $ 53.91</a:t>
            </a:r>
          </a:p>
          <a:p>
            <a:r>
              <a:rPr lang="en-US" dirty="0" smtClean="0"/>
              <a:t>     110|SUCCESS| 1|   1|        4| 2|        2|       3000|          2|        0|      5371|    5371| $ 53.71|        $ 0.10|   $ 53.91</a:t>
            </a:r>
          </a:p>
          <a:p>
            <a:r>
              <a:rPr lang="en-US" dirty="0" smtClean="0"/>
              <a:t>     150|SUCCESS| 1|   1|        4| 2|        2|       3000|          2|        0|      5371|    5371| $ 53.71|        $ 0.10|   $ 53.91</a:t>
            </a:r>
          </a:p>
          <a:p>
            <a:r>
              <a:rPr lang="en-US" dirty="0" smtClean="0"/>
              <a:t>      40|SUCCESS| 1|   1|        4| 3|        2|       3000|          2|        0|      5371|    5371| $ 53.71|        $ 0.10|   $ 53.91</a:t>
            </a:r>
          </a:p>
          <a:p>
            <a:r>
              <a:rPr lang="en-US" dirty="0" smtClean="0"/>
              <a:t>      80|SUCCESS| 1|   1|        4| 3|        2|       3000|          2|        0|      5371|    5371| $ 53.71|        $ 0.10|   $ 53.91</a:t>
            </a:r>
          </a:p>
          <a:p>
            <a:r>
              <a:rPr lang="en-US" dirty="0" smtClean="0"/>
              <a:t>     120|SUCCESS| 1|   1|        4| 3|        2|       3000|          2|        0|      5371|    5371| $ 53.71|        $ 0.10|   $ 53.91</a:t>
            </a:r>
          </a:p>
          <a:p>
            <a:r>
              <a:rPr lang="en-US" dirty="0" smtClean="0"/>
              <a:t>     160|SUCCESS| 1|   1|        4| 3|        2|       3000|          2|        0|      5371|    5371| $ 53.71|        $ 0.10|   $ 53.91</a:t>
            </a:r>
          </a:p>
          <a:p>
            <a:r>
              <a:rPr lang="en-US" dirty="0" smtClean="0"/>
              <a:t>----------------------------------------------------------------------------------------------------------------------------------------</a:t>
            </a:r>
          </a:p>
          <a:p>
            <a:r>
              <a:rPr lang="en-US" dirty="0" smtClean="0"/>
              <a:t>INFO  Statistics for DatacenterBrokerSimple18ResourceManager for iteration 5:</a:t>
            </a:r>
          </a:p>
          <a:p>
            <a:endParaRPr lang="en-US" dirty="0" smtClean="0"/>
          </a:p>
          <a:p>
            <a:r>
              <a:rPr lang="en-US" dirty="0" smtClean="0"/>
              <a:t>Cloud Architecture     : Cloud Architecture having 1 data center with 96 hosts using 'Nearest Host' VM allocation policy and Round-Robin load balancing of cloudlets</a:t>
            </a:r>
          </a:p>
          <a:p>
            <a:r>
              <a:rPr lang="en-US" dirty="0" smtClean="0"/>
              <a:t>Average Cloudlet Length: 69276569.00 MI</a:t>
            </a:r>
          </a:p>
          <a:p>
            <a:r>
              <a:rPr lang="en-US" dirty="0" smtClean="0"/>
              <a:t>Average Execution Time : 5218.95 seconds</a:t>
            </a:r>
          </a:p>
          <a:p>
            <a:r>
              <a:rPr lang="en-US" dirty="0" smtClean="0"/>
              <a:t>Average CPU Cost       : $ 52.19</a:t>
            </a:r>
          </a:p>
          <a:p>
            <a:r>
              <a:rPr lang="en-US" dirty="0" smtClean="0"/>
              <a:t>Average Bandwidth Cost : $ 0.10</a:t>
            </a:r>
          </a:p>
          <a:p>
            <a:r>
              <a:rPr lang="en-US" dirty="0" smtClean="0"/>
              <a:t>Average Total Cost     : $ 52.39</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https://cloudsimplus.org/</a:t>
            </a:r>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19</a:t>
            </a:fld>
            <a:endParaRPr lang="en-US"/>
          </a:p>
        </p:txBody>
      </p:sp>
    </p:spTree>
    <p:extLst>
      <p:ext uri="{BB962C8B-B14F-4D97-AF65-F5344CB8AC3E}">
        <p14:creationId xmlns:p14="http://schemas.microsoft.com/office/powerpoint/2010/main" val="35719158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20</a:t>
            </a:fld>
            <a:endParaRPr lang="en-US"/>
          </a:p>
        </p:txBody>
      </p:sp>
    </p:spTree>
    <p:extLst>
      <p:ext uri="{BB962C8B-B14F-4D97-AF65-F5344CB8AC3E}">
        <p14:creationId xmlns:p14="http://schemas.microsoft.com/office/powerpoint/2010/main" val="9704427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0181" y="1905002"/>
            <a:ext cx="10242551" cy="1523495"/>
          </a:xfrm>
        </p:spPr>
        <p:txBody>
          <a:bodyPr>
            <a:noAutofit/>
          </a:bodyPr>
          <a:lstStyle>
            <a:lvl1pPr>
              <a:lnSpc>
                <a:spcPct val="90000"/>
              </a:lnSpc>
              <a:defRPr sz="4400" b="1"/>
            </a:lvl1pPr>
          </a:lstStyle>
          <a:p>
            <a:r>
              <a:rPr lang="en-US" smtClean="0"/>
              <a:t>Click to edit Master title style</a:t>
            </a:r>
            <a:endParaRPr lang="en-US" dirty="0"/>
          </a:p>
        </p:txBody>
      </p:sp>
      <p:sp>
        <p:nvSpPr>
          <p:cNvPr id="3" name="Subtitle 2"/>
          <p:cNvSpPr>
            <a:spLocks noGrp="1"/>
          </p:cNvSpPr>
          <p:nvPr>
            <p:ph type="subTitle" idx="1" hasCustomPrompt="1"/>
          </p:nvPr>
        </p:nvSpPr>
        <p:spPr>
          <a:xfrm>
            <a:off x="6594606" y="4038600"/>
            <a:ext cx="4608125" cy="914400"/>
          </a:xfrm>
        </p:spPr>
        <p:txBody>
          <a:bodyPr>
            <a:noAutofit/>
          </a:bodyPr>
          <a:lstStyle>
            <a:lvl1pPr marL="457200" indent="-457200" algn="l">
              <a:lnSpc>
                <a:spcPct val="75000"/>
              </a:lnSpc>
              <a:spcBef>
                <a:spcPts val="0"/>
              </a:spcBef>
              <a:spcAft>
                <a:spcPts val="0"/>
              </a:spcAft>
              <a:buNone/>
              <a:tabLst>
                <a:tab pos="457200" algn="l"/>
              </a:tabLst>
              <a:defRPr sz="3000">
                <a:solidFill>
                  <a:schemeClr val="tx1">
                    <a:tint val="75000"/>
                  </a:schemeClr>
                </a:solidFill>
                <a:sym typeface="Wingding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smtClean="0"/>
              <a:t>	Click to edit Master subtitle style</a:t>
            </a:r>
            <a:endParaRPr lang="en-US" dirty="0"/>
          </a:p>
        </p:txBody>
      </p:sp>
      <p:sp>
        <p:nvSpPr>
          <p:cNvPr id="7" name="Text Placeholder 6"/>
          <p:cNvSpPr>
            <a:spLocks noGrp="1"/>
          </p:cNvSpPr>
          <p:nvPr>
            <p:ph type="body" sz="quarter" idx="10" hasCustomPrompt="1"/>
          </p:nvPr>
        </p:nvSpPr>
        <p:spPr>
          <a:xfrm>
            <a:off x="6594606" y="5486400"/>
            <a:ext cx="4608125" cy="838200"/>
          </a:xfrm>
        </p:spPr>
        <p:txBody>
          <a:bodyPr vert="horz" wrap="square" lIns="0" tIns="0" rIns="0" bIns="0" rtlCol="0">
            <a:noAutofit/>
          </a:bodyPr>
          <a:lstStyle>
            <a:lvl1pPr marL="457200" indent="-457200" algn="l" defTabSz="914363" rtl="0" eaLnBrk="1" latinLnBrk="0" hangingPunct="1">
              <a:lnSpc>
                <a:spcPct val="75000"/>
              </a:lnSpc>
              <a:spcBef>
                <a:spcPts val="0"/>
              </a:spcBef>
              <a:spcAft>
                <a:spcPts val="0"/>
              </a:spcAft>
              <a:buFont typeface="Arial" pitchFamily="34" charset="0"/>
              <a:buNone/>
              <a:tabLst>
                <a:tab pos="457200" algn="l"/>
              </a:tabLst>
              <a:defRPr lang="en-US" sz="3000" kern="1200" dirty="0">
                <a:solidFill>
                  <a:schemeClr val="tx1">
                    <a:tint val="75000"/>
                  </a:schemeClr>
                </a:solidFill>
                <a:latin typeface="+mn-lt"/>
                <a:ea typeface="+mn-ea"/>
                <a:cs typeface="+mn-cs"/>
                <a:sym typeface="Wingdings"/>
              </a:defRPr>
            </a:lvl1pPr>
          </a:lstStyle>
          <a:p>
            <a:r>
              <a:rPr lang="en-US" dirty="0" smtClean="0"/>
              <a:t>	Click to edit Master subtitle style</a:t>
            </a:r>
            <a:endParaRPr lang="en-US"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mo, Partner and Customer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594606" y="4038600"/>
            <a:ext cx="4608125" cy="914400"/>
          </a:xfrm>
        </p:spPr>
        <p:txBody>
          <a:bodyPr anchor="t" anchorCtr="0">
            <a:noAutofit/>
          </a:bodyPr>
          <a:lstStyle>
            <a:lvl1pPr>
              <a:lnSpc>
                <a:spcPct val="78000"/>
              </a:lnSpc>
              <a:spcBef>
                <a:spcPts val="0"/>
              </a:spcBef>
              <a:spcAft>
                <a:spcPts val="0"/>
              </a:spcAft>
              <a:defRPr sz="3600"/>
            </a:lvl1pPr>
          </a:lstStyle>
          <a:p>
            <a:r>
              <a:rPr lang="en-US" smtClean="0"/>
              <a:t>Click to edit Master title style</a:t>
            </a:r>
            <a:endParaRPr lang="en-US" dirty="0"/>
          </a:p>
        </p:txBody>
      </p:sp>
      <p:sp>
        <p:nvSpPr>
          <p:cNvPr id="3" name="Subtitle 2"/>
          <p:cNvSpPr>
            <a:spLocks noGrp="1"/>
          </p:cNvSpPr>
          <p:nvPr>
            <p:ph type="subTitle" idx="1" hasCustomPrompt="1"/>
          </p:nvPr>
        </p:nvSpPr>
        <p:spPr>
          <a:xfrm>
            <a:off x="6594606" y="5334002"/>
            <a:ext cx="4608125" cy="1066799"/>
          </a:xfrm>
        </p:spPr>
        <p:txBody>
          <a:bodyPr>
            <a:noAutofit/>
          </a:bodyPr>
          <a:lstStyle>
            <a:lvl1pPr marL="457200" indent="-457200" algn="l">
              <a:lnSpc>
                <a:spcPct val="78000"/>
              </a:lnSpc>
              <a:spcBef>
                <a:spcPts val="0"/>
              </a:spcBef>
              <a:spcAft>
                <a:spcPts val="0"/>
              </a:spcAft>
              <a:buNone/>
              <a:tabLst>
                <a:tab pos="457200" algn="l"/>
              </a:tabLst>
              <a:defRPr sz="3000">
                <a:solidFill>
                  <a:schemeClr val="tx1">
                    <a:tint val="75000"/>
                  </a:schemeClr>
                </a:solidFill>
                <a:sym typeface="Wingding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smtClean="0"/>
              <a:t>	Presenter Name</a:t>
            </a:r>
          </a:p>
          <a:p>
            <a:r>
              <a:rPr lang="en-US" sz="2400" dirty="0" smtClean="0"/>
              <a:t>	Title</a:t>
            </a:r>
          </a:p>
          <a:p>
            <a:r>
              <a:rPr lang="en-US" sz="2400" dirty="0" smtClean="0"/>
              <a:t>	Group</a:t>
            </a:r>
            <a:endParaRPr lang="en-US" sz="2400" dirty="0"/>
          </a:p>
        </p:txBody>
      </p:sp>
      <p:sp>
        <p:nvSpPr>
          <p:cNvPr id="7" name="Text Placeholder 6"/>
          <p:cNvSpPr>
            <a:spLocks noGrp="1"/>
          </p:cNvSpPr>
          <p:nvPr>
            <p:ph type="body" sz="quarter" idx="10" hasCustomPrompt="1"/>
          </p:nvPr>
        </p:nvSpPr>
        <p:spPr>
          <a:xfrm>
            <a:off x="973393" y="1905000"/>
            <a:ext cx="10242825" cy="1384994"/>
          </a:xfrm>
        </p:spPr>
        <p:txBody>
          <a:bodyPr vert="horz" wrap="square" lIns="0" tIns="0" rIns="0" bIns="0" rtlCol="0" anchor="t" anchorCtr="0">
            <a:noAutofit/>
            <a:scene3d>
              <a:camera prst="orthographicFront"/>
              <a:lightRig rig="flat" dir="t"/>
            </a:scene3d>
            <a:sp3d>
              <a:contourClr>
                <a:srgbClr val="F4A234"/>
              </a:contourClr>
            </a:sp3d>
          </a:bodyPr>
          <a:lstStyle>
            <a:lvl1pPr marL="0" indent="0" algn="l">
              <a:buFont typeface="Arial" pitchFamily="34" charset="0"/>
              <a:buNone/>
              <a:defRPr kumimoji="0" lang="en-US" sz="10000" b="0" i="0" u="none" strike="noStrike" kern="1200" cap="none" spc="-642" normalizeH="0" baseline="0" noProof="0" dirty="0" smtClean="0">
                <a:ln w="11430"/>
                <a:gradFill>
                  <a:gsLst>
                    <a:gs pos="62000">
                      <a:schemeClr val="tx1"/>
                    </a:gs>
                    <a:gs pos="88000">
                      <a:schemeClr val="tx1"/>
                    </a:gs>
                  </a:gsLst>
                  <a:lin ang="5400000"/>
                </a:gradFill>
                <a:effectLst/>
                <a:uLnTx/>
                <a:uFillTx/>
                <a:latin typeface="Calibri" pitchFamily="34" charset="0"/>
                <a:ea typeface="+mn-ea"/>
                <a:cs typeface="+mn-cs"/>
              </a:defRPr>
            </a:lvl1pPr>
          </a:lstStyle>
          <a:p>
            <a:pPr marL="0" lvl="0" indent="0" algn="l" defTabSz="914363" rtl="0" eaLnBrk="1" latinLnBrk="0" hangingPunct="1">
              <a:lnSpc>
                <a:spcPct val="78000"/>
              </a:lnSpc>
              <a:spcBef>
                <a:spcPct val="20000"/>
              </a:spcBef>
              <a:spcAft>
                <a:spcPts val="800"/>
              </a:spcAft>
              <a:buFont typeface="Arial" pitchFamily="34" charset="0"/>
              <a:buNone/>
            </a:pPr>
            <a:r>
              <a:rPr lang="en-US" dirty="0" smtClean="0"/>
              <a:t>click to…</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ideo and Announcing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594606" y="4038600"/>
            <a:ext cx="4608125" cy="914400"/>
          </a:xfrm>
        </p:spPr>
        <p:txBody>
          <a:bodyPr anchor="t" anchorCtr="0">
            <a:noAutofit/>
          </a:bodyPr>
          <a:lstStyle>
            <a:lvl1pPr>
              <a:lnSpc>
                <a:spcPct val="78000"/>
              </a:lnSpc>
              <a:spcBef>
                <a:spcPts val="0"/>
              </a:spcBef>
              <a:spcAft>
                <a:spcPts val="0"/>
              </a:spcAft>
              <a:defRPr sz="3600"/>
            </a:lvl1pPr>
          </a:lstStyle>
          <a:p>
            <a:r>
              <a:rPr lang="en-US" smtClean="0"/>
              <a:t>Click to edit Master title style</a:t>
            </a:r>
            <a:endParaRPr lang="en-US" dirty="0"/>
          </a:p>
        </p:txBody>
      </p:sp>
      <p:sp>
        <p:nvSpPr>
          <p:cNvPr id="7" name="Text Placeholder 6"/>
          <p:cNvSpPr>
            <a:spLocks noGrp="1"/>
          </p:cNvSpPr>
          <p:nvPr>
            <p:ph type="body" sz="quarter" idx="10" hasCustomPrompt="1"/>
          </p:nvPr>
        </p:nvSpPr>
        <p:spPr>
          <a:xfrm>
            <a:off x="973393" y="1905000"/>
            <a:ext cx="10242825" cy="1384994"/>
          </a:xfrm>
        </p:spPr>
        <p:txBody>
          <a:bodyPr anchor="t" anchorCtr="0">
            <a:noAutofit/>
            <a:scene3d>
              <a:camera prst="orthographicFront"/>
              <a:lightRig rig="flat" dir="t"/>
            </a:scene3d>
            <a:sp3d>
              <a:contourClr>
                <a:srgbClr val="F4A234"/>
              </a:contourClr>
            </a:sp3d>
          </a:bodyPr>
          <a:lstStyle>
            <a:lvl1pPr marL="0" indent="0" algn="l">
              <a:buFont typeface="Arial" pitchFamily="34" charset="0"/>
              <a:buNone/>
              <a:defRPr kumimoji="0" lang="en-US" sz="10000" b="0" i="0" u="none" strike="noStrike" kern="1200" cap="none" spc="-642" normalizeH="0" baseline="0" noProof="0" dirty="0" smtClean="0">
                <a:ln w="11430"/>
                <a:gradFill>
                  <a:gsLst>
                    <a:gs pos="62000">
                      <a:schemeClr val="tx1"/>
                    </a:gs>
                    <a:gs pos="88000">
                      <a:schemeClr val="tx1"/>
                    </a:gs>
                  </a:gsLst>
                  <a:lin ang="5400000"/>
                </a:gradFill>
                <a:effectLst/>
                <a:uLnTx/>
                <a:uFillTx/>
                <a:latin typeface="Calibri" pitchFamily="34" charset="0"/>
                <a:ea typeface="+mn-ea"/>
                <a:cs typeface="+mn-cs"/>
              </a:defRPr>
            </a:lvl1pPr>
          </a:lstStyle>
          <a:p>
            <a:pPr lvl="0"/>
            <a:r>
              <a:rPr lang="en-US" dirty="0" smtClean="0"/>
              <a:t>click to…</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973393" y="1411552"/>
            <a:ext cx="10229337" cy="2053960"/>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itle Placeholder 1"/>
          <p:cNvSpPr>
            <a:spLocks noGrp="1"/>
          </p:cNvSpPr>
          <p:nvPr>
            <p:ph type="title"/>
          </p:nvPr>
        </p:nvSpPr>
        <p:spPr>
          <a:xfrm>
            <a:off x="516072" y="152400"/>
            <a:ext cx="11167928" cy="553998"/>
          </a:xfrm>
          <a:prstGeom prst="rect">
            <a:avLst/>
          </a:prstGeom>
        </p:spPr>
        <p:txBody>
          <a:bodyPr vert="horz" wrap="square" lIns="0" tIns="0" rIns="0" bIns="0" rtlCol="0" anchor="t">
            <a:spAutoFit/>
          </a:bodyPr>
          <a:lstStyle>
            <a:lvl1pPr>
              <a:defRPr/>
            </a:lvl1pPr>
          </a:lstStyle>
          <a:p>
            <a:r>
              <a:rPr lang="en-US" smtClean="0"/>
              <a:t>Click to edit Master title style</a:t>
            </a:r>
            <a:endParaRPr lang="en-US" dirty="0"/>
          </a:p>
        </p:txBody>
      </p:sp>
    </p:spTree>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UTURE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Use this Slide for FUTURE Content</a:t>
            </a:r>
            <a:endParaRPr lang="en-US" dirty="0"/>
          </a:p>
        </p:txBody>
      </p:sp>
      <p:sp>
        <p:nvSpPr>
          <p:cNvPr id="6" name="Text Placeholder 5"/>
          <p:cNvSpPr>
            <a:spLocks noGrp="1"/>
          </p:cNvSpPr>
          <p:nvPr>
            <p:ph type="body" sz="quarter" idx="10"/>
          </p:nvPr>
        </p:nvSpPr>
        <p:spPr>
          <a:xfrm>
            <a:off x="973392" y="1411554"/>
            <a:ext cx="10229339" cy="1994841"/>
          </a:xfrm>
        </p:spPr>
        <p:txBody>
          <a:bodyPr/>
          <a:lstStyle>
            <a:lvl1pPr>
              <a:lnSpc>
                <a:spcPct val="78000"/>
              </a:lnSpc>
              <a:defRPr/>
            </a:lvl1pPr>
            <a:lvl2pPr>
              <a:lnSpc>
                <a:spcPct val="78000"/>
              </a:lnSpc>
              <a:buClr>
                <a:srgbClr val="95E3E7"/>
              </a:buClr>
              <a:defRPr/>
            </a:lvl2pPr>
            <a:lvl3pPr>
              <a:lnSpc>
                <a:spcPct val="78000"/>
              </a:lnSpc>
              <a:buClr>
                <a:srgbClr val="95E3E7"/>
              </a:buClr>
              <a:defRPr/>
            </a:lvl3pPr>
            <a:lvl4pPr>
              <a:lnSpc>
                <a:spcPct val="78000"/>
              </a:lnSpc>
              <a:buClr>
                <a:srgbClr val="95E3E7"/>
              </a:buClr>
              <a:defRPr/>
            </a:lvl4pPr>
            <a:lvl5pPr>
              <a:lnSpc>
                <a:spcPct val="78000"/>
              </a:lnSpc>
              <a:buClr>
                <a:srgbClr val="95E3E7"/>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idx="1"/>
          </p:nvPr>
        </p:nvSpPr>
        <p:spPr>
          <a:xfrm>
            <a:off x="973392" y="1412876"/>
            <a:ext cx="10242043" cy="1994841"/>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sz="half" idx="1"/>
          </p:nvPr>
        </p:nvSpPr>
        <p:spPr>
          <a:xfrm>
            <a:off x="973394" y="1411554"/>
            <a:ext cx="4893948" cy="1645259"/>
          </a:xfrm>
        </p:spPr>
        <p:txBody>
          <a:bodyPr/>
          <a:lstStyle>
            <a:lvl1pPr marL="339976" indent="-339976">
              <a:lnSpc>
                <a:spcPct val="78000"/>
              </a:lnSpc>
              <a:defRPr sz="2800"/>
            </a:lvl1pPr>
            <a:lvl2pPr marL="673338" indent="-325424">
              <a:lnSpc>
                <a:spcPct val="78000"/>
              </a:lnSpc>
              <a:defRPr sz="2400"/>
            </a:lvl2pPr>
            <a:lvl3pPr marL="953785" indent="-288384">
              <a:lnSpc>
                <a:spcPct val="78000"/>
              </a:lnSpc>
              <a:defRPr sz="2000"/>
            </a:lvl3pPr>
            <a:lvl4pPr marL="1227618" indent="-273833">
              <a:lnSpc>
                <a:spcPct val="78000"/>
              </a:lnSpc>
              <a:defRPr sz="1800"/>
            </a:lvl4pPr>
            <a:lvl5pPr marL="1516002" indent="-280447">
              <a:lnSpc>
                <a:spcPct val="78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48440" y="1411554"/>
            <a:ext cx="4966995" cy="1645259"/>
          </a:xfrm>
        </p:spPr>
        <p:txBody>
          <a:bodyPr/>
          <a:lstStyle>
            <a:lvl1pPr marL="347914" indent="-347914">
              <a:lnSpc>
                <a:spcPct val="78000"/>
              </a:lnSpc>
              <a:defRPr sz="2800"/>
            </a:lvl1pPr>
            <a:lvl2pPr marL="673338" indent="-339976">
              <a:lnSpc>
                <a:spcPct val="78000"/>
              </a:lnSpc>
              <a:defRPr sz="2400"/>
            </a:lvl2pPr>
            <a:lvl3pPr marL="961722" indent="-302936">
              <a:lnSpc>
                <a:spcPct val="78000"/>
              </a:lnSpc>
              <a:defRPr sz="2000"/>
            </a:lvl3pPr>
            <a:lvl4pPr marL="1227618" indent="-265896">
              <a:lnSpc>
                <a:spcPct val="78000"/>
              </a:lnSpc>
              <a:defRPr sz="1800"/>
            </a:lvl4pPr>
            <a:lvl5pPr marL="1516002" indent="-273833">
              <a:lnSpc>
                <a:spcPct val="78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394" y="1711635"/>
            <a:ext cx="4893948" cy="300082"/>
          </a:xfrm>
        </p:spPr>
        <p:txBody>
          <a:bodyPr anchor="b"/>
          <a:lstStyle>
            <a:lvl1pPr marL="0" indent="0">
              <a:lnSpc>
                <a:spcPct val="78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73393" y="2174877"/>
            <a:ext cx="4893948" cy="1464503"/>
          </a:xfrm>
        </p:spPr>
        <p:txBody>
          <a:bodyPr/>
          <a:lstStyle>
            <a:lvl1pPr marL="281770" indent="-281770">
              <a:lnSpc>
                <a:spcPct val="78000"/>
              </a:lnSpc>
              <a:defRPr sz="2300"/>
            </a:lvl1pPr>
            <a:lvl2pPr marL="562218" indent="-265896">
              <a:lnSpc>
                <a:spcPct val="78000"/>
              </a:lnSpc>
              <a:defRPr sz="2000"/>
            </a:lvl2pPr>
            <a:lvl3pPr marL="813562" indent="-243407">
              <a:lnSpc>
                <a:spcPct val="78000"/>
              </a:lnSpc>
              <a:defRPr sz="1800"/>
            </a:lvl3pPr>
            <a:lvl4pPr marL="1050354" indent="-228856">
              <a:lnSpc>
                <a:spcPct val="78000"/>
              </a:lnSpc>
              <a:defRPr sz="1700"/>
            </a:lvl4pPr>
            <a:lvl5pPr marL="1279210" indent="-206367">
              <a:lnSpc>
                <a:spcPct val="78000"/>
              </a:lnSpc>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24661" y="1711635"/>
            <a:ext cx="4878071" cy="300082"/>
          </a:xfrm>
        </p:spPr>
        <p:txBody>
          <a:bodyPr anchor="b"/>
          <a:lstStyle>
            <a:lvl1pPr marL="0" indent="0">
              <a:lnSpc>
                <a:spcPct val="78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324661" y="2174877"/>
            <a:ext cx="4890775" cy="1464503"/>
          </a:xfrm>
        </p:spPr>
        <p:txBody>
          <a:bodyPr/>
          <a:lstStyle>
            <a:lvl1pPr marL="296321" indent="-296321">
              <a:lnSpc>
                <a:spcPct val="78000"/>
              </a:lnSpc>
              <a:defRPr sz="2300"/>
            </a:lvl1pPr>
            <a:lvl2pPr marL="570155" indent="-273833">
              <a:lnSpc>
                <a:spcPct val="78000"/>
              </a:lnSpc>
              <a:defRPr sz="2000"/>
            </a:lvl2pPr>
            <a:lvl3pPr marL="821499" indent="-244730">
              <a:lnSpc>
                <a:spcPct val="78000"/>
              </a:lnSpc>
              <a:defRPr sz="1800"/>
            </a:lvl3pPr>
            <a:lvl4pPr marL="1050354" indent="-236793">
              <a:lnSpc>
                <a:spcPct val="78000"/>
              </a:lnSpc>
              <a:defRPr sz="1700"/>
            </a:lvl4pPr>
            <a:lvl5pPr marL="1279210" indent="-220919">
              <a:lnSpc>
                <a:spcPct val="78000"/>
              </a:lnSpc>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Tree>
  </p:cSld>
  <p:clrMapOvr>
    <a:masterClrMapping/>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ltGray">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peaker Notes BLACK slide - you must hide i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white"/>
        <p:txBody>
          <a:bodyPr/>
          <a:lstStyle>
            <a:lvl1pPr>
              <a:defRPr baseline="0"/>
            </a:lvl1pPr>
          </a:lstStyle>
          <a:p>
            <a:r>
              <a:rPr lang="en-US" dirty="0" smtClean="0"/>
              <a:t>Use this Slide for Speaker Notes</a:t>
            </a:r>
          </a:p>
        </p:txBody>
      </p:sp>
      <p:sp>
        <p:nvSpPr>
          <p:cNvPr id="6" name="Text Placeholder 5"/>
          <p:cNvSpPr>
            <a:spLocks noGrp="1"/>
          </p:cNvSpPr>
          <p:nvPr>
            <p:ph type="body" sz="quarter" idx="10"/>
          </p:nvPr>
        </p:nvSpPr>
        <p:spPr bwMode="white">
          <a:xfrm>
            <a:off x="508000" y="1411555"/>
            <a:ext cx="11176000" cy="1892249"/>
          </a:xfrm>
        </p:spPr>
        <p:txBody>
          <a:bodyPr/>
          <a:lstStyle>
            <a:lvl1pPr marL="401638" indent="-401638">
              <a:spcAft>
                <a:spcPts val="0"/>
              </a:spcAft>
              <a:buClr>
                <a:schemeClr val="tx1"/>
              </a:buClr>
              <a:buSzPct val="70000"/>
              <a:buFont typeface="Wingdings" pitchFamily="2" charset="2"/>
              <a:buChar char="l"/>
              <a:defRPr/>
            </a:lvl1pPr>
            <a:lvl2pPr marL="793750" indent="-384175">
              <a:buClr>
                <a:schemeClr val="tx1"/>
              </a:buClr>
              <a:buSzPct val="70000"/>
              <a:buFont typeface="Wingdings" pitchFamily="2" charset="2"/>
              <a:buChar char="l"/>
              <a:defRPr/>
            </a:lvl2pPr>
            <a:lvl3pPr marL="1147763" indent="-346075">
              <a:buClr>
                <a:schemeClr val="tx1"/>
              </a:buClr>
              <a:buSzPct val="70000"/>
              <a:buFont typeface="Wingdings" pitchFamily="2" charset="2"/>
              <a:buChar char="l"/>
              <a:defRPr/>
            </a:lvl3pPr>
            <a:lvl4pPr marL="1476375" indent="-328613">
              <a:buClr>
                <a:schemeClr val="tx1"/>
              </a:buClr>
              <a:buSzPct val="70000"/>
              <a:buFont typeface="Wingdings" pitchFamily="2" charset="2"/>
              <a:buChar char="l"/>
              <a:defRPr/>
            </a:lvl4pPr>
            <a:lvl5pPr marL="1812925" indent="-320675">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peaker Notes BLACK slide with Footer - you must hide i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white"/>
        <p:txBody>
          <a:bodyPr/>
          <a:lstStyle>
            <a:lvl1pPr>
              <a:defRPr/>
            </a:lvl1pPr>
          </a:lstStyle>
          <a:p>
            <a:r>
              <a:rPr lang="en-US" dirty="0" smtClean="0"/>
              <a:t>Use this Slide for Speaker Notes</a:t>
            </a:r>
            <a:endParaRPr lang="en-US" dirty="0"/>
          </a:p>
        </p:txBody>
      </p:sp>
      <p:sp>
        <p:nvSpPr>
          <p:cNvPr id="6" name="Text Placeholder 5"/>
          <p:cNvSpPr>
            <a:spLocks noGrp="1"/>
          </p:cNvSpPr>
          <p:nvPr>
            <p:ph type="body" sz="quarter" idx="10"/>
          </p:nvPr>
        </p:nvSpPr>
        <p:spPr bwMode="white">
          <a:xfrm>
            <a:off x="508000" y="1411555"/>
            <a:ext cx="11176000" cy="1892249"/>
          </a:xfrm>
        </p:spPr>
        <p:txBody>
          <a:bodyPr/>
          <a:lstStyle>
            <a:lvl1pPr marL="401638" indent="-401638">
              <a:spcAft>
                <a:spcPts val="0"/>
              </a:spcAft>
              <a:buClr>
                <a:schemeClr val="tx1"/>
              </a:buClr>
              <a:buSzPct val="70000"/>
              <a:buFont typeface="Wingdings" pitchFamily="2" charset="2"/>
              <a:buChar char="l"/>
              <a:defRPr/>
            </a:lvl1pPr>
            <a:lvl2pPr marL="801688" indent="-392113">
              <a:buClr>
                <a:schemeClr val="tx1"/>
              </a:buClr>
              <a:buSzPct val="70000"/>
              <a:buFont typeface="Wingdings" pitchFamily="2" charset="2"/>
              <a:buChar char="l"/>
              <a:defRPr/>
            </a:lvl2pPr>
            <a:lvl3pPr marL="1155700" indent="-346075">
              <a:buClr>
                <a:schemeClr val="tx1"/>
              </a:buClr>
              <a:buSzPct val="70000"/>
              <a:buFont typeface="Wingdings" pitchFamily="2" charset="2"/>
              <a:buChar char="l"/>
              <a:defRPr/>
            </a:lvl3pPr>
            <a:lvl4pPr marL="1476375" indent="-312738">
              <a:buClr>
                <a:schemeClr val="tx1"/>
              </a:buClr>
              <a:buSzPct val="70000"/>
              <a:buFont typeface="Wingdings" pitchFamily="2" charset="2"/>
              <a:buChar char="l"/>
              <a:defRPr/>
            </a:lvl4pPr>
            <a:lvl5pPr marL="1812925" indent="-320675">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2" y="6238878"/>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Calibri" pitchFamily="34" charset="0"/>
              </a:defRPr>
            </a:lvl1pPr>
          </a:lstStyle>
          <a:p>
            <a:pPr lvl="0"/>
            <a:r>
              <a:rPr lang="en-US" smtClean="0"/>
              <a:t>Click to edit Master text styles</a:t>
            </a:r>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veloper Co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Use for CURRENT Software Code</a:t>
            </a:r>
            <a:endParaRPr lang="en-US" dirty="0"/>
          </a:p>
        </p:txBody>
      </p:sp>
      <p:sp>
        <p:nvSpPr>
          <p:cNvPr id="6" name="Text Placeholder 5"/>
          <p:cNvSpPr>
            <a:spLocks noGrp="1"/>
          </p:cNvSpPr>
          <p:nvPr>
            <p:ph type="body" sz="quarter" idx="10"/>
          </p:nvPr>
        </p:nvSpPr>
        <p:spPr>
          <a:xfrm>
            <a:off x="768096" y="1463041"/>
            <a:ext cx="10668000" cy="1994841"/>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0181" y="1905002"/>
            <a:ext cx="10242551" cy="1523495"/>
          </a:xfrm>
        </p:spPr>
        <p:txBody>
          <a:bodyPr>
            <a:noAutofit/>
          </a:bodyPr>
          <a:lstStyle>
            <a:lvl1pPr>
              <a:lnSpc>
                <a:spcPct val="90000"/>
              </a:lnSpc>
              <a:defRPr sz="4400" b="1"/>
            </a:lvl1pPr>
          </a:lstStyle>
          <a:p>
            <a:r>
              <a:rPr lang="en-US" smtClean="0"/>
              <a:t>Click to edit Master title style</a:t>
            </a:r>
            <a:endParaRPr lang="en-US" dirty="0"/>
          </a:p>
        </p:txBody>
      </p:sp>
      <p:sp>
        <p:nvSpPr>
          <p:cNvPr id="3" name="Subtitle 2"/>
          <p:cNvSpPr>
            <a:spLocks noGrp="1"/>
          </p:cNvSpPr>
          <p:nvPr>
            <p:ph type="subTitle" idx="1" hasCustomPrompt="1"/>
          </p:nvPr>
        </p:nvSpPr>
        <p:spPr>
          <a:xfrm>
            <a:off x="6594606" y="4038600"/>
            <a:ext cx="4608125" cy="914400"/>
          </a:xfrm>
        </p:spPr>
        <p:txBody>
          <a:bodyPr>
            <a:noAutofit/>
          </a:bodyPr>
          <a:lstStyle>
            <a:lvl1pPr marL="457200" indent="-457200" algn="l">
              <a:lnSpc>
                <a:spcPct val="75000"/>
              </a:lnSpc>
              <a:spcBef>
                <a:spcPts val="0"/>
              </a:spcBef>
              <a:spcAft>
                <a:spcPts val="0"/>
              </a:spcAft>
              <a:buNone/>
              <a:tabLst>
                <a:tab pos="457200" algn="l"/>
              </a:tabLst>
              <a:defRPr sz="3000">
                <a:solidFill>
                  <a:schemeClr val="tx1">
                    <a:tint val="75000"/>
                  </a:schemeClr>
                </a:solidFill>
                <a:sym typeface="Wingding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smtClean="0"/>
              <a:t>	Click to edit Master subtitle style</a:t>
            </a:r>
            <a:endParaRPr lang="en-US" dirty="0"/>
          </a:p>
        </p:txBody>
      </p:sp>
      <p:sp>
        <p:nvSpPr>
          <p:cNvPr id="7" name="Text Placeholder 6"/>
          <p:cNvSpPr>
            <a:spLocks noGrp="1"/>
          </p:cNvSpPr>
          <p:nvPr>
            <p:ph type="body" sz="quarter" idx="10" hasCustomPrompt="1"/>
          </p:nvPr>
        </p:nvSpPr>
        <p:spPr>
          <a:xfrm>
            <a:off x="6594606" y="5486400"/>
            <a:ext cx="4608125" cy="838200"/>
          </a:xfrm>
        </p:spPr>
        <p:txBody>
          <a:bodyPr vert="horz" wrap="square" lIns="0" tIns="0" rIns="0" bIns="0" rtlCol="0">
            <a:noAutofit/>
          </a:bodyPr>
          <a:lstStyle>
            <a:lvl1pPr marL="457200" indent="-457200" algn="l" defTabSz="914363" rtl="0" eaLnBrk="1" latinLnBrk="0" hangingPunct="1">
              <a:lnSpc>
                <a:spcPct val="75000"/>
              </a:lnSpc>
              <a:spcBef>
                <a:spcPts val="0"/>
              </a:spcBef>
              <a:spcAft>
                <a:spcPts val="0"/>
              </a:spcAft>
              <a:buFont typeface="Arial" pitchFamily="34" charset="0"/>
              <a:buNone/>
              <a:tabLst>
                <a:tab pos="457200" algn="l"/>
              </a:tabLst>
              <a:defRPr lang="en-US" sz="3000" kern="1200" dirty="0">
                <a:solidFill>
                  <a:schemeClr val="tx1">
                    <a:tint val="75000"/>
                  </a:schemeClr>
                </a:solidFill>
                <a:latin typeface="+mn-lt"/>
                <a:ea typeface="+mn-ea"/>
                <a:cs typeface="+mn-cs"/>
                <a:sym typeface="Wingdings"/>
              </a:defRPr>
            </a:lvl1pPr>
          </a:lstStyle>
          <a:p>
            <a:r>
              <a:rPr lang="en-US" dirty="0" smtClean="0"/>
              <a:t>	Click to edit Master subtitle style</a:t>
            </a:r>
            <a:endParaRPr lang="en-US"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mo, Partner and Customer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594606" y="4038600"/>
            <a:ext cx="4608125" cy="914400"/>
          </a:xfrm>
        </p:spPr>
        <p:txBody>
          <a:bodyPr anchor="t" anchorCtr="0">
            <a:noAutofit/>
          </a:bodyPr>
          <a:lstStyle>
            <a:lvl1pPr>
              <a:lnSpc>
                <a:spcPct val="78000"/>
              </a:lnSpc>
              <a:spcBef>
                <a:spcPts val="0"/>
              </a:spcBef>
              <a:spcAft>
                <a:spcPts val="0"/>
              </a:spcAft>
              <a:defRPr sz="3600"/>
            </a:lvl1pPr>
          </a:lstStyle>
          <a:p>
            <a:r>
              <a:rPr lang="en-US" smtClean="0"/>
              <a:t>Click to edit Master title style</a:t>
            </a:r>
            <a:endParaRPr lang="en-US" dirty="0"/>
          </a:p>
        </p:txBody>
      </p:sp>
      <p:sp>
        <p:nvSpPr>
          <p:cNvPr id="3" name="Subtitle 2"/>
          <p:cNvSpPr>
            <a:spLocks noGrp="1"/>
          </p:cNvSpPr>
          <p:nvPr>
            <p:ph type="subTitle" idx="1" hasCustomPrompt="1"/>
          </p:nvPr>
        </p:nvSpPr>
        <p:spPr>
          <a:xfrm>
            <a:off x="6594606" y="5334002"/>
            <a:ext cx="4608125" cy="1066799"/>
          </a:xfrm>
        </p:spPr>
        <p:txBody>
          <a:bodyPr>
            <a:noAutofit/>
          </a:bodyPr>
          <a:lstStyle>
            <a:lvl1pPr marL="457200" indent="-457200" algn="l">
              <a:lnSpc>
                <a:spcPct val="78000"/>
              </a:lnSpc>
              <a:spcBef>
                <a:spcPts val="0"/>
              </a:spcBef>
              <a:spcAft>
                <a:spcPts val="0"/>
              </a:spcAft>
              <a:buNone/>
              <a:tabLst>
                <a:tab pos="457200" algn="l"/>
              </a:tabLst>
              <a:defRPr sz="3000">
                <a:solidFill>
                  <a:schemeClr val="tx1">
                    <a:tint val="75000"/>
                  </a:schemeClr>
                </a:solidFill>
                <a:sym typeface="Wingding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smtClean="0"/>
              <a:t>	Presenter Name</a:t>
            </a:r>
          </a:p>
          <a:p>
            <a:r>
              <a:rPr lang="en-US" sz="2400" dirty="0" smtClean="0"/>
              <a:t>	Title</a:t>
            </a:r>
          </a:p>
          <a:p>
            <a:r>
              <a:rPr lang="en-US" sz="2400" dirty="0" smtClean="0"/>
              <a:t>	Group</a:t>
            </a:r>
            <a:endParaRPr lang="en-US" sz="2400" dirty="0"/>
          </a:p>
        </p:txBody>
      </p:sp>
      <p:sp>
        <p:nvSpPr>
          <p:cNvPr id="7" name="Text Placeholder 6"/>
          <p:cNvSpPr>
            <a:spLocks noGrp="1"/>
          </p:cNvSpPr>
          <p:nvPr>
            <p:ph type="body" sz="quarter" idx="10" hasCustomPrompt="1"/>
          </p:nvPr>
        </p:nvSpPr>
        <p:spPr>
          <a:xfrm>
            <a:off x="973393" y="1905000"/>
            <a:ext cx="10242825" cy="1384994"/>
          </a:xfrm>
        </p:spPr>
        <p:txBody>
          <a:bodyPr vert="horz" wrap="square" lIns="0" tIns="0" rIns="0" bIns="0" rtlCol="0" anchor="t" anchorCtr="0">
            <a:noAutofit/>
            <a:scene3d>
              <a:camera prst="orthographicFront"/>
              <a:lightRig rig="flat" dir="t"/>
            </a:scene3d>
            <a:sp3d>
              <a:contourClr>
                <a:srgbClr val="F4A234"/>
              </a:contourClr>
            </a:sp3d>
          </a:bodyPr>
          <a:lstStyle>
            <a:lvl1pPr marL="0" indent="0" algn="l">
              <a:buFont typeface="Arial" pitchFamily="34" charset="0"/>
              <a:buNone/>
              <a:defRPr kumimoji="0" lang="en-US" sz="10000" b="0" i="0" u="none" strike="noStrike" kern="1200" cap="none" spc="-642" normalizeH="0" baseline="0" noProof="0" dirty="0" smtClean="0">
                <a:ln w="11430"/>
                <a:gradFill>
                  <a:gsLst>
                    <a:gs pos="62000">
                      <a:schemeClr val="tx1"/>
                    </a:gs>
                    <a:gs pos="88000">
                      <a:schemeClr val="tx1"/>
                    </a:gs>
                  </a:gsLst>
                  <a:lin ang="5400000"/>
                </a:gradFill>
                <a:effectLst/>
                <a:uLnTx/>
                <a:uFillTx/>
                <a:latin typeface="Calibri" pitchFamily="34" charset="0"/>
                <a:ea typeface="+mn-ea"/>
                <a:cs typeface="+mn-cs"/>
              </a:defRPr>
            </a:lvl1pPr>
          </a:lstStyle>
          <a:p>
            <a:pPr marL="0" lvl="0" indent="0" algn="l" defTabSz="914363" rtl="0" eaLnBrk="1" latinLnBrk="0" hangingPunct="1">
              <a:lnSpc>
                <a:spcPct val="78000"/>
              </a:lnSpc>
              <a:spcBef>
                <a:spcPct val="20000"/>
              </a:spcBef>
              <a:spcAft>
                <a:spcPts val="800"/>
              </a:spcAft>
              <a:buFont typeface="Arial" pitchFamily="34" charset="0"/>
              <a:buNone/>
            </a:pPr>
            <a:r>
              <a:rPr lang="en-US" dirty="0" smtClean="0"/>
              <a:t>click to…</a:t>
            </a:r>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ideo and Announcing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594606" y="4038600"/>
            <a:ext cx="4608125" cy="914400"/>
          </a:xfrm>
        </p:spPr>
        <p:txBody>
          <a:bodyPr anchor="t" anchorCtr="0">
            <a:noAutofit/>
          </a:bodyPr>
          <a:lstStyle>
            <a:lvl1pPr>
              <a:lnSpc>
                <a:spcPct val="78000"/>
              </a:lnSpc>
              <a:spcBef>
                <a:spcPts val="0"/>
              </a:spcBef>
              <a:spcAft>
                <a:spcPts val="0"/>
              </a:spcAft>
              <a:defRPr sz="3600"/>
            </a:lvl1pPr>
          </a:lstStyle>
          <a:p>
            <a:r>
              <a:rPr lang="en-US" smtClean="0"/>
              <a:t>Click to edit Master title style</a:t>
            </a:r>
            <a:endParaRPr lang="en-US" dirty="0"/>
          </a:p>
        </p:txBody>
      </p:sp>
      <p:sp>
        <p:nvSpPr>
          <p:cNvPr id="7" name="Text Placeholder 6"/>
          <p:cNvSpPr>
            <a:spLocks noGrp="1"/>
          </p:cNvSpPr>
          <p:nvPr>
            <p:ph type="body" sz="quarter" idx="10" hasCustomPrompt="1"/>
          </p:nvPr>
        </p:nvSpPr>
        <p:spPr>
          <a:xfrm>
            <a:off x="973393" y="1905000"/>
            <a:ext cx="10242825" cy="1384994"/>
          </a:xfrm>
        </p:spPr>
        <p:txBody>
          <a:bodyPr anchor="t" anchorCtr="0">
            <a:noAutofit/>
            <a:scene3d>
              <a:camera prst="orthographicFront"/>
              <a:lightRig rig="flat" dir="t"/>
            </a:scene3d>
            <a:sp3d>
              <a:contourClr>
                <a:srgbClr val="F4A234"/>
              </a:contourClr>
            </a:sp3d>
          </a:bodyPr>
          <a:lstStyle>
            <a:lvl1pPr marL="0" indent="0" algn="l">
              <a:buFont typeface="Arial" pitchFamily="34" charset="0"/>
              <a:buNone/>
              <a:defRPr kumimoji="0" lang="en-US" sz="10000" b="0" i="0" u="none" strike="noStrike" kern="1200" cap="none" spc="-642" normalizeH="0" baseline="0" noProof="0" dirty="0" smtClean="0">
                <a:ln w="11430"/>
                <a:gradFill>
                  <a:gsLst>
                    <a:gs pos="62000">
                      <a:schemeClr val="tx1"/>
                    </a:gs>
                    <a:gs pos="88000">
                      <a:schemeClr val="tx1"/>
                    </a:gs>
                  </a:gsLst>
                  <a:lin ang="5400000"/>
                </a:gradFill>
                <a:effectLst/>
                <a:uLnTx/>
                <a:uFillTx/>
                <a:latin typeface="Calibri" pitchFamily="34" charset="0"/>
                <a:ea typeface="+mn-ea"/>
                <a:cs typeface="+mn-cs"/>
              </a:defRPr>
            </a:lvl1pPr>
          </a:lstStyle>
          <a:p>
            <a:pPr lvl="0"/>
            <a:r>
              <a:rPr lang="en-US" dirty="0" smtClean="0"/>
              <a:t>click to…</a:t>
            </a:r>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973393" y="1411552"/>
            <a:ext cx="10229337" cy="2053960"/>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itle Placeholder 1"/>
          <p:cNvSpPr>
            <a:spLocks noGrp="1"/>
          </p:cNvSpPr>
          <p:nvPr>
            <p:ph type="title"/>
          </p:nvPr>
        </p:nvSpPr>
        <p:spPr>
          <a:xfrm>
            <a:off x="516072" y="152400"/>
            <a:ext cx="11167928" cy="553998"/>
          </a:xfrm>
          <a:prstGeom prst="rect">
            <a:avLst/>
          </a:prstGeom>
        </p:spPr>
        <p:txBody>
          <a:bodyPr vert="horz" wrap="square" lIns="0" tIns="0" rIns="0" bIns="0" rtlCol="0" anchor="t">
            <a:spAutoFit/>
          </a:bodyPr>
          <a:lstStyle>
            <a:lvl1pPr>
              <a:defRPr/>
            </a:lvl1pPr>
          </a:lstStyle>
          <a:p>
            <a:r>
              <a:rPr lang="en-US" smtClean="0"/>
              <a:t>Click to edit Master title style</a:t>
            </a:r>
            <a:endParaRPr lang="en-US"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FUTURE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Use this Slide for FUTURE Content</a:t>
            </a:r>
            <a:endParaRPr lang="en-US" dirty="0"/>
          </a:p>
        </p:txBody>
      </p:sp>
      <p:sp>
        <p:nvSpPr>
          <p:cNvPr id="6" name="Text Placeholder 5"/>
          <p:cNvSpPr>
            <a:spLocks noGrp="1"/>
          </p:cNvSpPr>
          <p:nvPr>
            <p:ph type="body" sz="quarter" idx="10"/>
          </p:nvPr>
        </p:nvSpPr>
        <p:spPr>
          <a:xfrm>
            <a:off x="973392" y="1411554"/>
            <a:ext cx="10229339" cy="1994841"/>
          </a:xfrm>
        </p:spPr>
        <p:txBody>
          <a:bodyPr/>
          <a:lstStyle>
            <a:lvl1pPr>
              <a:lnSpc>
                <a:spcPct val="78000"/>
              </a:lnSpc>
              <a:defRPr/>
            </a:lvl1pPr>
            <a:lvl2pPr>
              <a:lnSpc>
                <a:spcPct val="78000"/>
              </a:lnSpc>
              <a:buClr>
                <a:srgbClr val="95E3E7"/>
              </a:buClr>
              <a:defRPr/>
            </a:lvl2pPr>
            <a:lvl3pPr>
              <a:lnSpc>
                <a:spcPct val="78000"/>
              </a:lnSpc>
              <a:buClr>
                <a:srgbClr val="95E3E7"/>
              </a:buClr>
              <a:defRPr/>
            </a:lvl3pPr>
            <a:lvl4pPr>
              <a:lnSpc>
                <a:spcPct val="78000"/>
              </a:lnSpc>
              <a:buClr>
                <a:srgbClr val="95E3E7"/>
              </a:buClr>
              <a:defRPr/>
            </a:lvl4pPr>
            <a:lvl5pPr>
              <a:lnSpc>
                <a:spcPct val="78000"/>
              </a:lnSpc>
              <a:buClr>
                <a:srgbClr val="95E3E7"/>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idx="1"/>
          </p:nvPr>
        </p:nvSpPr>
        <p:spPr>
          <a:xfrm>
            <a:off x="973392" y="1412876"/>
            <a:ext cx="10242043" cy="1994841"/>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sz="half" idx="1"/>
          </p:nvPr>
        </p:nvSpPr>
        <p:spPr>
          <a:xfrm>
            <a:off x="973394" y="1411554"/>
            <a:ext cx="4893948" cy="1645259"/>
          </a:xfrm>
        </p:spPr>
        <p:txBody>
          <a:bodyPr/>
          <a:lstStyle>
            <a:lvl1pPr marL="339976" indent="-339976">
              <a:lnSpc>
                <a:spcPct val="78000"/>
              </a:lnSpc>
              <a:defRPr sz="2800"/>
            </a:lvl1pPr>
            <a:lvl2pPr marL="673338" indent="-325424">
              <a:lnSpc>
                <a:spcPct val="78000"/>
              </a:lnSpc>
              <a:defRPr sz="2400"/>
            </a:lvl2pPr>
            <a:lvl3pPr marL="953785" indent="-288384">
              <a:lnSpc>
                <a:spcPct val="78000"/>
              </a:lnSpc>
              <a:defRPr sz="2000"/>
            </a:lvl3pPr>
            <a:lvl4pPr marL="1227618" indent="-273833">
              <a:lnSpc>
                <a:spcPct val="78000"/>
              </a:lnSpc>
              <a:defRPr sz="1800"/>
            </a:lvl4pPr>
            <a:lvl5pPr marL="1516002" indent="-280447">
              <a:lnSpc>
                <a:spcPct val="78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48440" y="1411554"/>
            <a:ext cx="4966995" cy="1645259"/>
          </a:xfrm>
        </p:spPr>
        <p:txBody>
          <a:bodyPr/>
          <a:lstStyle>
            <a:lvl1pPr marL="347914" indent="-347914">
              <a:lnSpc>
                <a:spcPct val="78000"/>
              </a:lnSpc>
              <a:defRPr sz="2800"/>
            </a:lvl1pPr>
            <a:lvl2pPr marL="673338" indent="-339976">
              <a:lnSpc>
                <a:spcPct val="78000"/>
              </a:lnSpc>
              <a:defRPr sz="2400"/>
            </a:lvl2pPr>
            <a:lvl3pPr marL="961722" indent="-302936">
              <a:lnSpc>
                <a:spcPct val="78000"/>
              </a:lnSpc>
              <a:defRPr sz="2000"/>
            </a:lvl3pPr>
            <a:lvl4pPr marL="1227618" indent="-265896">
              <a:lnSpc>
                <a:spcPct val="78000"/>
              </a:lnSpc>
              <a:defRPr sz="1800"/>
            </a:lvl4pPr>
            <a:lvl5pPr marL="1516002" indent="-273833">
              <a:lnSpc>
                <a:spcPct val="78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394" y="1711635"/>
            <a:ext cx="4893948" cy="300082"/>
          </a:xfrm>
        </p:spPr>
        <p:txBody>
          <a:bodyPr anchor="b"/>
          <a:lstStyle>
            <a:lvl1pPr marL="0" indent="0">
              <a:lnSpc>
                <a:spcPct val="78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73393" y="2174877"/>
            <a:ext cx="4893948" cy="1464503"/>
          </a:xfrm>
        </p:spPr>
        <p:txBody>
          <a:bodyPr/>
          <a:lstStyle>
            <a:lvl1pPr marL="281770" indent="-281770">
              <a:lnSpc>
                <a:spcPct val="78000"/>
              </a:lnSpc>
              <a:defRPr sz="2300"/>
            </a:lvl1pPr>
            <a:lvl2pPr marL="562218" indent="-265896">
              <a:lnSpc>
                <a:spcPct val="78000"/>
              </a:lnSpc>
              <a:defRPr sz="2000"/>
            </a:lvl2pPr>
            <a:lvl3pPr marL="813562" indent="-243407">
              <a:lnSpc>
                <a:spcPct val="78000"/>
              </a:lnSpc>
              <a:defRPr sz="1800"/>
            </a:lvl3pPr>
            <a:lvl4pPr marL="1050354" indent="-228856">
              <a:lnSpc>
                <a:spcPct val="78000"/>
              </a:lnSpc>
              <a:defRPr sz="1700"/>
            </a:lvl4pPr>
            <a:lvl5pPr marL="1279210" indent="-206367">
              <a:lnSpc>
                <a:spcPct val="78000"/>
              </a:lnSpc>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24661" y="1711635"/>
            <a:ext cx="4878071" cy="300082"/>
          </a:xfrm>
        </p:spPr>
        <p:txBody>
          <a:bodyPr anchor="b"/>
          <a:lstStyle>
            <a:lvl1pPr marL="0" indent="0">
              <a:lnSpc>
                <a:spcPct val="78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324661" y="2174877"/>
            <a:ext cx="4890775" cy="1464503"/>
          </a:xfrm>
        </p:spPr>
        <p:txBody>
          <a:bodyPr/>
          <a:lstStyle>
            <a:lvl1pPr marL="296321" indent="-296321">
              <a:lnSpc>
                <a:spcPct val="78000"/>
              </a:lnSpc>
              <a:defRPr sz="2300"/>
            </a:lvl1pPr>
            <a:lvl2pPr marL="570155" indent="-273833">
              <a:lnSpc>
                <a:spcPct val="78000"/>
              </a:lnSpc>
              <a:defRPr sz="2000"/>
            </a:lvl2pPr>
            <a:lvl3pPr marL="821499" indent="-244730">
              <a:lnSpc>
                <a:spcPct val="78000"/>
              </a:lnSpc>
              <a:defRPr sz="1800"/>
            </a:lvl3pPr>
            <a:lvl4pPr marL="1050354" indent="-236793">
              <a:lnSpc>
                <a:spcPct val="78000"/>
              </a:lnSpc>
              <a:defRPr sz="1700"/>
            </a:lvl4pPr>
            <a:lvl5pPr marL="1279210" indent="-220919">
              <a:lnSpc>
                <a:spcPct val="78000"/>
              </a:lnSpc>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ltGray">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peaker Notes BLACK slide - you must hide i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white"/>
        <p:txBody>
          <a:bodyPr/>
          <a:lstStyle>
            <a:lvl1pPr>
              <a:defRPr baseline="0"/>
            </a:lvl1pPr>
          </a:lstStyle>
          <a:p>
            <a:r>
              <a:rPr lang="en-US" dirty="0" smtClean="0"/>
              <a:t>Use this Slide for Speaker Notes</a:t>
            </a:r>
          </a:p>
        </p:txBody>
      </p:sp>
      <p:sp>
        <p:nvSpPr>
          <p:cNvPr id="6" name="Text Placeholder 5"/>
          <p:cNvSpPr>
            <a:spLocks noGrp="1"/>
          </p:cNvSpPr>
          <p:nvPr>
            <p:ph type="body" sz="quarter" idx="10"/>
          </p:nvPr>
        </p:nvSpPr>
        <p:spPr bwMode="white">
          <a:xfrm>
            <a:off x="508000" y="1411555"/>
            <a:ext cx="11176000" cy="1892249"/>
          </a:xfrm>
        </p:spPr>
        <p:txBody>
          <a:bodyPr/>
          <a:lstStyle>
            <a:lvl1pPr marL="401638" indent="-401638">
              <a:spcAft>
                <a:spcPts val="0"/>
              </a:spcAft>
              <a:buClr>
                <a:schemeClr val="tx1"/>
              </a:buClr>
              <a:buSzPct val="70000"/>
              <a:buFont typeface="Wingdings" pitchFamily="2" charset="2"/>
              <a:buChar char="l"/>
              <a:defRPr/>
            </a:lvl1pPr>
            <a:lvl2pPr marL="793750" indent="-384175">
              <a:buClr>
                <a:schemeClr val="tx1"/>
              </a:buClr>
              <a:buSzPct val="70000"/>
              <a:buFont typeface="Wingdings" pitchFamily="2" charset="2"/>
              <a:buChar char="l"/>
              <a:defRPr/>
            </a:lvl2pPr>
            <a:lvl3pPr marL="1147763" indent="-346075">
              <a:buClr>
                <a:schemeClr val="tx1"/>
              </a:buClr>
              <a:buSzPct val="70000"/>
              <a:buFont typeface="Wingdings" pitchFamily="2" charset="2"/>
              <a:buChar char="l"/>
              <a:defRPr/>
            </a:lvl3pPr>
            <a:lvl4pPr marL="1476375" indent="-328613">
              <a:buClr>
                <a:schemeClr val="tx1"/>
              </a:buClr>
              <a:buSzPct val="70000"/>
              <a:buFont typeface="Wingdings" pitchFamily="2" charset="2"/>
              <a:buChar char="l"/>
              <a:defRPr/>
            </a:lvl4pPr>
            <a:lvl5pPr marL="1812925" indent="-320675">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peaker Notes BLACK slide with Footer - you must hide i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white"/>
        <p:txBody>
          <a:bodyPr/>
          <a:lstStyle>
            <a:lvl1pPr>
              <a:defRPr/>
            </a:lvl1pPr>
          </a:lstStyle>
          <a:p>
            <a:r>
              <a:rPr lang="en-US" dirty="0" smtClean="0"/>
              <a:t>Use this Slide for Speaker Notes</a:t>
            </a:r>
            <a:endParaRPr lang="en-US" dirty="0"/>
          </a:p>
        </p:txBody>
      </p:sp>
      <p:sp>
        <p:nvSpPr>
          <p:cNvPr id="6" name="Text Placeholder 5"/>
          <p:cNvSpPr>
            <a:spLocks noGrp="1"/>
          </p:cNvSpPr>
          <p:nvPr>
            <p:ph type="body" sz="quarter" idx="10"/>
          </p:nvPr>
        </p:nvSpPr>
        <p:spPr bwMode="white">
          <a:xfrm>
            <a:off x="508000" y="1411555"/>
            <a:ext cx="11176000" cy="1892249"/>
          </a:xfrm>
        </p:spPr>
        <p:txBody>
          <a:bodyPr/>
          <a:lstStyle>
            <a:lvl1pPr marL="401638" indent="-401638">
              <a:spcAft>
                <a:spcPts val="0"/>
              </a:spcAft>
              <a:buClr>
                <a:schemeClr val="tx1"/>
              </a:buClr>
              <a:buSzPct val="70000"/>
              <a:buFont typeface="Wingdings" pitchFamily="2" charset="2"/>
              <a:buChar char="l"/>
              <a:defRPr/>
            </a:lvl1pPr>
            <a:lvl2pPr marL="801688" indent="-392113">
              <a:buClr>
                <a:schemeClr val="tx1"/>
              </a:buClr>
              <a:buSzPct val="70000"/>
              <a:buFont typeface="Wingdings" pitchFamily="2" charset="2"/>
              <a:buChar char="l"/>
              <a:defRPr/>
            </a:lvl2pPr>
            <a:lvl3pPr marL="1155700" indent="-346075">
              <a:buClr>
                <a:schemeClr val="tx1"/>
              </a:buClr>
              <a:buSzPct val="70000"/>
              <a:buFont typeface="Wingdings" pitchFamily="2" charset="2"/>
              <a:buChar char="l"/>
              <a:defRPr/>
            </a:lvl3pPr>
            <a:lvl4pPr marL="1476375" indent="-312738">
              <a:buClr>
                <a:schemeClr val="tx1"/>
              </a:buClr>
              <a:buSzPct val="70000"/>
              <a:buFont typeface="Wingdings" pitchFamily="2" charset="2"/>
              <a:buChar char="l"/>
              <a:defRPr/>
            </a:lvl4pPr>
            <a:lvl5pPr marL="1812925" indent="-320675">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2" y="6238878"/>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Calibri" pitchFamily="34" charset="0"/>
              </a:defRPr>
            </a:lvl1pPr>
          </a:lstStyle>
          <a:p>
            <a:pPr lvl="0"/>
            <a:r>
              <a:rPr lang="en-US" smtClean="0"/>
              <a:t>Click to edit Master text styles</a:t>
            </a:r>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
        <p:nvSpPr>
          <p:cNvPr id="8" name="Date Placeholder 7"/>
          <p:cNvSpPr>
            <a:spLocks noGrp="1"/>
          </p:cNvSpPr>
          <p:nvPr>
            <p:ph type="dt" sz="half" idx="10"/>
          </p:nvPr>
        </p:nvSpPr>
        <p:spPr>
          <a:xfrm>
            <a:off x="4775200" y="6305550"/>
            <a:ext cx="2844800" cy="476250"/>
          </a:xfrm>
          <a:prstGeom prst="rect">
            <a:avLst/>
          </a:prstGeom>
        </p:spPr>
        <p:txBody>
          <a:bodyPr/>
          <a:lstStyle/>
          <a:p>
            <a:pPr algn="r" rtl="0"/>
            <a:fld id="{D3B45DBC-609B-4A79-8EA8-9068BBDDA2C0}" type="datetime1">
              <a:rPr lang="en-US" kern="1200">
                <a:solidFill>
                  <a:srgbClr val="FFFFFF"/>
                </a:solidFill>
                <a:latin typeface="Calibri"/>
                <a:ea typeface="+mn-ea"/>
                <a:cs typeface="+mn-cs"/>
              </a:rPr>
              <a:pPr algn="r" rtl="0"/>
              <a:t>9/11/2026</a:t>
            </a:fld>
            <a:endParaRPr lang="en-US" sz="1200" kern="1200">
              <a:solidFill>
                <a:srgbClr val="6A2433">
                  <a:shade val="50000"/>
                </a:srgbClr>
              </a:solidFill>
              <a:latin typeface="Calibri"/>
              <a:ea typeface="+mn-ea"/>
              <a:cs typeface="+mn-cs"/>
            </a:endParaRPr>
          </a:p>
        </p:txBody>
      </p:sp>
      <p:sp>
        <p:nvSpPr>
          <p:cNvPr id="9" name="Slide Number Placeholder 8"/>
          <p:cNvSpPr>
            <a:spLocks noGrp="1"/>
          </p:cNvSpPr>
          <p:nvPr>
            <p:ph type="sldNum" sz="quarter" idx="11"/>
          </p:nvPr>
        </p:nvSpPr>
        <p:spPr>
          <a:xfrm>
            <a:off x="11484864" y="6305550"/>
            <a:ext cx="609600" cy="476250"/>
          </a:xfrm>
          <a:prstGeom prst="rect">
            <a:avLst/>
          </a:prstGeom>
        </p:spPr>
        <p:txBody>
          <a:bodyPr/>
          <a:lstStyle/>
          <a:p>
            <a:pPr algn="l" rtl="0"/>
            <a:fld id="{0C2EF4DC-10BE-438D-A0C2-4265DEFE2ED1}" type="slidenum">
              <a:rPr lang="en-US" kern="1200">
                <a:solidFill>
                  <a:srgbClr val="6A2433">
                    <a:shade val="50000"/>
                  </a:srgbClr>
                </a:solidFill>
                <a:latin typeface="Calibri"/>
                <a:ea typeface="+mn-ea"/>
                <a:cs typeface="+mn-cs"/>
              </a:rPr>
              <a:pPr algn="l" rtl="0"/>
              <a:t>‹#›</a:t>
            </a:fld>
            <a:endParaRPr lang="en-US" kern="1200" dirty="0">
              <a:solidFill>
                <a:srgbClr val="6A2433">
                  <a:shade val="50000"/>
                </a:srgbClr>
              </a:solidFill>
              <a:latin typeface="Calibri"/>
              <a:ea typeface="+mn-ea"/>
              <a:cs typeface="+mn-cs"/>
            </a:endParaRPr>
          </a:p>
        </p:txBody>
      </p:sp>
      <p:sp>
        <p:nvSpPr>
          <p:cNvPr id="10" name="Footer Placeholder 9"/>
          <p:cNvSpPr>
            <a:spLocks noGrp="1"/>
          </p:cNvSpPr>
          <p:nvPr>
            <p:ph type="ftr" sz="quarter" idx="12"/>
          </p:nvPr>
        </p:nvSpPr>
        <p:spPr>
          <a:xfrm>
            <a:off x="7620000" y="6305550"/>
            <a:ext cx="3860800" cy="476250"/>
          </a:xfrm>
          <a:prstGeom prst="rect">
            <a:avLst/>
          </a:prstGeom>
        </p:spPr>
        <p:txBody>
          <a:bodyPr/>
          <a:lstStyle/>
          <a:p>
            <a:pPr algn="l" rtl="0"/>
            <a:endParaRPr lang="en-US" sz="1200" kern="1200" dirty="0">
              <a:solidFill>
                <a:srgbClr val="6A2433">
                  <a:shade val="50000"/>
                </a:srgbClr>
              </a:solidFill>
              <a:latin typeface="Calibri"/>
              <a:ea typeface="+mn-ea"/>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Text, and Content">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1930400" y="1600200"/>
            <a:ext cx="4876800" cy="2378921"/>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6908800" y="1600200"/>
            <a:ext cx="4673600" cy="237892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Title 10"/>
          <p:cNvSpPr>
            <a:spLocks noGrp="1"/>
          </p:cNvSpPr>
          <p:nvPr>
            <p:ph type="title"/>
          </p:nvPr>
        </p:nvSpPr>
        <p:spPr/>
        <p:txBody>
          <a:bodyPr/>
          <a:lstStyle/>
          <a:p>
            <a:r>
              <a:rPr lang="en-US" smtClean="0"/>
              <a:t>Click to edit Master title style</a:t>
            </a:r>
            <a:endParaRPr lang="en-US"/>
          </a:p>
        </p:txBody>
      </p:sp>
      <p:sp>
        <p:nvSpPr>
          <p:cNvPr id="12" name="Date Placeholder 11"/>
          <p:cNvSpPr>
            <a:spLocks noGrp="1"/>
          </p:cNvSpPr>
          <p:nvPr>
            <p:ph type="dt" sz="half" idx="10"/>
          </p:nvPr>
        </p:nvSpPr>
        <p:spPr>
          <a:xfrm>
            <a:off x="4775200" y="6305550"/>
            <a:ext cx="2844800" cy="476250"/>
          </a:xfrm>
          <a:prstGeom prst="rect">
            <a:avLst/>
          </a:prstGeom>
        </p:spPr>
        <p:txBody>
          <a:bodyPr/>
          <a:lstStyle/>
          <a:p>
            <a:pPr algn="r" rtl="0"/>
            <a:fld id="{27EF70E6-4974-4579-BD7A-2813ADD92712}" type="datetime1">
              <a:rPr lang="en-US" kern="1200">
                <a:solidFill>
                  <a:srgbClr val="FFFFFF"/>
                </a:solidFill>
                <a:latin typeface="Calibri"/>
                <a:ea typeface="+mn-ea"/>
                <a:cs typeface="+mn-cs"/>
              </a:rPr>
              <a:pPr algn="r" rtl="0"/>
              <a:t>9/11/2026</a:t>
            </a:fld>
            <a:endParaRPr lang="en-US" sz="1200" kern="1200">
              <a:solidFill>
                <a:srgbClr val="6A2433">
                  <a:shade val="50000"/>
                </a:srgbClr>
              </a:solidFill>
              <a:latin typeface="Calibri"/>
              <a:ea typeface="+mn-ea"/>
              <a:cs typeface="+mn-cs"/>
            </a:endParaRPr>
          </a:p>
        </p:txBody>
      </p:sp>
      <p:sp>
        <p:nvSpPr>
          <p:cNvPr id="13" name="Slide Number Placeholder 12"/>
          <p:cNvSpPr>
            <a:spLocks noGrp="1"/>
          </p:cNvSpPr>
          <p:nvPr>
            <p:ph type="sldNum" sz="quarter" idx="11"/>
          </p:nvPr>
        </p:nvSpPr>
        <p:spPr>
          <a:xfrm>
            <a:off x="11484864" y="6305550"/>
            <a:ext cx="609600" cy="476250"/>
          </a:xfrm>
          <a:prstGeom prst="rect">
            <a:avLst/>
          </a:prstGeom>
        </p:spPr>
        <p:txBody>
          <a:bodyPr/>
          <a:lstStyle/>
          <a:p>
            <a:pPr algn="l" rtl="0"/>
            <a:fld id="{430BE148-19C1-4444-81C5-F66FC0C5ACC5}" type="slidenum">
              <a:rPr lang="en-US" kern="1200">
                <a:solidFill>
                  <a:srgbClr val="6A2433">
                    <a:shade val="50000"/>
                  </a:srgbClr>
                </a:solidFill>
                <a:latin typeface="Calibri"/>
                <a:ea typeface="+mn-ea"/>
                <a:cs typeface="+mn-cs"/>
              </a:rPr>
              <a:pPr algn="l" rtl="0"/>
              <a:t>‹#›</a:t>
            </a:fld>
            <a:endParaRPr lang="en-US" kern="1200" dirty="0">
              <a:solidFill>
                <a:srgbClr val="6A2433">
                  <a:shade val="50000"/>
                </a:srgbClr>
              </a:solidFill>
              <a:latin typeface="Calibri"/>
              <a:ea typeface="+mn-ea"/>
              <a:cs typeface="+mn-cs"/>
            </a:endParaRPr>
          </a:p>
        </p:txBody>
      </p:sp>
      <p:sp>
        <p:nvSpPr>
          <p:cNvPr id="14" name="Footer Placeholder 13"/>
          <p:cNvSpPr>
            <a:spLocks noGrp="1"/>
          </p:cNvSpPr>
          <p:nvPr>
            <p:ph type="ftr" sz="quarter" idx="12"/>
          </p:nvPr>
        </p:nvSpPr>
        <p:spPr>
          <a:xfrm>
            <a:off x="7620000" y="6305550"/>
            <a:ext cx="3860800" cy="476250"/>
          </a:xfrm>
          <a:prstGeom prst="rect">
            <a:avLst/>
          </a:prstGeom>
        </p:spPr>
        <p:txBody>
          <a:bodyPr/>
          <a:lstStyle/>
          <a:p>
            <a:pPr algn="l" rtl="0"/>
            <a:endParaRPr lang="en-US" sz="1200" kern="1200" dirty="0">
              <a:solidFill>
                <a:srgbClr val="6A2433">
                  <a:shade val="50000"/>
                </a:srgbClr>
              </a:solidFill>
              <a:latin typeface="Calibri"/>
              <a:ea typeface="+mn-ea"/>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4655C92-C0C1-4AA7-B955-D0F76DF9182E}"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29072079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655C92-C0C1-4AA7-B955-D0F76DF9182E}"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4285355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4655C92-C0C1-4AA7-B955-D0F76DF9182E}"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9574929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4655C92-C0C1-4AA7-B955-D0F76DF9182E}" type="datetimeFigureOut">
              <a:rPr lang="en-US" smtClean="0"/>
              <a:pPr/>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15047108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4655C92-C0C1-4AA7-B955-D0F76DF9182E}" type="datetimeFigureOut">
              <a:rPr lang="en-US" smtClean="0"/>
              <a:pPr/>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21185466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4655C92-C0C1-4AA7-B955-D0F76DF9182E}" type="datetimeFigureOut">
              <a:rPr lang="en-US" smtClean="0"/>
              <a:pPr/>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16332273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655C92-C0C1-4AA7-B955-D0F76DF9182E}" type="datetimeFigureOut">
              <a:rPr lang="en-US" smtClean="0"/>
              <a:pPr/>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36668661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4655C92-C0C1-4AA7-B955-D0F76DF9182E}" type="datetimeFigureOut">
              <a:rPr lang="en-US" smtClean="0"/>
              <a:pPr/>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39159353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4655C92-C0C1-4AA7-B955-D0F76DF9182E}" type="datetimeFigureOut">
              <a:rPr lang="en-US" smtClean="0"/>
              <a:pPr/>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3532357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655C92-C0C1-4AA7-B955-D0F76DF9182E}"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37489497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655C92-C0C1-4AA7-B955-D0F76DF9182E}"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3602227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image" Target="../media/image1.jpeg"/><Relationship Id="rId2" Type="http://schemas.openxmlformats.org/officeDocument/2006/relationships/slideLayout" Target="../slideLayouts/slideLayout16.xml"/><Relationship Id="rId16" Type="http://schemas.openxmlformats.org/officeDocument/2006/relationships/theme" Target="../theme/theme2.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6467" y="152400"/>
            <a:ext cx="11159067" cy="553998"/>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973667" y="1408114"/>
            <a:ext cx="10229851" cy="1994841"/>
          </a:xfrm>
          <a:prstGeom prst="rect">
            <a:avLst/>
          </a:prstGeom>
        </p:spPr>
        <p:txBody>
          <a:bodyPr vert="horz" wrap="square" lIns="0" tIns="0" rIns="0" bIns="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transition>
    <p:fade/>
  </p:transition>
  <p:txStyles>
    <p:titleStyle>
      <a:lvl1pPr algn="l" defTabSz="914363" rtl="0" eaLnBrk="1" latinLnBrk="0" hangingPunct="1">
        <a:lnSpc>
          <a:spcPct val="90000"/>
        </a:lnSpc>
        <a:spcBef>
          <a:spcPct val="0"/>
        </a:spcBef>
        <a:buNone/>
        <a:defRPr lang="en-US" sz="4000" b="0" kern="1200" cap="none" spc="-15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393700" indent="-393700" algn="l" defTabSz="914363" rtl="0" eaLnBrk="1" latinLnBrk="0" hangingPunct="1">
        <a:lnSpc>
          <a:spcPct val="78000"/>
        </a:lnSpc>
        <a:spcBef>
          <a:spcPct val="20000"/>
        </a:spcBef>
        <a:spcAft>
          <a:spcPts val="800"/>
        </a:spcAft>
        <a:buClr>
          <a:schemeClr val="tx1"/>
        </a:buClr>
        <a:buSzPct val="80000"/>
        <a:buFont typeface="Wingdings" pitchFamily="2" charset="2"/>
        <a:buChar char="l"/>
        <a:defRPr sz="3200" kern="1200">
          <a:gradFill>
            <a:gsLst>
              <a:gs pos="0">
                <a:schemeClr val="tx1"/>
              </a:gs>
              <a:gs pos="86000">
                <a:schemeClr val="tx1"/>
              </a:gs>
            </a:gsLst>
            <a:lin ang="5400000" scaled="0"/>
          </a:gradFill>
          <a:latin typeface="+mn-lt"/>
          <a:ea typeface="+mn-ea"/>
          <a:cs typeface="+mn-cs"/>
        </a:defRPr>
      </a:lvl1pPr>
      <a:lvl2pPr marL="801688" indent="-407988" algn="l" defTabSz="914363" rtl="0" eaLnBrk="1" latinLnBrk="0" hangingPunct="1">
        <a:lnSpc>
          <a:spcPct val="78000"/>
        </a:lnSpc>
        <a:spcBef>
          <a:spcPct val="20000"/>
        </a:spcBef>
        <a:spcAft>
          <a:spcPts val="0"/>
        </a:spcAft>
        <a:buClr>
          <a:srgbClr val="969696"/>
        </a:buClr>
        <a:buSzPct val="80000"/>
        <a:buFont typeface="Wingdings" pitchFamily="2" charset="2"/>
        <a:buChar char="l"/>
        <a:defRPr sz="2800" kern="1200">
          <a:gradFill>
            <a:gsLst>
              <a:gs pos="0">
                <a:schemeClr val="tx1"/>
              </a:gs>
              <a:gs pos="86000">
                <a:schemeClr val="tx1"/>
              </a:gs>
            </a:gsLst>
            <a:lin ang="5400000" scaled="0"/>
          </a:gradFill>
          <a:latin typeface="+mn-lt"/>
          <a:ea typeface="+mn-ea"/>
          <a:cs typeface="+mn-cs"/>
        </a:defRPr>
      </a:lvl2pPr>
      <a:lvl3pPr marL="1146175" indent="-328613" algn="l" defTabSz="914363" rtl="0" eaLnBrk="1" latinLnBrk="0" hangingPunct="1">
        <a:lnSpc>
          <a:spcPct val="78000"/>
        </a:lnSpc>
        <a:spcBef>
          <a:spcPct val="20000"/>
        </a:spcBef>
        <a:spcAft>
          <a:spcPts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3pPr>
      <a:lvl4pPr marL="1484313" indent="-338138" algn="l" defTabSz="914363" rtl="0" eaLnBrk="1" latinLnBrk="0" hangingPunct="1">
        <a:lnSpc>
          <a:spcPct val="78000"/>
        </a:lnSpc>
        <a:spcBef>
          <a:spcPct val="20000"/>
        </a:spcBef>
        <a:spcAft>
          <a:spcPts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4pPr>
      <a:lvl5pPr marL="1812925" indent="-320675" algn="l" defTabSz="914363" rtl="0" eaLnBrk="1" latinLnBrk="0" hangingPunct="1">
        <a:lnSpc>
          <a:spcPct val="78000"/>
        </a:lnSpc>
        <a:spcBef>
          <a:spcPct val="20000"/>
        </a:spcBef>
        <a:spcAft>
          <a:spcPts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6467" y="152400"/>
            <a:ext cx="11159067" cy="553998"/>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973667" y="1408114"/>
            <a:ext cx="10229851" cy="1994841"/>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Lst>
  <p:transition>
    <p:fade/>
  </p:transition>
  <p:txStyles>
    <p:titleStyle>
      <a:lvl1pPr algn="l" defTabSz="914363" rtl="0" eaLnBrk="1" latinLnBrk="0" hangingPunct="1">
        <a:lnSpc>
          <a:spcPct val="90000"/>
        </a:lnSpc>
        <a:spcBef>
          <a:spcPct val="0"/>
        </a:spcBef>
        <a:buNone/>
        <a:defRPr lang="en-US" sz="4000" b="0" kern="1200" cap="none" spc="-15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393700" indent="-393700" algn="l" defTabSz="914363" rtl="0" eaLnBrk="1" latinLnBrk="0" hangingPunct="1">
        <a:lnSpc>
          <a:spcPct val="78000"/>
        </a:lnSpc>
        <a:spcBef>
          <a:spcPct val="20000"/>
        </a:spcBef>
        <a:spcAft>
          <a:spcPts val="800"/>
        </a:spcAft>
        <a:buClr>
          <a:schemeClr val="tx1"/>
        </a:buClr>
        <a:buSzPct val="80000"/>
        <a:buFont typeface="Wingdings" pitchFamily="2" charset="2"/>
        <a:buChar char="l"/>
        <a:defRPr sz="3200" kern="1200">
          <a:gradFill>
            <a:gsLst>
              <a:gs pos="0">
                <a:schemeClr val="tx1"/>
              </a:gs>
              <a:gs pos="86000">
                <a:schemeClr val="tx1"/>
              </a:gs>
            </a:gsLst>
            <a:lin ang="5400000" scaled="0"/>
          </a:gradFill>
          <a:latin typeface="+mn-lt"/>
          <a:ea typeface="+mn-ea"/>
          <a:cs typeface="+mn-cs"/>
        </a:defRPr>
      </a:lvl1pPr>
      <a:lvl2pPr marL="801688" indent="-407988" algn="l" defTabSz="914363" rtl="0" eaLnBrk="1" latinLnBrk="0" hangingPunct="1">
        <a:lnSpc>
          <a:spcPct val="78000"/>
        </a:lnSpc>
        <a:spcBef>
          <a:spcPct val="20000"/>
        </a:spcBef>
        <a:spcAft>
          <a:spcPts val="0"/>
        </a:spcAft>
        <a:buClr>
          <a:srgbClr val="969696"/>
        </a:buClr>
        <a:buSzPct val="80000"/>
        <a:buFont typeface="Wingdings" pitchFamily="2" charset="2"/>
        <a:buChar char="l"/>
        <a:defRPr sz="2800" kern="1200">
          <a:gradFill>
            <a:gsLst>
              <a:gs pos="0">
                <a:schemeClr val="tx1"/>
              </a:gs>
              <a:gs pos="86000">
                <a:schemeClr val="tx1"/>
              </a:gs>
            </a:gsLst>
            <a:lin ang="5400000" scaled="0"/>
          </a:gradFill>
          <a:latin typeface="+mn-lt"/>
          <a:ea typeface="+mn-ea"/>
          <a:cs typeface="+mn-cs"/>
        </a:defRPr>
      </a:lvl2pPr>
      <a:lvl3pPr marL="1146175" indent="-328613" algn="l" defTabSz="914363" rtl="0" eaLnBrk="1" latinLnBrk="0" hangingPunct="1">
        <a:lnSpc>
          <a:spcPct val="78000"/>
        </a:lnSpc>
        <a:spcBef>
          <a:spcPct val="20000"/>
        </a:spcBef>
        <a:spcAft>
          <a:spcPts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3pPr>
      <a:lvl4pPr marL="1484313" indent="-338138" algn="l" defTabSz="914363" rtl="0" eaLnBrk="1" latinLnBrk="0" hangingPunct="1">
        <a:lnSpc>
          <a:spcPct val="78000"/>
        </a:lnSpc>
        <a:spcBef>
          <a:spcPct val="20000"/>
        </a:spcBef>
        <a:spcAft>
          <a:spcPts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4pPr>
      <a:lvl5pPr marL="1812925" indent="-320675" algn="l" defTabSz="914363" rtl="0" eaLnBrk="1" latinLnBrk="0" hangingPunct="1">
        <a:lnSpc>
          <a:spcPct val="78000"/>
        </a:lnSpc>
        <a:spcBef>
          <a:spcPct val="20000"/>
        </a:spcBef>
        <a:spcAft>
          <a:spcPts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9/11/2026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88568265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amelcharolinesgn2/CCNA1" TargetMode="External"/><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1.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3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a:xfrm>
            <a:off x="1905000" y="1938311"/>
            <a:ext cx="10287000" cy="2387600"/>
          </a:xfrm>
        </p:spPr>
        <p:txBody>
          <a:bodyPr>
            <a:normAutofit/>
          </a:bodyPr>
          <a:lstStyle/>
          <a:p>
            <a:r>
              <a:rPr lang="en-US" b="1" dirty="0"/>
              <a:t>Cloud computing and </a:t>
            </a:r>
            <a:r>
              <a:rPr lang="en-US" b="1" dirty="0" err="1" smtClean="0"/>
              <a:t>Cloudsim</a:t>
            </a:r>
            <a:endParaRPr lang="en-US" dirty="0"/>
          </a:p>
        </p:txBody>
      </p:sp>
      <p:sp>
        <p:nvSpPr>
          <p:cNvPr id="14" name="Title 10"/>
          <p:cNvSpPr txBox="1">
            <a:spLocks/>
          </p:cNvSpPr>
          <p:nvPr/>
        </p:nvSpPr>
        <p:spPr>
          <a:xfrm>
            <a:off x="914400" y="5029200"/>
            <a:ext cx="9144000" cy="457200"/>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smtClean="0"/>
              <a:t>PDS</a:t>
            </a:r>
            <a:endParaRPr lang="en-US" dirty="0"/>
          </a:p>
        </p:txBody>
      </p:sp>
      <p:sp>
        <p:nvSpPr>
          <p:cNvPr id="13" name="Rectangle 12"/>
          <p:cNvSpPr/>
          <p:nvPr/>
        </p:nvSpPr>
        <p:spPr>
          <a:xfrm>
            <a:off x="9522882" y="6112162"/>
            <a:ext cx="2249334" cy="215444"/>
          </a:xfrm>
          <a:prstGeom prst="rect">
            <a:avLst/>
          </a:prstGeom>
        </p:spPr>
        <p:txBody>
          <a:bodyPr wrap="none">
            <a:spAutoFit/>
          </a:bodyPr>
          <a:lstStyle/>
          <a:p>
            <a:r>
              <a:rPr lang="en-US" sz="800" dirty="0"/>
              <a:t>https://</a:t>
            </a:r>
            <a:r>
              <a:rPr lang="en-US" sz="800" dirty="0" smtClean="0"/>
              <a:t>github.com/amelcharolinesgn2/CloudSim</a:t>
            </a:r>
            <a:endParaRPr lang="en-US" sz="800" dirty="0"/>
          </a:p>
        </p:txBody>
      </p:sp>
      <p:sp>
        <p:nvSpPr>
          <p:cNvPr id="5" name="Title 10"/>
          <p:cNvSpPr txBox="1">
            <a:spLocks/>
          </p:cNvSpPr>
          <p:nvPr/>
        </p:nvSpPr>
        <p:spPr>
          <a:xfrm>
            <a:off x="228600" y="260350"/>
            <a:ext cx="3505200" cy="80645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b="1" dirty="0" smtClean="0">
                <a:solidFill>
                  <a:srgbClr val="002060"/>
                </a:solidFill>
              </a:rPr>
              <a:t>PDS</a:t>
            </a:r>
            <a:endParaRPr lang="en-US" b="1" dirty="0">
              <a:solidFill>
                <a:srgbClr val="002060"/>
              </a:solidFill>
            </a:endParaRPr>
          </a:p>
        </p:txBody>
      </p:sp>
      <p:sp>
        <p:nvSpPr>
          <p:cNvPr id="6" name="Rectangle 5"/>
          <p:cNvSpPr/>
          <p:nvPr/>
        </p:nvSpPr>
        <p:spPr>
          <a:xfrm>
            <a:off x="9543124" y="5209609"/>
            <a:ext cx="2487830" cy="215444"/>
          </a:xfrm>
          <a:prstGeom prst="rect">
            <a:avLst/>
          </a:prstGeom>
        </p:spPr>
        <p:txBody>
          <a:bodyPr wrap="square">
            <a:spAutoFit/>
          </a:bodyPr>
          <a:lstStyle/>
          <a:p>
            <a:r>
              <a:rPr lang="en-US" sz="800" dirty="0"/>
              <a:t>https://www.youtube.com/@AmelOline/videos</a:t>
            </a:r>
          </a:p>
        </p:txBody>
      </p:sp>
      <p:sp>
        <p:nvSpPr>
          <p:cNvPr id="7" name="Rectangle 6"/>
          <p:cNvSpPr/>
          <p:nvPr/>
        </p:nvSpPr>
        <p:spPr>
          <a:xfrm>
            <a:off x="10332319" y="5071110"/>
            <a:ext cx="1545230" cy="215444"/>
          </a:xfrm>
          <a:prstGeom prst="rect">
            <a:avLst/>
          </a:prstGeom>
        </p:spPr>
        <p:txBody>
          <a:bodyPr wrap="square">
            <a:spAutoFit/>
          </a:bodyPr>
          <a:lstStyle/>
          <a:p>
            <a:r>
              <a:rPr lang="en-US" sz="800" dirty="0"/>
              <a:t>https://github.com/siagianp</a:t>
            </a:r>
          </a:p>
        </p:txBody>
      </p:sp>
      <p:sp>
        <p:nvSpPr>
          <p:cNvPr id="8" name="Rectangle 7"/>
          <p:cNvSpPr/>
          <p:nvPr/>
        </p:nvSpPr>
        <p:spPr>
          <a:xfrm>
            <a:off x="8617484" y="5348109"/>
            <a:ext cx="3490509" cy="215444"/>
          </a:xfrm>
          <a:prstGeom prst="rect">
            <a:avLst/>
          </a:prstGeom>
        </p:spPr>
        <p:txBody>
          <a:bodyPr wrap="square">
            <a:spAutoFit/>
          </a:bodyPr>
          <a:lstStyle/>
          <a:p>
            <a:r>
              <a:rPr lang="en-US" sz="800" dirty="0"/>
              <a:t>https://github.com/amelcharolinesgn2/IoT_simulator-mqtt-NodeRed</a:t>
            </a:r>
          </a:p>
        </p:txBody>
      </p:sp>
      <p:sp>
        <p:nvSpPr>
          <p:cNvPr id="9" name="Rectangle 8"/>
          <p:cNvSpPr/>
          <p:nvPr/>
        </p:nvSpPr>
        <p:spPr>
          <a:xfrm>
            <a:off x="9025524" y="5486608"/>
            <a:ext cx="2746692" cy="338554"/>
          </a:xfrm>
          <a:prstGeom prst="rect">
            <a:avLst/>
          </a:prstGeom>
        </p:spPr>
        <p:txBody>
          <a:bodyPr wrap="square">
            <a:spAutoFit/>
          </a:bodyPr>
          <a:lstStyle/>
          <a:p>
            <a:r>
              <a:rPr lang="en-US" sz="800" dirty="0"/>
              <a:t>https://github.com/amelcharolinesgn2/Cloud-Infrastructures</a:t>
            </a:r>
          </a:p>
        </p:txBody>
      </p:sp>
      <p:sp>
        <p:nvSpPr>
          <p:cNvPr id="10" name="Rectangle 9"/>
          <p:cNvSpPr/>
          <p:nvPr/>
        </p:nvSpPr>
        <p:spPr>
          <a:xfrm>
            <a:off x="8521016" y="5602024"/>
            <a:ext cx="3286814" cy="338554"/>
          </a:xfrm>
          <a:prstGeom prst="rect">
            <a:avLst/>
          </a:prstGeom>
        </p:spPr>
        <p:txBody>
          <a:bodyPr wrap="square">
            <a:spAutoFit/>
          </a:bodyPr>
          <a:lstStyle/>
          <a:p>
            <a:r>
              <a:rPr lang="en-US" sz="800" dirty="0"/>
              <a:t>https://github.com/amelcharolinesgn2/ClouD-Infrastructure-SISKA-2025</a:t>
            </a:r>
          </a:p>
        </p:txBody>
      </p:sp>
      <p:sp>
        <p:nvSpPr>
          <p:cNvPr id="12" name="Rectangle 11"/>
          <p:cNvSpPr/>
          <p:nvPr/>
        </p:nvSpPr>
        <p:spPr>
          <a:xfrm>
            <a:off x="8275534" y="5723350"/>
            <a:ext cx="3537184" cy="214178"/>
          </a:xfrm>
          <a:prstGeom prst="rect">
            <a:avLst/>
          </a:prstGeom>
        </p:spPr>
        <p:txBody>
          <a:bodyPr wrap="square">
            <a:spAutoFit/>
          </a:bodyPr>
          <a:lstStyle/>
          <a:p>
            <a:r>
              <a:rPr lang="en-US" sz="800" dirty="0"/>
              <a:t>https://github.com/amelcharolinesgn2/Gyroscope-Sensor-Data-Accelerometer</a:t>
            </a:r>
          </a:p>
        </p:txBody>
      </p:sp>
      <p:sp>
        <p:nvSpPr>
          <p:cNvPr id="15" name="Rectangle 14"/>
          <p:cNvSpPr/>
          <p:nvPr/>
        </p:nvSpPr>
        <p:spPr>
          <a:xfrm>
            <a:off x="9538073" y="5845909"/>
            <a:ext cx="2598495" cy="215444"/>
          </a:xfrm>
          <a:prstGeom prst="rect">
            <a:avLst/>
          </a:prstGeom>
        </p:spPr>
        <p:txBody>
          <a:bodyPr wrap="square">
            <a:spAutoFit/>
          </a:bodyPr>
          <a:lstStyle/>
          <a:p>
            <a:r>
              <a:rPr lang="en-US" sz="800" dirty="0"/>
              <a:t>https://</a:t>
            </a:r>
            <a:r>
              <a:rPr lang="en-US" sz="800" dirty="0" smtClean="0"/>
              <a:t>github.com/amelcharolinesgn2/cloudSim</a:t>
            </a:r>
            <a:endParaRPr lang="en-US" sz="800" dirty="0"/>
          </a:p>
        </p:txBody>
      </p:sp>
      <p:sp>
        <p:nvSpPr>
          <p:cNvPr id="16" name="Rectangle 15"/>
          <p:cNvSpPr/>
          <p:nvPr/>
        </p:nvSpPr>
        <p:spPr>
          <a:xfrm>
            <a:off x="9604748" y="5941159"/>
            <a:ext cx="2598495" cy="215444"/>
          </a:xfrm>
          <a:prstGeom prst="rect">
            <a:avLst/>
          </a:prstGeom>
        </p:spPr>
        <p:txBody>
          <a:bodyPr wrap="square">
            <a:spAutoFit/>
          </a:bodyPr>
          <a:lstStyle/>
          <a:p>
            <a:r>
              <a:rPr lang="en-US" sz="800" dirty="0">
                <a:hlinkClick r:id="rId3"/>
              </a:rPr>
              <a:t>https://</a:t>
            </a:r>
            <a:r>
              <a:rPr lang="en-US" sz="800" dirty="0" smtClean="0">
                <a:hlinkClick r:id="rId3"/>
              </a:rPr>
              <a:t>github.com/amelcharolinesgn2/CCNA 1</a:t>
            </a:r>
            <a:r>
              <a:rPr lang="en-US" sz="800" dirty="0" smtClean="0"/>
              <a:t>    </a:t>
            </a:r>
            <a:endParaRPr lang="en-US" sz="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user-images.githubusercontent.com/74038190/212748842-9fcbad5b-6173-4175-8a61-521f3dbb7514.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92374"/>
            <a:ext cx="8382000" cy="662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7815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Shape 1"/>
          <p:cNvSpPr txBox="1"/>
          <p:nvPr/>
        </p:nvSpPr>
        <p:spPr>
          <a:xfrm>
            <a:off x="381000" y="152280"/>
            <a:ext cx="9603000" cy="451800"/>
          </a:xfrm>
          <a:prstGeom prst="rect">
            <a:avLst/>
          </a:prstGeom>
          <a:noFill/>
          <a:ln>
            <a:noFill/>
          </a:ln>
        </p:spPr>
        <p:txBody>
          <a:bodyPr lIns="90000" tIns="46800" rIns="90000" bIns="46800"/>
          <a:lstStyle/>
          <a:p>
            <a:r>
              <a:rPr lang="en-US" sz="1100" spc="-1" dirty="0" err="1">
                <a:solidFill>
                  <a:srgbClr val="000000"/>
                </a:solidFill>
                <a:latin typeface="Arial"/>
              </a:rPr>
              <a:t>CloudSim</a:t>
            </a:r>
            <a:r>
              <a:rPr lang="en-US" sz="1100" spc="-1" dirty="0">
                <a:solidFill>
                  <a:srgbClr val="000000"/>
                </a:solidFill>
                <a:latin typeface="Arial"/>
              </a:rPr>
              <a:t> 7G: An Integrated Toolkit for Modeling and Simulation of Future Generation Cloud Computing Environments</a:t>
            </a:r>
          </a:p>
        </p:txBody>
      </p:sp>
      <p:pic>
        <p:nvPicPr>
          <p:cNvPr id="46" name="Main graphic"/>
          <p:cNvPicPr/>
          <p:nvPr/>
        </p:nvPicPr>
        <p:blipFill>
          <a:blip r:embed="rId3"/>
          <a:stretch/>
        </p:blipFill>
        <p:spPr>
          <a:xfrm>
            <a:off x="1828800" y="911640"/>
            <a:ext cx="7086600" cy="4267200"/>
          </a:xfrm>
          <a:prstGeom prst="rect">
            <a:avLst/>
          </a:prstGeom>
          <a:ln>
            <a:noFill/>
          </a:ln>
        </p:spPr>
      </p:pic>
      <p:sp>
        <p:nvSpPr>
          <p:cNvPr id="2" name="Rectangle 1"/>
          <p:cNvSpPr/>
          <p:nvPr/>
        </p:nvSpPr>
        <p:spPr>
          <a:xfrm>
            <a:off x="3505200" y="5486400"/>
            <a:ext cx="3320076" cy="369332"/>
          </a:xfrm>
          <a:prstGeom prst="rect">
            <a:avLst/>
          </a:prstGeom>
        </p:spPr>
        <p:txBody>
          <a:bodyPr wrap="none">
            <a:spAutoFit/>
          </a:bodyPr>
          <a:lstStyle/>
          <a:p>
            <a:r>
              <a:rPr lang="en-US" dirty="0" smtClean="0"/>
              <a:t>Fig.1.  The </a:t>
            </a:r>
            <a:r>
              <a:rPr lang="en-US" dirty="0"/>
              <a:t>evolution of </a:t>
            </a:r>
            <a:r>
              <a:rPr lang="en-US" dirty="0" err="1"/>
              <a:t>CloudSim</a:t>
            </a:r>
            <a:r>
              <a:rPr lang="en-US" dirty="0"/>
              <a:t>.</a:t>
            </a:r>
          </a:p>
        </p:txBody>
      </p:sp>
    </p:spTree>
    <p:extLst>
      <p:ext uri="{BB962C8B-B14F-4D97-AF65-F5344CB8AC3E}">
        <p14:creationId xmlns:p14="http://schemas.microsoft.com/office/powerpoint/2010/main" val="3588905714"/>
      </p:ext>
    </p:extLst>
  </p:cSld>
  <p:clrMapOvr>
    <a:masterClrMapping/>
  </p:clrMapOvr>
  <p:transition>
    <p:wipe dir="r"/>
  </p:transition>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Shape 1"/>
          <p:cNvSpPr txBox="1"/>
          <p:nvPr/>
        </p:nvSpPr>
        <p:spPr>
          <a:xfrm>
            <a:off x="2784000" y="152280"/>
            <a:ext cx="7200000" cy="451800"/>
          </a:xfrm>
          <a:prstGeom prst="rect">
            <a:avLst/>
          </a:prstGeom>
          <a:noFill/>
          <a:ln>
            <a:noFill/>
          </a:ln>
        </p:spPr>
        <p:txBody>
          <a:bodyPr lIns="90000" tIns="46800" rIns="90000" bIns="46800"/>
          <a:lstStyle/>
          <a:p>
            <a:r>
              <a:rPr lang="en-US" sz="1100" spc="-1">
                <a:solidFill>
                  <a:srgbClr val="000000"/>
                </a:solidFill>
                <a:latin typeface="Arial"/>
              </a:rPr>
              <a:t>CloudSim 7G: An Integrated Toolkit for Modeling and Simulation of Future Generation Cloud Computing Environments</a:t>
            </a:r>
          </a:p>
        </p:txBody>
      </p:sp>
      <p:pic>
        <p:nvPicPr>
          <p:cNvPr id="46" name="Main graphic"/>
          <p:cNvPicPr/>
          <p:nvPr/>
        </p:nvPicPr>
        <p:blipFill>
          <a:blip r:embed="rId3"/>
          <a:stretch/>
        </p:blipFill>
        <p:spPr>
          <a:xfrm>
            <a:off x="2946360" y="972000"/>
            <a:ext cx="6350040" cy="3389760"/>
          </a:xfrm>
          <a:prstGeom prst="rect">
            <a:avLst/>
          </a:prstGeom>
          <a:ln>
            <a:noFill/>
          </a:ln>
        </p:spPr>
      </p:pic>
    </p:spTree>
    <p:extLst>
      <p:ext uri="{BB962C8B-B14F-4D97-AF65-F5344CB8AC3E}">
        <p14:creationId xmlns:p14="http://schemas.microsoft.com/office/powerpoint/2010/main" val="4153556214"/>
      </p:ext>
    </p:extLst>
  </p:cSld>
  <p:clrMapOvr>
    <a:masterClrMapping/>
  </p:clrMapOvr>
  <p:transition>
    <p:wipe dir="r"/>
  </p:transition>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Shape 1"/>
          <p:cNvSpPr txBox="1"/>
          <p:nvPr/>
        </p:nvSpPr>
        <p:spPr>
          <a:xfrm>
            <a:off x="2784000" y="152280"/>
            <a:ext cx="7200000" cy="451800"/>
          </a:xfrm>
          <a:prstGeom prst="rect">
            <a:avLst/>
          </a:prstGeom>
          <a:noFill/>
          <a:ln>
            <a:noFill/>
          </a:ln>
        </p:spPr>
        <p:txBody>
          <a:bodyPr lIns="90000" tIns="46800" rIns="90000" bIns="46800"/>
          <a:lstStyle/>
          <a:p>
            <a:r>
              <a:rPr lang="en-US" sz="1100" spc="-1">
                <a:solidFill>
                  <a:srgbClr val="000000"/>
                </a:solidFill>
                <a:latin typeface="Arial"/>
              </a:rPr>
              <a:t>CloudSim 7G: An Integrated Toolkit for Modeling and Simulation of Future Generation Cloud Computing Environments</a:t>
            </a:r>
          </a:p>
        </p:txBody>
      </p:sp>
      <p:pic>
        <p:nvPicPr>
          <p:cNvPr id="46" name="Main graphic"/>
          <p:cNvPicPr/>
          <p:nvPr/>
        </p:nvPicPr>
        <p:blipFill>
          <a:blip r:embed="rId3"/>
          <a:stretch/>
        </p:blipFill>
        <p:spPr>
          <a:xfrm>
            <a:off x="3075600" y="762120"/>
            <a:ext cx="6091200" cy="3809880"/>
          </a:xfrm>
          <a:prstGeom prst="rect">
            <a:avLst/>
          </a:prstGeom>
          <a:ln>
            <a:noFill/>
          </a:ln>
        </p:spPr>
      </p:pic>
    </p:spTree>
    <p:extLst>
      <p:ext uri="{BB962C8B-B14F-4D97-AF65-F5344CB8AC3E}">
        <p14:creationId xmlns:p14="http://schemas.microsoft.com/office/powerpoint/2010/main" val="2574461358"/>
      </p:ext>
    </p:extLst>
  </p:cSld>
  <p:clrMapOvr>
    <a:masterClrMapping/>
  </p:clrMapOvr>
  <p:transition>
    <p:wipe dir="r"/>
  </p:transition>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Shape 1"/>
          <p:cNvSpPr txBox="1"/>
          <p:nvPr/>
        </p:nvSpPr>
        <p:spPr>
          <a:xfrm>
            <a:off x="2784000" y="152280"/>
            <a:ext cx="7200000" cy="451800"/>
          </a:xfrm>
          <a:prstGeom prst="rect">
            <a:avLst/>
          </a:prstGeom>
          <a:noFill/>
          <a:ln>
            <a:noFill/>
          </a:ln>
        </p:spPr>
        <p:txBody>
          <a:bodyPr lIns="90000" tIns="46800" rIns="90000" bIns="46800"/>
          <a:lstStyle/>
          <a:p>
            <a:r>
              <a:rPr lang="en-US" sz="1100" spc="-1">
                <a:solidFill>
                  <a:srgbClr val="000000"/>
                </a:solidFill>
                <a:latin typeface="Arial"/>
              </a:rPr>
              <a:t>CloudSim 7G: An Integrated Toolkit for Modeling and Simulation of Future Generation Cloud Computing Environments</a:t>
            </a:r>
          </a:p>
        </p:txBody>
      </p:sp>
      <p:sp>
        <p:nvSpPr>
          <p:cNvPr id="45" name="TextShape 2"/>
          <p:cNvSpPr txBox="1"/>
          <p:nvPr/>
        </p:nvSpPr>
        <p:spPr>
          <a:xfrm>
            <a:off x="1884000" y="5940000"/>
            <a:ext cx="8640000" cy="451800"/>
          </a:xfrm>
          <a:prstGeom prst="rect">
            <a:avLst/>
          </a:prstGeom>
          <a:noFill/>
          <a:ln>
            <a:noFill/>
          </a:ln>
        </p:spPr>
        <p:txBody>
          <a:bodyPr lIns="90000" tIns="45000" rIns="90000" bIns="45000"/>
          <a:lstStyle/>
          <a:p>
            <a:r>
              <a:rPr lang="en-US" sz="800" b="1" spc="-1">
                <a:solidFill>
                  <a:srgbClr val="0054A6"/>
                </a:solidFill>
                <a:latin typeface="Arial"/>
              </a:rPr>
              <a:t>Softw Pract Exp, Volume: 55, Issue: 6, Pages: 1041-1058, First published: 04 February 2025, DOI: (10.1002/spe.3413) </a:t>
            </a:r>
            <a:endParaRPr lang="en-US" sz="800" spc="-1">
              <a:solidFill>
                <a:srgbClr val="000000"/>
              </a:solidFill>
              <a:latin typeface="Arial"/>
            </a:endParaRPr>
          </a:p>
        </p:txBody>
      </p:sp>
      <p:pic>
        <p:nvPicPr>
          <p:cNvPr id="46" name="Main graphic"/>
          <p:cNvPicPr/>
          <p:nvPr/>
        </p:nvPicPr>
        <p:blipFill>
          <a:blip r:embed="rId3"/>
          <a:stretch/>
        </p:blipFill>
        <p:spPr>
          <a:xfrm>
            <a:off x="3227880" y="762120"/>
            <a:ext cx="5787000" cy="3809880"/>
          </a:xfrm>
          <a:prstGeom prst="rect">
            <a:avLst/>
          </a:prstGeom>
          <a:ln>
            <a:noFill/>
          </a:ln>
        </p:spPr>
      </p:pic>
    </p:spTree>
    <p:extLst>
      <p:ext uri="{BB962C8B-B14F-4D97-AF65-F5344CB8AC3E}">
        <p14:creationId xmlns:p14="http://schemas.microsoft.com/office/powerpoint/2010/main" val="2105996661"/>
      </p:ext>
    </p:extLst>
  </p:cSld>
  <p:clrMapOvr>
    <a:masterClrMapping/>
  </p:clrMapOvr>
  <p:transition>
    <p:wipe dir="r"/>
  </p:transition>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3581400" y="457200"/>
            <a:ext cx="9353550" cy="6280050"/>
          </a:xfrm>
          <a:prstGeom prst="rect">
            <a:avLst/>
          </a:prstGeom>
        </p:spPr>
      </p:pic>
    </p:spTree>
    <p:extLst>
      <p:ext uri="{BB962C8B-B14F-4D97-AF65-F5344CB8AC3E}">
        <p14:creationId xmlns:p14="http://schemas.microsoft.com/office/powerpoint/2010/main" val="40095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685077" cy="369332"/>
          </a:xfrm>
          <a:prstGeom prst="rect">
            <a:avLst/>
          </a:prstGeom>
        </p:spPr>
        <p:txBody>
          <a:bodyPr wrap="none">
            <a:spAutoFit/>
          </a:bodyPr>
          <a:lstStyle/>
          <a:p>
            <a:r>
              <a:rPr lang="en-US" b="1" dirty="0" smtClean="0">
                <a:latin typeface="+mj-lt"/>
              </a:rPr>
              <a:t>1. </a:t>
            </a:r>
            <a:r>
              <a:rPr lang="en-US" b="1" dirty="0" err="1" smtClean="0">
                <a:latin typeface="+mj-lt"/>
              </a:rPr>
              <a:t>CloudSim</a:t>
            </a:r>
            <a:r>
              <a:rPr lang="en-US" b="1" dirty="0" smtClean="0">
                <a:latin typeface="+mj-lt"/>
              </a:rPr>
              <a:t> </a:t>
            </a:r>
            <a:r>
              <a:rPr lang="en-US" b="1" dirty="0">
                <a:latin typeface="+mj-lt"/>
              </a:rPr>
              <a:t>Plus</a:t>
            </a:r>
          </a:p>
        </p:txBody>
      </p:sp>
      <p:sp>
        <p:nvSpPr>
          <p:cNvPr id="3" name="Rectangle 2"/>
          <p:cNvSpPr/>
          <p:nvPr/>
        </p:nvSpPr>
        <p:spPr>
          <a:xfrm>
            <a:off x="914400" y="1219200"/>
            <a:ext cx="10287000" cy="830997"/>
          </a:xfrm>
          <a:prstGeom prst="rect">
            <a:avLst/>
          </a:prstGeom>
        </p:spPr>
        <p:txBody>
          <a:bodyPr wrap="square">
            <a:spAutoFit/>
          </a:bodyPr>
          <a:lstStyle/>
          <a:p>
            <a:r>
              <a:rPr lang="en-US" sz="2400" b="1" dirty="0" err="1"/>
              <a:t>CloudSim</a:t>
            </a:r>
            <a:r>
              <a:rPr lang="en-US" sz="2400" b="1" dirty="0"/>
              <a:t>: A Framework For Modeling And Simulation Of Cloud Computing Infrastructures And Services</a:t>
            </a:r>
          </a:p>
        </p:txBody>
      </p:sp>
      <p:pic>
        <p:nvPicPr>
          <p:cNvPr id="7" name="Picture 6"/>
          <p:cNvPicPr>
            <a:picLocks noChangeAspect="1"/>
          </p:cNvPicPr>
          <p:nvPr/>
        </p:nvPicPr>
        <p:blipFill>
          <a:blip r:embed="rId3"/>
          <a:stretch>
            <a:fillRect/>
          </a:stretch>
        </p:blipFill>
        <p:spPr>
          <a:xfrm>
            <a:off x="3136106" y="2209800"/>
            <a:ext cx="5919787" cy="4199698"/>
          </a:xfrm>
          <a:prstGeom prst="rect">
            <a:avLst/>
          </a:prstGeom>
        </p:spPr>
      </p:pic>
    </p:spTree>
    <p:extLst>
      <p:ext uri="{BB962C8B-B14F-4D97-AF65-F5344CB8AC3E}">
        <p14:creationId xmlns:p14="http://schemas.microsoft.com/office/powerpoint/2010/main" val="1826796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sp>
        <p:nvSpPr>
          <p:cNvPr id="3" name="Rectangle 2"/>
          <p:cNvSpPr/>
          <p:nvPr/>
        </p:nvSpPr>
        <p:spPr>
          <a:xfrm>
            <a:off x="381000" y="1066800"/>
            <a:ext cx="1076064" cy="369332"/>
          </a:xfrm>
          <a:prstGeom prst="rect">
            <a:avLst/>
          </a:prstGeom>
        </p:spPr>
        <p:txBody>
          <a:bodyPr wrap="none">
            <a:spAutoFit/>
          </a:bodyPr>
          <a:lstStyle/>
          <a:p>
            <a:r>
              <a:rPr lang="en-US" b="1" dirty="0" err="1" smtClean="0">
                <a:latin typeface="+mj-lt"/>
              </a:rPr>
              <a:t>Arsitektur</a:t>
            </a:r>
            <a:endParaRPr lang="en-US" b="1" dirty="0">
              <a:latin typeface="+mj-lt"/>
            </a:endParaRPr>
          </a:p>
        </p:txBody>
      </p:sp>
      <p:pic>
        <p:nvPicPr>
          <p:cNvPr id="4" name="Picture 3"/>
          <p:cNvPicPr>
            <a:picLocks noChangeAspect="1"/>
          </p:cNvPicPr>
          <p:nvPr/>
        </p:nvPicPr>
        <p:blipFill>
          <a:blip r:embed="rId3"/>
          <a:stretch>
            <a:fillRect/>
          </a:stretch>
        </p:blipFill>
        <p:spPr>
          <a:xfrm>
            <a:off x="381000" y="1676400"/>
            <a:ext cx="7267861" cy="2914650"/>
          </a:xfrm>
          <a:prstGeom prst="rect">
            <a:avLst/>
          </a:prstGeom>
        </p:spPr>
      </p:pic>
      <p:sp>
        <p:nvSpPr>
          <p:cNvPr id="5" name="Rectangle 4"/>
          <p:cNvSpPr/>
          <p:nvPr/>
        </p:nvSpPr>
        <p:spPr>
          <a:xfrm>
            <a:off x="7648861" y="1066800"/>
            <a:ext cx="4390739" cy="4832092"/>
          </a:xfrm>
          <a:prstGeom prst="rect">
            <a:avLst/>
          </a:prstGeom>
        </p:spPr>
        <p:txBody>
          <a:bodyPr wrap="square">
            <a:spAutoFit/>
          </a:bodyPr>
          <a:lstStyle/>
          <a:p>
            <a:pPr algn="just"/>
            <a:r>
              <a:rPr lang="en-US" sz="1400" dirty="0"/>
              <a:t>We Split the Job into three different tasks: Mapper, Reducer and </a:t>
            </a:r>
            <a:r>
              <a:rPr lang="en-US" sz="1400" dirty="0" err="1"/>
              <a:t>ResourceManager</a:t>
            </a:r>
            <a:r>
              <a:rPr lang="en-US" sz="1400" dirty="0"/>
              <a:t>.</a:t>
            </a:r>
          </a:p>
          <a:p>
            <a:pPr algn="just"/>
            <a:endParaRPr lang="en-US" sz="1400" dirty="0"/>
          </a:p>
          <a:p>
            <a:pPr algn="just"/>
            <a:r>
              <a:rPr lang="en-US" sz="1400" dirty="0"/>
              <a:t>Mappers: Defines an individual mapper which will work on a particular file split and executes the map task [</a:t>
            </a:r>
            <a:r>
              <a:rPr lang="en-US" sz="1400" dirty="0" err="1"/>
              <a:t>CloudletExecutionTask</a:t>
            </a:r>
            <a:r>
              <a:rPr lang="en-US" sz="1400" dirty="0"/>
              <a:t>]. After done with execution it will emit/write the map result simulated using the [</a:t>
            </a:r>
            <a:r>
              <a:rPr lang="en-US" sz="1400" dirty="0" err="1"/>
              <a:t>CloudletSendTask</a:t>
            </a:r>
            <a:r>
              <a:rPr lang="en-US" sz="1400" dirty="0"/>
              <a:t>].</a:t>
            </a:r>
          </a:p>
          <a:p>
            <a:pPr algn="just"/>
            <a:endParaRPr lang="en-US" sz="1400" dirty="0"/>
          </a:p>
          <a:p>
            <a:pPr algn="just"/>
            <a:r>
              <a:rPr lang="en-US" sz="1400" dirty="0"/>
              <a:t>Reducers: Defines an individual reducer task which will take the output written by the mapper from the intermediate storage, processes it and writes/persists to the output node.</a:t>
            </a:r>
          </a:p>
          <a:p>
            <a:pPr algn="just"/>
            <a:endParaRPr lang="en-US" sz="1400" dirty="0"/>
          </a:p>
          <a:p>
            <a:pPr algn="just"/>
            <a:r>
              <a:rPr lang="en-US" sz="1400" dirty="0"/>
              <a:t>Resource Manager: Models a resource manager, which takes in the Job requests allocated/schedules the jobs among the different available nodes as specified by the job conf.</a:t>
            </a:r>
          </a:p>
          <a:p>
            <a:pPr algn="just"/>
            <a:endParaRPr lang="en-US" sz="1400" dirty="0"/>
          </a:p>
          <a:p>
            <a:pPr algn="just"/>
            <a:r>
              <a:rPr lang="en-US" sz="1400" dirty="0"/>
              <a:t>Worker Nodes and VMs: Each of the above cloudlets are executed on these worker nodes which are nothing but the VMs allocated to the job by the resource manager.</a:t>
            </a:r>
          </a:p>
        </p:txBody>
      </p:sp>
    </p:spTree>
    <p:extLst>
      <p:ext uri="{BB962C8B-B14F-4D97-AF65-F5344CB8AC3E}">
        <p14:creationId xmlns:p14="http://schemas.microsoft.com/office/powerpoint/2010/main" val="1586693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pic>
        <p:nvPicPr>
          <p:cNvPr id="3" name="Picture 2"/>
          <p:cNvPicPr>
            <a:picLocks noChangeAspect="1"/>
          </p:cNvPicPr>
          <p:nvPr/>
        </p:nvPicPr>
        <p:blipFill>
          <a:blip r:embed="rId3"/>
          <a:stretch>
            <a:fillRect/>
          </a:stretch>
        </p:blipFill>
        <p:spPr>
          <a:xfrm>
            <a:off x="381000" y="1219200"/>
            <a:ext cx="7048500" cy="3661304"/>
          </a:xfrm>
          <a:prstGeom prst="rect">
            <a:avLst/>
          </a:prstGeom>
        </p:spPr>
      </p:pic>
      <p:sp>
        <p:nvSpPr>
          <p:cNvPr id="4" name="Rectangle 3"/>
          <p:cNvSpPr/>
          <p:nvPr/>
        </p:nvSpPr>
        <p:spPr>
          <a:xfrm>
            <a:off x="7772400" y="826532"/>
            <a:ext cx="4114800" cy="2677656"/>
          </a:xfrm>
          <a:prstGeom prst="rect">
            <a:avLst/>
          </a:prstGeom>
        </p:spPr>
        <p:txBody>
          <a:bodyPr wrap="square">
            <a:spAutoFit/>
          </a:bodyPr>
          <a:lstStyle/>
          <a:p>
            <a:pPr algn="just"/>
            <a:r>
              <a:rPr lang="en-US" sz="1400" dirty="0"/>
              <a:t>A </a:t>
            </a:r>
            <a:r>
              <a:rPr lang="en-US" sz="1400" dirty="0" err="1"/>
              <a:t>Webservice</a:t>
            </a:r>
            <a:r>
              <a:rPr lang="en-US" sz="1400" dirty="0"/>
              <a:t> job simulates the execution of Dynamic User requests in the form of dynamic arrival of cloudlets using a Uniform Distribution prediction. These dynamic User requests are submitted to Data Center Broker, who decides the allocation of these cloudlets on to the VM using the custom min-min and max-min scheduling and load balancing policy.</a:t>
            </a:r>
          </a:p>
          <a:p>
            <a:pPr algn="just"/>
            <a:endParaRPr lang="en-US" sz="1400" dirty="0"/>
          </a:p>
          <a:p>
            <a:pPr algn="just"/>
            <a:r>
              <a:rPr lang="en-US" sz="1400" dirty="0"/>
              <a:t>The execution of these jobs for different cloud architectures has been compared and the results been analyzed to choose an optimum architecture with a greater return on investments.</a:t>
            </a:r>
          </a:p>
        </p:txBody>
      </p:sp>
    </p:spTree>
    <p:extLst>
      <p:ext uri="{BB962C8B-B14F-4D97-AF65-F5344CB8AC3E}">
        <p14:creationId xmlns:p14="http://schemas.microsoft.com/office/powerpoint/2010/main" val="1605552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sp>
        <p:nvSpPr>
          <p:cNvPr id="3" name="Rectangle 2"/>
          <p:cNvSpPr/>
          <p:nvPr/>
        </p:nvSpPr>
        <p:spPr>
          <a:xfrm>
            <a:off x="405984" y="797801"/>
            <a:ext cx="2698175" cy="369332"/>
          </a:xfrm>
          <a:prstGeom prst="rect">
            <a:avLst/>
          </a:prstGeom>
        </p:spPr>
        <p:txBody>
          <a:bodyPr wrap="none">
            <a:spAutoFit/>
          </a:bodyPr>
          <a:lstStyle/>
          <a:p>
            <a:r>
              <a:rPr lang="en-US" dirty="0">
                <a:solidFill>
                  <a:srgbClr val="474747"/>
                </a:solidFill>
                <a:latin typeface="Architects Daughter"/>
              </a:rPr>
              <a:t>Main Exclusive </a:t>
            </a:r>
            <a:r>
              <a:rPr lang="en-US" dirty="0" smtClean="0">
                <a:solidFill>
                  <a:srgbClr val="474747"/>
                </a:solidFill>
                <a:latin typeface="Architects Daughter"/>
              </a:rPr>
              <a:t>Features</a:t>
            </a:r>
            <a:endParaRPr lang="en-US" b="0" i="0" dirty="0">
              <a:solidFill>
                <a:srgbClr val="474747"/>
              </a:solidFill>
              <a:effectLst/>
              <a:latin typeface="Architects Daughter"/>
            </a:endParaRPr>
          </a:p>
        </p:txBody>
      </p:sp>
      <p:sp>
        <p:nvSpPr>
          <p:cNvPr id="4" name="Rectangle 3"/>
          <p:cNvSpPr/>
          <p:nvPr/>
        </p:nvSpPr>
        <p:spPr>
          <a:xfrm>
            <a:off x="440960" y="1081126"/>
            <a:ext cx="6264639" cy="923330"/>
          </a:xfrm>
          <a:prstGeom prst="rect">
            <a:avLst/>
          </a:prstGeom>
        </p:spPr>
        <p:txBody>
          <a:bodyPr wrap="square">
            <a:spAutoFit/>
          </a:bodyPr>
          <a:lstStyle/>
          <a:p>
            <a:pPr algn="just"/>
            <a:r>
              <a:rPr lang="en-US" dirty="0" err="1"/>
              <a:t>CloudSim</a:t>
            </a:r>
            <a:r>
              <a:rPr lang="en-US" dirty="0"/>
              <a:t> Plus provides lots of exclusive features, from the most basic ones to build simple simulations, to advanced features for simulating more realistic cloud scenarios:</a:t>
            </a:r>
          </a:p>
        </p:txBody>
      </p:sp>
      <p:sp>
        <p:nvSpPr>
          <p:cNvPr id="5" name="Rectangle 4"/>
          <p:cNvSpPr/>
          <p:nvPr/>
        </p:nvSpPr>
        <p:spPr>
          <a:xfrm>
            <a:off x="609600" y="2001958"/>
            <a:ext cx="11811000" cy="4616648"/>
          </a:xfrm>
          <a:prstGeom prst="rect">
            <a:avLst/>
          </a:prstGeom>
        </p:spPr>
        <p:txBody>
          <a:bodyPr wrap="square">
            <a:spAutoFit/>
          </a:bodyPr>
          <a:lstStyle/>
          <a:p>
            <a:pPr marL="228600" indent="-228600" algn="just">
              <a:buFont typeface="+mj-lt"/>
              <a:buAutoNum type="arabicPeriod"/>
            </a:pPr>
            <a:r>
              <a:rPr lang="en-US" sz="1050" dirty="0"/>
              <a:t>It is easier to use. A complete and easy-to-understand simulation scenario can be built in few lines of code.</a:t>
            </a:r>
          </a:p>
          <a:p>
            <a:pPr marL="228600" indent="-228600" algn="just">
              <a:buFont typeface="+mj-lt"/>
              <a:buAutoNum type="arabicPeriod"/>
            </a:pPr>
            <a:r>
              <a:rPr lang="en-US" sz="1050" dirty="0"/>
              <a:t>Multi-cloud simulations with inter-datacenter VM migrations (#361).</a:t>
            </a:r>
          </a:p>
          <a:p>
            <a:pPr marL="228600" indent="-228600" algn="just">
              <a:buFont typeface="+mj-lt"/>
              <a:buAutoNum type="arabicPeriod"/>
            </a:pPr>
            <a:r>
              <a:rPr lang="en-US" sz="1050" dirty="0"/>
              <a:t>Creation of joint power- and network-aware simulations (#45).</a:t>
            </a:r>
          </a:p>
          <a:p>
            <a:pPr marL="228600" indent="-228600" algn="just">
              <a:buFont typeface="+mj-lt"/>
              <a:buAutoNum type="arabicPeriod"/>
            </a:pPr>
            <a:r>
              <a:rPr lang="en-US" sz="1050" dirty="0"/>
              <a:t>Vertical (#7) and Horizontal VM scaling (#41).</a:t>
            </a:r>
          </a:p>
          <a:p>
            <a:pPr marL="228600" indent="-228600" algn="just">
              <a:buFont typeface="+mj-lt"/>
              <a:buAutoNum type="arabicPeriod"/>
            </a:pPr>
            <a:r>
              <a:rPr lang="en-US" sz="1050" dirty="0"/>
              <a:t>Highly accurate power usage computation (#153).</a:t>
            </a:r>
          </a:p>
          <a:p>
            <a:pPr marL="228600" indent="-228600" algn="just">
              <a:buFont typeface="+mj-lt"/>
              <a:buAutoNum type="arabicPeriod"/>
            </a:pPr>
            <a:r>
              <a:rPr lang="en-US" sz="1050" dirty="0"/>
              <a:t>Built-in computation of CPU utilization history and energy consumption for VMs (and Hosts) (#168).</a:t>
            </a:r>
          </a:p>
          <a:p>
            <a:pPr marL="228600" indent="-228600" algn="just">
              <a:buFont typeface="+mj-lt"/>
              <a:buAutoNum type="arabicPeriod"/>
            </a:pPr>
            <a:r>
              <a:rPr lang="en-US" sz="1050" dirty="0"/>
              <a:t>Virtual Memory and Reduced bandwidth allocation when RAM and BW are oversubscribed. (#170).</a:t>
            </a:r>
          </a:p>
          <a:p>
            <a:pPr marL="228600" indent="-228600" algn="just">
              <a:buFont typeface="+mj-lt"/>
              <a:buAutoNum type="arabicPeriod"/>
            </a:pPr>
            <a:r>
              <a:rPr lang="en-US" sz="1050" dirty="0"/>
              <a:t>Automatically power Hosts on and off according to demand (#128) and support defining a startup and shutdown delay/power consumption (#238).</a:t>
            </a:r>
          </a:p>
          <a:p>
            <a:pPr marL="228600" indent="-228600" algn="just">
              <a:buFont typeface="+mj-lt"/>
              <a:buAutoNum type="arabicPeriod"/>
            </a:pPr>
            <a:r>
              <a:rPr lang="en-US" sz="1050" dirty="0"/>
              <a:t>Parallel execution of simulations in multi-core computers, allowing multiple simulations to be run simultaneously in an isolated way (#38).</a:t>
            </a:r>
          </a:p>
          <a:p>
            <a:pPr marL="228600" indent="-228600" algn="just">
              <a:buFont typeface="+mj-lt"/>
              <a:buAutoNum type="arabicPeriod"/>
            </a:pPr>
            <a:r>
              <a:rPr lang="en-US" sz="1050" dirty="0"/>
              <a:t>Delay creation of submitted VMs and Cloudlets, enabling simulation of dynamic arrival of tasks (#11, #23).</a:t>
            </a:r>
          </a:p>
          <a:p>
            <a:pPr marL="228600" indent="-228600" algn="just">
              <a:buFont typeface="+mj-lt"/>
              <a:buAutoNum type="arabicPeriod"/>
            </a:pPr>
            <a:r>
              <a:rPr lang="en-US" sz="1050" dirty="0"/>
              <a:t>Allow dynamic creation of VMs and Cloudlets in runtime, enabling VMs to be created on-demand (#43).</a:t>
            </a:r>
          </a:p>
          <a:p>
            <a:pPr marL="228600" indent="-228600" algn="just">
              <a:buFont typeface="+mj-lt"/>
              <a:buAutoNum type="arabicPeriod"/>
            </a:pPr>
            <a:r>
              <a:rPr lang="en-US" sz="1050" dirty="0"/>
              <a:t>Listeners to enable simulation configuration, monitoring and data collection.</a:t>
            </a:r>
          </a:p>
          <a:p>
            <a:pPr marL="228600" indent="-228600" algn="just">
              <a:buFont typeface="+mj-lt"/>
              <a:buAutoNum type="arabicPeriod"/>
            </a:pPr>
            <a:r>
              <a:rPr lang="en-US" sz="1050" dirty="0"/>
              <a:t>Create simulations from Google Cluster Data trace files. (#149).</a:t>
            </a:r>
          </a:p>
          <a:p>
            <a:pPr marL="228600" indent="-228600" algn="just">
              <a:buFont typeface="+mj-lt"/>
              <a:buAutoNum type="arabicPeriod"/>
            </a:pPr>
            <a:r>
              <a:rPr lang="en-US" sz="1050" dirty="0"/>
              <a:t>Strongly object-oriented, allowing chained calls such as </a:t>
            </a:r>
            <a:r>
              <a:rPr lang="en-US" sz="1050" dirty="0" err="1"/>
              <a:t>cloudlet.getVm</a:t>
            </a:r>
            <a:r>
              <a:rPr lang="en-US" sz="1050" dirty="0"/>
              <a:t>().</a:t>
            </a:r>
            <a:r>
              <a:rPr lang="en-US" sz="1050" dirty="0" err="1"/>
              <a:t>getHost</a:t>
            </a:r>
            <a:r>
              <a:rPr lang="en-US" sz="1050" dirty="0"/>
              <a:t>().</a:t>
            </a:r>
            <a:r>
              <a:rPr lang="en-US" sz="1050" dirty="0" err="1"/>
              <a:t>getDatacenter</a:t>
            </a:r>
            <a:r>
              <a:rPr lang="en-US" sz="1050" dirty="0"/>
              <a:t>() without even worrying about </a:t>
            </a:r>
            <a:r>
              <a:rPr lang="en-US" sz="1050" dirty="0" err="1"/>
              <a:t>NullPointerException</a:t>
            </a:r>
            <a:r>
              <a:rPr lang="en-US" sz="1050" dirty="0"/>
              <a:t> (#10).</a:t>
            </a:r>
          </a:p>
          <a:p>
            <a:pPr marL="228600" indent="-228600" algn="just">
              <a:buFont typeface="+mj-lt"/>
              <a:buAutoNum type="arabicPeriod"/>
            </a:pPr>
            <a:r>
              <a:rPr lang="en-US" sz="1050" dirty="0"/>
              <a:t>Classes and interfaces for implementing heuristics such as </a:t>
            </a:r>
            <a:r>
              <a:rPr lang="en-US" sz="1050" dirty="0" err="1"/>
              <a:t>Tabu</a:t>
            </a:r>
            <a:r>
              <a:rPr lang="en-US" sz="1050" dirty="0"/>
              <a:t> Search, Simulated Annealing, Ant Colony Systems and so on (example here).</a:t>
            </a:r>
          </a:p>
          <a:p>
            <a:pPr marL="228600" indent="-228600" algn="just">
              <a:buFont typeface="+mj-lt"/>
              <a:buAutoNum type="arabicPeriod"/>
            </a:pPr>
            <a:r>
              <a:rPr lang="en-US" sz="1050" dirty="0"/>
              <a:t>Implementation of the Completely Fair Scheduler used in recent versions of the Linux Kernel (example here) (#58).</a:t>
            </a:r>
          </a:p>
          <a:p>
            <a:pPr marL="228600" indent="-228600" algn="just">
              <a:buFont typeface="+mj-lt"/>
              <a:buAutoNum type="arabicPeriod"/>
            </a:pPr>
            <a:r>
              <a:rPr lang="en-US" sz="1050" dirty="0"/>
              <a:t>Host Fault Injection and Recovery Mechanism to enable injection of random failures into Hosts CPU cores and replication of failed VMs (#81).</a:t>
            </a:r>
          </a:p>
          <a:p>
            <a:pPr marL="228600" indent="-228600" algn="just">
              <a:buFont typeface="+mj-lt"/>
              <a:buAutoNum type="arabicPeriod"/>
            </a:pPr>
            <a:r>
              <a:rPr lang="en-US" sz="1050" dirty="0"/>
              <a:t>Creation of Hosts at Simulation Runtime to enable physical expansion of Datacenter capacity (#124).</a:t>
            </a:r>
          </a:p>
          <a:p>
            <a:pPr marL="228600" indent="-228600" algn="just">
              <a:buFont typeface="+mj-lt"/>
              <a:buAutoNum type="arabicPeriod"/>
            </a:pPr>
            <a:r>
              <a:rPr lang="en-US" sz="1050" dirty="0"/>
              <a:t>Enables the simulation to keep running, waiting for dynamic and even random events such as the arrival of Cloudlets and VMs (#130).</a:t>
            </a:r>
          </a:p>
          <a:p>
            <a:pPr marL="228600" indent="-228600" algn="just">
              <a:buFont typeface="+mj-lt"/>
              <a:buAutoNum type="arabicPeriod"/>
            </a:pPr>
            <a:r>
              <a:rPr lang="en-US" sz="1050" dirty="0" err="1"/>
              <a:t>TableBuilder</a:t>
            </a:r>
            <a:r>
              <a:rPr lang="en-US" sz="1050" dirty="0"/>
              <a:t> objects that are used in all examples and enable printing simulation results in different formats such as Markdown Table, CSV or HTML.</a:t>
            </a:r>
          </a:p>
          <a:p>
            <a:pPr marL="228600" indent="-228600" algn="just">
              <a:buFont typeface="+mj-lt"/>
              <a:buAutoNum type="arabicPeriod"/>
            </a:pPr>
            <a:r>
              <a:rPr lang="en-US" sz="1050" dirty="0"/>
              <a:t>Colors log messages and enables filtering the level of messages to print (#24).  If you want to just see messages from warning level, call </a:t>
            </a:r>
            <a:r>
              <a:rPr lang="en-US" sz="1050" dirty="0" err="1"/>
              <a:t>Log.setLevel</a:t>
            </a:r>
            <a:r>
              <a:rPr lang="en-US" sz="1050" dirty="0"/>
              <a:t>(</a:t>
            </a:r>
            <a:r>
              <a:rPr lang="en-US" sz="1050" dirty="0" err="1"/>
              <a:t>ch.qos.logback.classic.Level.WARN</a:t>
            </a:r>
            <a:r>
              <a:rPr lang="en-US" sz="1050" dirty="0" smtClean="0"/>
              <a:t>);</a:t>
            </a:r>
          </a:p>
          <a:p>
            <a:pPr marL="228600" indent="-228600" algn="just">
              <a:buFont typeface="+mj-lt"/>
              <a:buAutoNum type="arabicPeriod"/>
            </a:pPr>
            <a:r>
              <a:rPr lang="en-US" sz="1050" dirty="0" smtClean="0"/>
              <a:t>Enables </a:t>
            </a:r>
            <a:r>
              <a:rPr lang="en-US" sz="1050" dirty="0"/>
              <a:t>running the simulation synchronously, making it easier to interact with it and collect data inside a loop, as the simulation goes on. This brings freedom to implement your simulations (#205).</a:t>
            </a:r>
          </a:p>
          <a:p>
            <a:pPr marL="228600" indent="-228600" algn="just">
              <a:buFont typeface="+mj-lt"/>
              <a:buAutoNum type="arabicPeriod"/>
            </a:pPr>
            <a:r>
              <a:rPr lang="en-US" sz="1050" dirty="0"/>
              <a:t>Allows placing a group of VMs into the same Host. (#90).</a:t>
            </a:r>
          </a:p>
          <a:p>
            <a:pPr marL="228600" indent="-228600" algn="just">
              <a:buFont typeface="+mj-lt"/>
              <a:buAutoNum type="arabicPeriod"/>
            </a:pPr>
            <a:r>
              <a:rPr lang="en-US" sz="1050" dirty="0"/>
              <a:t>Enables Broker to try selecting the closest Datacenter to place VMs, according to their time zone. (#212).</a:t>
            </a:r>
          </a:p>
          <a:p>
            <a:pPr marL="228600" indent="-228600" algn="just">
              <a:buFont typeface="+mj-lt"/>
              <a:buAutoNum type="arabicPeriod"/>
            </a:pPr>
            <a:r>
              <a:rPr lang="en-US" sz="1050" dirty="0"/>
              <a:t>Non-Live VM migration from/to public-cloud datacenters (#437).</a:t>
            </a:r>
          </a:p>
          <a:p>
            <a:pPr marL="228600" indent="-228600" algn="just">
              <a:buFont typeface="+mj-lt"/>
              <a:buAutoNum type="arabicPeriod"/>
            </a:pPr>
            <a:r>
              <a:rPr lang="en-US" sz="1050" dirty="0"/>
              <a:t>Support VM startup/shutdown delay and boot overhead (#435)</a:t>
            </a:r>
          </a:p>
          <a:p>
            <a:pPr marL="228600" indent="-228600" algn="just">
              <a:buFont typeface="+mj-lt"/>
              <a:buAutoNum type="arabicPeriod"/>
            </a:pPr>
            <a:r>
              <a:rPr lang="en-US" sz="1050" dirty="0"/>
              <a:t>It outperforms </a:t>
            </a:r>
            <a:r>
              <a:rPr lang="en-US" sz="1050" dirty="0" err="1"/>
              <a:t>CloudSim</a:t>
            </a:r>
            <a:r>
              <a:rPr lang="en-US" sz="1050" dirty="0"/>
              <a:t> 4, as can be seen here.</a:t>
            </a:r>
          </a:p>
        </p:txBody>
      </p:sp>
      <p:pic>
        <p:nvPicPr>
          <p:cNvPr id="6" name="Picture 5"/>
          <p:cNvPicPr>
            <a:picLocks noChangeAspect="1"/>
          </p:cNvPicPr>
          <p:nvPr/>
        </p:nvPicPr>
        <p:blipFill>
          <a:blip r:embed="rId3"/>
          <a:stretch>
            <a:fillRect/>
          </a:stretch>
        </p:blipFill>
        <p:spPr>
          <a:xfrm>
            <a:off x="7696200" y="1406349"/>
            <a:ext cx="4419600" cy="1191218"/>
          </a:xfrm>
          <a:prstGeom prst="rect">
            <a:avLst/>
          </a:prstGeom>
        </p:spPr>
      </p:pic>
      <p:sp>
        <p:nvSpPr>
          <p:cNvPr id="7" name="Rectangle 6"/>
          <p:cNvSpPr/>
          <p:nvPr/>
        </p:nvSpPr>
        <p:spPr>
          <a:xfrm>
            <a:off x="7620000" y="1334822"/>
            <a:ext cx="1515158" cy="253916"/>
          </a:xfrm>
          <a:prstGeom prst="rect">
            <a:avLst/>
          </a:prstGeom>
        </p:spPr>
        <p:txBody>
          <a:bodyPr wrap="none">
            <a:spAutoFit/>
          </a:bodyPr>
          <a:lstStyle/>
          <a:p>
            <a:r>
              <a:rPr lang="en-US" sz="1050" dirty="0" smtClean="0"/>
              <a:t>21. Colors </a:t>
            </a:r>
            <a:r>
              <a:rPr lang="en-US" sz="1050" dirty="0"/>
              <a:t>log messages </a:t>
            </a:r>
          </a:p>
        </p:txBody>
      </p:sp>
    </p:spTree>
    <p:extLst>
      <p:ext uri="{BB962C8B-B14F-4D97-AF65-F5344CB8AC3E}">
        <p14:creationId xmlns:p14="http://schemas.microsoft.com/office/powerpoint/2010/main" val="1947961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pic>
        <p:nvPicPr>
          <p:cNvPr id="3" name="Picture 2"/>
          <p:cNvPicPr>
            <a:picLocks noChangeAspect="1"/>
          </p:cNvPicPr>
          <p:nvPr/>
        </p:nvPicPr>
        <p:blipFill>
          <a:blip r:embed="rId3"/>
          <a:stretch>
            <a:fillRect/>
          </a:stretch>
        </p:blipFill>
        <p:spPr>
          <a:xfrm>
            <a:off x="1981200" y="1981200"/>
            <a:ext cx="9001125" cy="2390775"/>
          </a:xfrm>
          <a:prstGeom prst="rect">
            <a:avLst/>
          </a:prstGeom>
        </p:spPr>
      </p:pic>
    </p:spTree>
    <p:extLst>
      <p:ext uri="{BB962C8B-B14F-4D97-AF65-F5344CB8AC3E}">
        <p14:creationId xmlns:p14="http://schemas.microsoft.com/office/powerpoint/2010/main" val="3259253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pic>
        <p:nvPicPr>
          <p:cNvPr id="3" name="Picture 2"/>
          <p:cNvPicPr>
            <a:picLocks noChangeAspect="1"/>
          </p:cNvPicPr>
          <p:nvPr/>
        </p:nvPicPr>
        <p:blipFill>
          <a:blip r:embed="rId3"/>
          <a:stretch>
            <a:fillRect/>
          </a:stretch>
        </p:blipFill>
        <p:spPr>
          <a:xfrm>
            <a:off x="3200400" y="457200"/>
            <a:ext cx="6886575" cy="6172200"/>
          </a:xfrm>
          <a:prstGeom prst="rect">
            <a:avLst/>
          </a:prstGeom>
        </p:spPr>
      </p:pic>
    </p:spTree>
    <p:extLst>
      <p:ext uri="{BB962C8B-B14F-4D97-AF65-F5344CB8AC3E}">
        <p14:creationId xmlns:p14="http://schemas.microsoft.com/office/powerpoint/2010/main" val="327913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sp>
        <p:nvSpPr>
          <p:cNvPr id="3" name="Rectangle 2"/>
          <p:cNvSpPr/>
          <p:nvPr/>
        </p:nvSpPr>
        <p:spPr>
          <a:xfrm>
            <a:off x="609600" y="844021"/>
            <a:ext cx="6096000" cy="2862322"/>
          </a:xfrm>
          <a:prstGeom prst="rect">
            <a:avLst/>
          </a:prstGeom>
        </p:spPr>
        <p:txBody>
          <a:bodyPr>
            <a:spAutoFit/>
          </a:bodyPr>
          <a:lstStyle/>
          <a:p>
            <a:pPr algn="just"/>
            <a:r>
              <a:rPr lang="en-US" dirty="0"/>
              <a:t>In order to build a simulation scenario, you have to create at least:</a:t>
            </a:r>
          </a:p>
          <a:p>
            <a:pPr algn="just"/>
            <a:endParaRPr lang="en-US" dirty="0"/>
          </a:p>
          <a:p>
            <a:pPr algn="just"/>
            <a:r>
              <a:rPr lang="en-US" dirty="0"/>
              <a:t>a datacenter with a list of physical machines (Hosts);</a:t>
            </a:r>
          </a:p>
          <a:p>
            <a:pPr algn="just"/>
            <a:r>
              <a:rPr lang="en-US" dirty="0"/>
              <a:t>a broker that allows submission of VMs and Cloudlets to be executed, on behalf of a given customer, into the cloud infrastructure;</a:t>
            </a:r>
          </a:p>
          <a:p>
            <a:pPr algn="just"/>
            <a:r>
              <a:rPr lang="en-US" dirty="0"/>
              <a:t>a list of customer’s virtual machines (VMs);</a:t>
            </a:r>
          </a:p>
          <a:p>
            <a:pPr algn="just"/>
            <a:r>
              <a:rPr lang="en-US" dirty="0"/>
              <a:t>and a list of customer’s cloudlets (objects that model resource requirements of different applications).</a:t>
            </a:r>
          </a:p>
        </p:txBody>
      </p:sp>
    </p:spTree>
    <p:extLst>
      <p:ext uri="{BB962C8B-B14F-4D97-AF65-F5344CB8AC3E}">
        <p14:creationId xmlns:p14="http://schemas.microsoft.com/office/powerpoint/2010/main" val="3321314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sp>
        <p:nvSpPr>
          <p:cNvPr id="3" name="Rectangle 2"/>
          <p:cNvSpPr/>
          <p:nvPr/>
        </p:nvSpPr>
        <p:spPr>
          <a:xfrm>
            <a:off x="381000" y="990600"/>
            <a:ext cx="4800600" cy="3754874"/>
          </a:xfrm>
          <a:prstGeom prst="rect">
            <a:avLst/>
          </a:prstGeom>
        </p:spPr>
        <p:txBody>
          <a:bodyPr wrap="square">
            <a:spAutoFit/>
          </a:bodyPr>
          <a:lstStyle/>
          <a:p>
            <a:pPr algn="just"/>
            <a:r>
              <a:rPr lang="en-US" sz="1400" dirty="0"/>
              <a:t>Max-Min</a:t>
            </a:r>
          </a:p>
          <a:p>
            <a:pPr algn="just"/>
            <a:r>
              <a:rPr lang="en-US" sz="1400" dirty="0"/>
              <a:t>Max-Min start with the set of all unassigned tasks in the make-span. This algorithm also works in two phases. First, the maximum expected completion time for all the tasks is calculated. The completion time for all the tasks is calculated on all the machines. In the second phase, the task with the maximum expected completion time from make-span is selected and that tasks assigned to the corresponding resource. Then the task which is completed that is removed from the make-span and this process is repeated until all tasks are completed.</a:t>
            </a:r>
          </a:p>
          <a:p>
            <a:pPr algn="just"/>
            <a:endParaRPr lang="en-US" sz="1400" dirty="0"/>
          </a:p>
          <a:p>
            <a:pPr algn="just"/>
            <a:r>
              <a:rPr lang="en-US" sz="1400" dirty="0"/>
              <a:t>A data center broker that uses Max-min load balancing algorithm to place Cloudlets on the available VMs. The algorithm prioritizes smaller cloudlets (ones with smaller estimated execution time) over larger cloudlets and assigns them to VMs first.</a:t>
            </a:r>
          </a:p>
        </p:txBody>
      </p:sp>
      <p:sp>
        <p:nvSpPr>
          <p:cNvPr id="4" name="Rectangle 3"/>
          <p:cNvSpPr/>
          <p:nvPr/>
        </p:nvSpPr>
        <p:spPr>
          <a:xfrm>
            <a:off x="5715000" y="1006839"/>
            <a:ext cx="4800600" cy="5047536"/>
          </a:xfrm>
          <a:prstGeom prst="rect">
            <a:avLst/>
          </a:prstGeom>
        </p:spPr>
        <p:txBody>
          <a:bodyPr wrap="square">
            <a:spAutoFit/>
          </a:bodyPr>
          <a:lstStyle/>
          <a:p>
            <a:pPr algn="just"/>
            <a:r>
              <a:rPr lang="en-US" sz="1400" dirty="0"/>
              <a:t>VM Allocation Policies</a:t>
            </a:r>
          </a:p>
          <a:p>
            <a:pPr algn="just"/>
            <a:r>
              <a:rPr lang="en-US" sz="1400" dirty="0"/>
              <a:t>These policies define the allocation of VMs to the Host.</a:t>
            </a:r>
          </a:p>
          <a:p>
            <a:pPr algn="just"/>
            <a:endParaRPr lang="en-US" sz="1400" dirty="0"/>
          </a:p>
          <a:p>
            <a:pPr algn="just"/>
            <a:r>
              <a:rPr lang="en-US" sz="1400" dirty="0"/>
              <a:t>Random Allocation</a:t>
            </a:r>
          </a:p>
          <a:p>
            <a:pPr algn="just"/>
            <a:r>
              <a:rPr lang="en-US" sz="1400" dirty="0"/>
              <a:t>A Random allocation policy defines the random allocation of </a:t>
            </a:r>
            <a:r>
              <a:rPr lang="en-US" sz="1400" dirty="0" err="1"/>
              <a:t>Vms</a:t>
            </a:r>
            <a:r>
              <a:rPr lang="en-US" sz="1400" dirty="0"/>
              <a:t> to its Hosts. The Host list is shuffled and a random Host is picked. This picked Host is first prioritized for allocation of VMs. Once VMs are allocated to this Host and the Host is at maximum utilization, another Host is picked according to the defined Random policy to get it allocated to the future VMs</a:t>
            </a:r>
          </a:p>
          <a:p>
            <a:pPr algn="just"/>
            <a:endParaRPr lang="en-US" sz="1400" dirty="0"/>
          </a:p>
          <a:p>
            <a:pPr algn="just"/>
            <a:r>
              <a:rPr lang="en-US" sz="1400" dirty="0"/>
              <a:t>Nearest Host Allocation</a:t>
            </a:r>
          </a:p>
          <a:p>
            <a:pPr algn="just"/>
            <a:r>
              <a:rPr lang="en-US" sz="1400" dirty="0"/>
              <a:t>A more sophisticated allocation policy than the Random allocation. The nearest host allocation policy will first allocate the VMs in the Same Host till the maximum utilization, once its utilization capacity is reached, it will try to allocate the VM in the same Rack through scanning the EDGE SWITCH for any under-utilized Host. If it doesn't find any Host in the Edge Switches, it will start scanning the AGGREGATE SWITCH to identify any underutilized Host. Finally, if it is not able to find the Host through the Aggregate Switches also, Then it will try to look into another datacenters with the help of ROOT SWITCH Scan and Datacenter Broker dynamic table list.</a:t>
            </a:r>
          </a:p>
        </p:txBody>
      </p:sp>
    </p:spTree>
    <p:extLst>
      <p:ext uri="{BB962C8B-B14F-4D97-AF65-F5344CB8AC3E}">
        <p14:creationId xmlns:p14="http://schemas.microsoft.com/office/powerpoint/2010/main" val="2623538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sp>
        <p:nvSpPr>
          <p:cNvPr id="3" name="Rectangle 2"/>
          <p:cNvSpPr/>
          <p:nvPr/>
        </p:nvSpPr>
        <p:spPr>
          <a:xfrm>
            <a:off x="381000" y="990600"/>
            <a:ext cx="4800600" cy="3539430"/>
          </a:xfrm>
          <a:prstGeom prst="rect">
            <a:avLst/>
          </a:prstGeom>
        </p:spPr>
        <p:txBody>
          <a:bodyPr wrap="square">
            <a:spAutoFit/>
          </a:bodyPr>
          <a:lstStyle/>
          <a:p>
            <a:pPr algn="just"/>
            <a:r>
              <a:rPr lang="en-US" sz="1400" dirty="0" smtClean="0"/>
              <a:t>Implemented </a:t>
            </a:r>
            <a:r>
              <a:rPr lang="en-US" sz="1400" dirty="0"/>
              <a:t>and done simulations for 3 VM Allocation Policy :</a:t>
            </a:r>
          </a:p>
          <a:p>
            <a:pPr algn="just"/>
            <a:endParaRPr lang="en-US" sz="1400" dirty="0"/>
          </a:p>
          <a:p>
            <a:pPr algn="just"/>
            <a:r>
              <a:rPr lang="en-US" sz="1400" dirty="0"/>
              <a:t>First-Fit VM allocation policy</a:t>
            </a:r>
          </a:p>
          <a:p>
            <a:pPr algn="just"/>
            <a:r>
              <a:rPr lang="en-US" sz="1400" dirty="0"/>
              <a:t>Random VM Allocation</a:t>
            </a:r>
          </a:p>
          <a:p>
            <a:pPr algn="just"/>
            <a:r>
              <a:rPr lang="en-US" sz="1400" dirty="0"/>
              <a:t>Nearest Host VM Allocation Policy</a:t>
            </a:r>
          </a:p>
          <a:p>
            <a:pPr algn="just"/>
            <a:r>
              <a:rPr lang="en-US" sz="1400" dirty="0"/>
              <a:t>We also implemented the following Load Balancer, balancing bursts of loads over the varied jobs Policy:</a:t>
            </a:r>
          </a:p>
          <a:p>
            <a:pPr algn="just"/>
            <a:endParaRPr lang="en-US" sz="1400" dirty="0"/>
          </a:p>
          <a:p>
            <a:pPr algn="just"/>
            <a:r>
              <a:rPr lang="en-US" sz="1400" dirty="0"/>
              <a:t>Round-Robin load balancing</a:t>
            </a:r>
          </a:p>
          <a:p>
            <a:pPr algn="just"/>
            <a:r>
              <a:rPr lang="en-US" sz="1400" dirty="0"/>
              <a:t>Min-Min Load Balancing</a:t>
            </a:r>
          </a:p>
          <a:p>
            <a:pPr algn="just"/>
            <a:r>
              <a:rPr lang="en-US" sz="1400" dirty="0"/>
              <a:t>Max-Min Load Balancing</a:t>
            </a:r>
          </a:p>
          <a:p>
            <a:pPr algn="just"/>
            <a:r>
              <a:rPr lang="en-US" sz="1400" dirty="0"/>
              <a:t>We were changing one variable at a time. Keeping other factors as constant. Essentially, we ran 3 different map-reduce jobs, 3 different web services at the same time. The load on the data center was allocated randomly, with the following set of atomic executions on the machines :</a:t>
            </a:r>
          </a:p>
        </p:txBody>
      </p:sp>
      <p:sp>
        <p:nvSpPr>
          <p:cNvPr id="4" name="Rectangle 3"/>
          <p:cNvSpPr/>
          <p:nvPr/>
        </p:nvSpPr>
        <p:spPr>
          <a:xfrm>
            <a:off x="5562600" y="1006839"/>
            <a:ext cx="6477000" cy="6555641"/>
          </a:xfrm>
          <a:prstGeom prst="rect">
            <a:avLst/>
          </a:prstGeom>
        </p:spPr>
        <p:txBody>
          <a:bodyPr wrap="square">
            <a:spAutoFit/>
          </a:bodyPr>
          <a:lstStyle/>
          <a:p>
            <a:pPr algn="just"/>
            <a:r>
              <a:rPr lang="en-US" sz="1400" dirty="0"/>
              <a:t>Architecture:</a:t>
            </a:r>
          </a:p>
          <a:p>
            <a:pPr algn="just"/>
            <a:endParaRPr lang="en-US" sz="1400" dirty="0"/>
          </a:p>
          <a:p>
            <a:pPr algn="just"/>
            <a:r>
              <a:rPr lang="en-US" sz="1400" dirty="0"/>
              <a:t>96 Hosts per Datacenter</a:t>
            </a:r>
          </a:p>
          <a:p>
            <a:pPr algn="just"/>
            <a:endParaRPr lang="en-US" sz="1400" dirty="0"/>
          </a:p>
          <a:p>
            <a:pPr algn="just"/>
            <a:r>
              <a:rPr lang="en-US" sz="1400" dirty="0"/>
              <a:t>For Map-Reduce Job:</a:t>
            </a:r>
          </a:p>
          <a:p>
            <a:pPr algn="just"/>
            <a:endParaRPr lang="en-US" sz="1400" dirty="0"/>
          </a:p>
          <a:p>
            <a:pPr algn="just"/>
            <a:r>
              <a:rPr lang="en-US" sz="1400" dirty="0"/>
              <a:t>No of Mappers = 30 * 3 = 90</a:t>
            </a:r>
          </a:p>
          <a:p>
            <a:pPr algn="just"/>
            <a:endParaRPr lang="en-US" sz="1400" dirty="0"/>
          </a:p>
          <a:p>
            <a:pPr algn="just"/>
            <a:r>
              <a:rPr lang="en-US" sz="1400" dirty="0"/>
              <a:t>No of Reducers= 30 * 3 = 90</a:t>
            </a:r>
          </a:p>
          <a:p>
            <a:pPr algn="just"/>
            <a:endParaRPr lang="en-US" sz="1400" dirty="0"/>
          </a:p>
          <a:p>
            <a:pPr algn="just"/>
            <a:r>
              <a:rPr lang="en-US" sz="1400" dirty="0"/>
              <a:t>For the web services :</a:t>
            </a:r>
          </a:p>
          <a:p>
            <a:pPr algn="just"/>
            <a:endParaRPr lang="en-US" sz="1400" dirty="0"/>
          </a:p>
          <a:p>
            <a:pPr algn="just"/>
            <a:r>
              <a:rPr lang="en-US" sz="1400" dirty="0"/>
              <a:t>Had 3 services running with random number of clients, and auto scalable servers based on the load.</a:t>
            </a:r>
          </a:p>
          <a:p>
            <a:pPr algn="just"/>
            <a:endParaRPr lang="en-US" sz="1400" dirty="0"/>
          </a:p>
          <a:p>
            <a:pPr algn="just"/>
            <a:r>
              <a:rPr lang="en-US" sz="1400" dirty="0"/>
              <a:t>Thus, our analysis is divided into 9 parts:</a:t>
            </a:r>
          </a:p>
          <a:p>
            <a:pPr algn="just"/>
            <a:r>
              <a:rPr lang="en-US" sz="1400" dirty="0" smtClean="0"/>
              <a:t>Part </a:t>
            </a:r>
            <a:r>
              <a:rPr lang="en-US" sz="1400" dirty="0"/>
              <a:t>1: First Fit VM Allocation and Round Robin Load Balancer</a:t>
            </a:r>
          </a:p>
          <a:p>
            <a:pPr algn="just"/>
            <a:r>
              <a:rPr lang="en-US" sz="1400" dirty="0" smtClean="0"/>
              <a:t>which </a:t>
            </a:r>
            <a:r>
              <a:rPr lang="en-US" sz="1400" dirty="0"/>
              <a:t>will compare </a:t>
            </a:r>
            <a:r>
              <a:rPr lang="en-US" sz="1400" dirty="0" err="1"/>
              <a:t>RoundRobin</a:t>
            </a:r>
            <a:r>
              <a:rPr lang="en-US" sz="1400" dirty="0"/>
              <a:t> balancer and First fit VM allocation based on our dynamic job runs.</a:t>
            </a:r>
          </a:p>
          <a:p>
            <a:pPr algn="just"/>
            <a:r>
              <a:rPr lang="en-US" sz="1400" dirty="0" smtClean="0"/>
              <a:t>Part </a:t>
            </a:r>
            <a:r>
              <a:rPr lang="en-US" sz="1400" dirty="0"/>
              <a:t>2: First Fit VM Allocation and Min-Min Load balancing</a:t>
            </a:r>
          </a:p>
          <a:p>
            <a:pPr algn="just"/>
            <a:r>
              <a:rPr lang="en-US" sz="1400" dirty="0" smtClean="0"/>
              <a:t>Part </a:t>
            </a:r>
            <a:r>
              <a:rPr lang="en-US" sz="1400" dirty="0"/>
              <a:t>3: First Fit VM Allocation and Max-Min Load Balancing</a:t>
            </a:r>
          </a:p>
          <a:p>
            <a:pPr algn="just"/>
            <a:r>
              <a:rPr lang="en-US" sz="1400" dirty="0" smtClean="0"/>
              <a:t>Part </a:t>
            </a:r>
            <a:r>
              <a:rPr lang="en-US" sz="1400" dirty="0"/>
              <a:t>4:Random VM Allocation and Round Robin Load Balancer</a:t>
            </a:r>
          </a:p>
          <a:p>
            <a:pPr algn="just"/>
            <a:r>
              <a:rPr lang="en-US" sz="1400" dirty="0" smtClean="0"/>
              <a:t>Part </a:t>
            </a:r>
            <a:r>
              <a:rPr lang="en-US" sz="1400" dirty="0"/>
              <a:t>5: :Random VM Allocation and Min-Min Load balancing</a:t>
            </a:r>
          </a:p>
          <a:p>
            <a:pPr algn="just"/>
            <a:r>
              <a:rPr lang="en-US" sz="1400" dirty="0" smtClean="0"/>
              <a:t>Part </a:t>
            </a:r>
            <a:r>
              <a:rPr lang="en-US" sz="1400" dirty="0"/>
              <a:t>6: Random VM Allocation and Max-Min Load Balancing</a:t>
            </a:r>
          </a:p>
          <a:p>
            <a:pPr algn="just"/>
            <a:r>
              <a:rPr lang="en-US" sz="1400" dirty="0" smtClean="0"/>
              <a:t>Part </a:t>
            </a:r>
            <a:r>
              <a:rPr lang="en-US" sz="1400" dirty="0"/>
              <a:t>7: Nearest Host VM Allocation Policy and Round Robin Load Balancer</a:t>
            </a:r>
          </a:p>
          <a:p>
            <a:pPr algn="just"/>
            <a:r>
              <a:rPr lang="en-US" sz="1400" dirty="0" smtClean="0"/>
              <a:t>Part </a:t>
            </a:r>
            <a:r>
              <a:rPr lang="en-US" sz="1400" dirty="0"/>
              <a:t>8: Nearest Host VM Allocation Policy and Min-Min Load Balancing</a:t>
            </a:r>
          </a:p>
          <a:p>
            <a:pPr algn="just"/>
            <a:r>
              <a:rPr lang="en-US" sz="1400" dirty="0" smtClean="0"/>
              <a:t>The </a:t>
            </a:r>
            <a:r>
              <a:rPr lang="en-US" sz="1400" dirty="0"/>
              <a:t>expected result analysis would generate the statistical average of the executions, resource usages and the costs over large number of iterations (say 100).</a:t>
            </a:r>
          </a:p>
          <a:p>
            <a:pPr algn="just"/>
            <a:endParaRPr lang="en-US" sz="1400" dirty="0"/>
          </a:p>
          <a:p>
            <a:pPr algn="just"/>
            <a:r>
              <a:rPr lang="en-US" sz="1400" dirty="0"/>
              <a:t>The implementation for the above hypothesis was constructed and simulation was ran.</a:t>
            </a:r>
          </a:p>
        </p:txBody>
      </p:sp>
    </p:spTree>
    <p:extLst>
      <p:ext uri="{BB962C8B-B14F-4D97-AF65-F5344CB8AC3E}">
        <p14:creationId xmlns:p14="http://schemas.microsoft.com/office/powerpoint/2010/main" val="869195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pic>
        <p:nvPicPr>
          <p:cNvPr id="3" name="Picture 2"/>
          <p:cNvPicPr>
            <a:picLocks noChangeAspect="1"/>
          </p:cNvPicPr>
          <p:nvPr/>
        </p:nvPicPr>
        <p:blipFill>
          <a:blip r:embed="rId3"/>
          <a:stretch>
            <a:fillRect/>
          </a:stretch>
        </p:blipFill>
        <p:spPr>
          <a:xfrm>
            <a:off x="383498" y="822784"/>
            <a:ext cx="11277600" cy="2133600"/>
          </a:xfrm>
          <a:prstGeom prst="rect">
            <a:avLst/>
          </a:prstGeom>
        </p:spPr>
      </p:pic>
    </p:spTree>
    <p:extLst>
      <p:ext uri="{BB962C8B-B14F-4D97-AF65-F5344CB8AC3E}">
        <p14:creationId xmlns:p14="http://schemas.microsoft.com/office/powerpoint/2010/main" val="1042416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sp>
        <p:nvSpPr>
          <p:cNvPr id="3" name="Rectangle 2"/>
          <p:cNvSpPr/>
          <p:nvPr/>
        </p:nvSpPr>
        <p:spPr>
          <a:xfrm>
            <a:off x="354767" y="826532"/>
            <a:ext cx="1337995" cy="369332"/>
          </a:xfrm>
          <a:prstGeom prst="rect">
            <a:avLst/>
          </a:prstGeom>
        </p:spPr>
        <p:txBody>
          <a:bodyPr wrap="none">
            <a:spAutoFit/>
          </a:bodyPr>
          <a:lstStyle/>
          <a:p>
            <a:r>
              <a:rPr lang="en-US" dirty="0"/>
              <a:t>Result Snap:</a:t>
            </a:r>
          </a:p>
        </p:txBody>
      </p:sp>
      <p:pic>
        <p:nvPicPr>
          <p:cNvPr id="10" name="Picture 9"/>
          <p:cNvPicPr>
            <a:picLocks noChangeAspect="1"/>
          </p:cNvPicPr>
          <p:nvPr/>
        </p:nvPicPr>
        <p:blipFill rotWithShape="1">
          <a:blip r:embed="rId3"/>
          <a:srcRect r="4673"/>
          <a:stretch/>
        </p:blipFill>
        <p:spPr>
          <a:xfrm>
            <a:off x="381000" y="1219200"/>
            <a:ext cx="4179499" cy="5382557"/>
          </a:xfrm>
          <a:prstGeom prst="rect">
            <a:avLst/>
          </a:prstGeom>
        </p:spPr>
      </p:pic>
      <p:pic>
        <p:nvPicPr>
          <p:cNvPr id="11" name="Picture 10"/>
          <p:cNvPicPr>
            <a:picLocks noChangeAspect="1"/>
          </p:cNvPicPr>
          <p:nvPr/>
        </p:nvPicPr>
        <p:blipFill>
          <a:blip r:embed="rId4"/>
          <a:stretch>
            <a:fillRect/>
          </a:stretch>
        </p:blipFill>
        <p:spPr>
          <a:xfrm>
            <a:off x="4067533" y="2005264"/>
            <a:ext cx="3296110" cy="4648200"/>
          </a:xfrm>
          <a:prstGeom prst="rect">
            <a:avLst/>
          </a:prstGeom>
        </p:spPr>
      </p:pic>
      <p:sp>
        <p:nvSpPr>
          <p:cNvPr id="12" name="Rectangle 11"/>
          <p:cNvSpPr/>
          <p:nvPr/>
        </p:nvSpPr>
        <p:spPr>
          <a:xfrm>
            <a:off x="6400800" y="4419600"/>
            <a:ext cx="5791200" cy="1477328"/>
          </a:xfrm>
          <a:prstGeom prst="rect">
            <a:avLst/>
          </a:prstGeom>
        </p:spPr>
        <p:txBody>
          <a:bodyPr wrap="square">
            <a:spAutoFit/>
          </a:bodyPr>
          <a:lstStyle/>
          <a:p>
            <a:r>
              <a:rPr lang="en-US" sz="1000" dirty="0"/>
              <a:t>INFO  Statistics for DatacenterBrokerSimple18ResourceManager for iteration 1:</a:t>
            </a:r>
          </a:p>
          <a:p>
            <a:endParaRPr lang="en-US" sz="1000" dirty="0"/>
          </a:p>
          <a:p>
            <a:r>
              <a:rPr lang="en-US" sz="1000" dirty="0"/>
              <a:t>Cloud Architecture     : Cloud Architecture having 1 data center with 96 hosts using First-Fit VM allocation policy and Round-Robin load balancing of cloudlets</a:t>
            </a:r>
          </a:p>
          <a:p>
            <a:r>
              <a:rPr lang="en-US" sz="1000" dirty="0"/>
              <a:t>Average Cloudlet Length: 69276569.00 MI</a:t>
            </a:r>
          </a:p>
          <a:p>
            <a:r>
              <a:rPr lang="en-US" sz="1000" dirty="0"/>
              <a:t>Average Execution Time : 5218.95 seconds</a:t>
            </a:r>
          </a:p>
          <a:p>
            <a:r>
              <a:rPr lang="en-US" sz="1000" dirty="0"/>
              <a:t>Average CPU Cost       : $ 52.19</a:t>
            </a:r>
          </a:p>
          <a:p>
            <a:r>
              <a:rPr lang="en-US" sz="1000" dirty="0"/>
              <a:t>Average Bandwidth Cost : $ 0.10</a:t>
            </a:r>
          </a:p>
          <a:p>
            <a:r>
              <a:rPr lang="en-US" sz="1000" dirty="0"/>
              <a:t>Average Total Cost     : $ 52.39</a:t>
            </a:r>
          </a:p>
        </p:txBody>
      </p:sp>
      <p:cxnSp>
        <p:nvCxnSpPr>
          <p:cNvPr id="14" name="Straight Arrow Connector 13"/>
          <p:cNvCxnSpPr/>
          <p:nvPr/>
        </p:nvCxnSpPr>
        <p:spPr>
          <a:xfrm flipV="1">
            <a:off x="3200400" y="5715000"/>
            <a:ext cx="3200400" cy="533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6658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sp>
        <p:nvSpPr>
          <p:cNvPr id="3" name="Rectangle 2"/>
          <p:cNvSpPr/>
          <p:nvPr/>
        </p:nvSpPr>
        <p:spPr>
          <a:xfrm>
            <a:off x="228600" y="762000"/>
            <a:ext cx="6096000" cy="738664"/>
          </a:xfrm>
          <a:prstGeom prst="rect">
            <a:avLst/>
          </a:prstGeom>
        </p:spPr>
        <p:txBody>
          <a:bodyPr>
            <a:spAutoFit/>
          </a:bodyPr>
          <a:lstStyle/>
          <a:p>
            <a:r>
              <a:rPr lang="en-US" sz="1400" dirty="0"/>
              <a:t>The simulation kept on running based on the </a:t>
            </a:r>
            <a:r>
              <a:rPr lang="en-US" sz="1400" dirty="0" err="1"/>
              <a:t>configs</a:t>
            </a:r>
            <a:r>
              <a:rPr lang="en-US" sz="1400" dirty="0"/>
              <a:t> structured and generated the log files of about 10 GB</a:t>
            </a:r>
            <a:r>
              <a:rPr lang="en-US" sz="1400" dirty="0" smtClean="0"/>
              <a:t>. And </a:t>
            </a:r>
            <a:r>
              <a:rPr lang="en-US" sz="1400" dirty="0"/>
              <a:t>the aggregated statistical results were resembling the above replica like the following result summary :</a:t>
            </a:r>
          </a:p>
        </p:txBody>
      </p:sp>
      <p:pic>
        <p:nvPicPr>
          <p:cNvPr id="4" name="Picture 3"/>
          <p:cNvPicPr>
            <a:picLocks noChangeAspect="1"/>
          </p:cNvPicPr>
          <p:nvPr/>
        </p:nvPicPr>
        <p:blipFill>
          <a:blip r:embed="rId3"/>
          <a:stretch>
            <a:fillRect/>
          </a:stretch>
        </p:blipFill>
        <p:spPr>
          <a:xfrm>
            <a:off x="838200" y="1607822"/>
            <a:ext cx="4140838" cy="5230125"/>
          </a:xfrm>
          <a:prstGeom prst="rect">
            <a:avLst/>
          </a:prstGeom>
        </p:spPr>
      </p:pic>
      <p:pic>
        <p:nvPicPr>
          <p:cNvPr id="5" name="Picture 4"/>
          <p:cNvPicPr>
            <a:picLocks noChangeAspect="1"/>
          </p:cNvPicPr>
          <p:nvPr/>
        </p:nvPicPr>
        <p:blipFill>
          <a:blip r:embed="rId4"/>
          <a:stretch>
            <a:fillRect/>
          </a:stretch>
        </p:blipFill>
        <p:spPr>
          <a:xfrm>
            <a:off x="3685672" y="2310065"/>
            <a:ext cx="2686425" cy="3645568"/>
          </a:xfrm>
          <a:prstGeom prst="rect">
            <a:avLst/>
          </a:prstGeom>
        </p:spPr>
      </p:pic>
      <p:sp>
        <p:nvSpPr>
          <p:cNvPr id="6" name="Rectangle 5"/>
          <p:cNvSpPr/>
          <p:nvPr/>
        </p:nvSpPr>
        <p:spPr>
          <a:xfrm>
            <a:off x="6629400" y="4876800"/>
            <a:ext cx="5334000" cy="1477328"/>
          </a:xfrm>
          <a:prstGeom prst="rect">
            <a:avLst/>
          </a:prstGeom>
        </p:spPr>
        <p:txBody>
          <a:bodyPr wrap="square">
            <a:spAutoFit/>
          </a:bodyPr>
          <a:lstStyle/>
          <a:p>
            <a:r>
              <a:rPr lang="en-US" sz="1000" dirty="0"/>
              <a:t>INFO  Statistics for DatacenterBrokerSimple18ResourceManager for iteration 5:</a:t>
            </a:r>
          </a:p>
          <a:p>
            <a:endParaRPr lang="en-US" sz="1000" dirty="0"/>
          </a:p>
          <a:p>
            <a:r>
              <a:rPr lang="en-US" sz="1000" dirty="0"/>
              <a:t>Cloud Architecture     : Cloud Architecture having 1 data center with 96 hosts using 'Nearest Host' VM allocation policy and Round-Robin load balancing of cloudlets</a:t>
            </a:r>
          </a:p>
          <a:p>
            <a:r>
              <a:rPr lang="en-US" sz="1000" dirty="0"/>
              <a:t>Average Cloudlet Length: 69276569.00 MI</a:t>
            </a:r>
          </a:p>
          <a:p>
            <a:r>
              <a:rPr lang="en-US" sz="1000" dirty="0"/>
              <a:t>Average Execution Time : 5218.95 seconds</a:t>
            </a:r>
          </a:p>
          <a:p>
            <a:r>
              <a:rPr lang="en-US" sz="1000" dirty="0"/>
              <a:t>Average CPU Cost       : $ 52.19</a:t>
            </a:r>
          </a:p>
          <a:p>
            <a:r>
              <a:rPr lang="en-US" sz="1000" dirty="0"/>
              <a:t>Average Bandwidth Cost : $ 0.10</a:t>
            </a:r>
          </a:p>
          <a:p>
            <a:r>
              <a:rPr lang="en-US" sz="1000" dirty="0"/>
              <a:t>Average Total Cost     : $ 52.39</a:t>
            </a:r>
          </a:p>
        </p:txBody>
      </p:sp>
      <p:cxnSp>
        <p:nvCxnSpPr>
          <p:cNvPr id="8" name="Straight Arrow Connector 7"/>
          <p:cNvCxnSpPr/>
          <p:nvPr/>
        </p:nvCxnSpPr>
        <p:spPr>
          <a:xfrm flipV="1">
            <a:off x="4191000" y="6096000"/>
            <a:ext cx="243840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2469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spTree>
    <p:extLst>
      <p:ext uri="{BB962C8B-B14F-4D97-AF65-F5344CB8AC3E}">
        <p14:creationId xmlns:p14="http://schemas.microsoft.com/office/powerpoint/2010/main" val="1307612722"/>
      </p:ext>
    </p:extLst>
  </p:cSld>
  <p:clrMapOvr>
    <a:masterClrMapping/>
  </p:clrMapOvr>
</p:sld>
</file>

<file path=ppt/theme/theme1.xml><?xml version="1.0" encoding="utf-8"?>
<a:theme xmlns:a="http://schemas.openxmlformats.org/drawingml/2006/main" name="PDC2008 4_3 Breakout Template_Final V3">
  <a:themeElements>
    <a:clrScheme name="PDC 2008">
      <a:dk1>
        <a:srgbClr val="000000"/>
      </a:dk1>
      <a:lt1>
        <a:srgbClr val="FFFFFF"/>
      </a:lt1>
      <a:dk2>
        <a:srgbClr val="6A2433"/>
      </a:dk2>
      <a:lt2>
        <a:srgbClr val="D7AEE4"/>
      </a:lt2>
      <a:accent1>
        <a:srgbClr val="C41665"/>
      </a:accent1>
      <a:accent2>
        <a:srgbClr val="1F6691"/>
      </a:accent2>
      <a:accent3>
        <a:srgbClr val="FFD72F"/>
      </a:accent3>
      <a:accent4>
        <a:srgbClr val="5BB5F3"/>
      </a:accent4>
      <a:accent5>
        <a:srgbClr val="9D9839"/>
      </a:accent5>
      <a:accent6>
        <a:srgbClr val="B45082"/>
      </a:accent6>
      <a:hlink>
        <a:srgbClr val="F3F074"/>
      </a:hlink>
      <a:folHlink>
        <a:srgbClr val="F3F074"/>
      </a:folHlink>
    </a:clrScheme>
    <a:fontScheme name="Century Schoolbook - Calibri">
      <a:majorFont>
        <a:latin typeface="Century Schoolbook"/>
        <a:ea typeface=""/>
        <a:cs typeface=""/>
      </a:majorFont>
      <a:minorFont>
        <a:latin typeface="Calibri"/>
        <a:ea typeface=""/>
        <a:cs typeface=""/>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defRPr>
        </a:defPPr>
      </a:lstStyle>
      <a:style>
        <a:lnRef idx="1">
          <a:schemeClr val="accent2"/>
        </a:lnRef>
        <a:fillRef idx="3">
          <a:schemeClr val="accent2"/>
        </a:fillRef>
        <a:effectRef idx="2">
          <a:schemeClr val="accent2"/>
        </a:effectRef>
        <a:fontRef idx="minor">
          <a:schemeClr val="lt1"/>
        </a:fontRef>
      </a:style>
    </a:spDef>
  </a:objectDefaults>
  <a:extraClrSchemeLst/>
</a:theme>
</file>

<file path=ppt/theme/theme2.xml><?xml version="1.0" encoding="utf-8"?>
<a:theme xmlns:a="http://schemas.openxmlformats.org/drawingml/2006/main" name="1_PDC 2008 BREAKOUT template 4-3_GRAY_FINAL">
  <a:themeElements>
    <a:clrScheme name="PDC 2008">
      <a:dk1>
        <a:srgbClr val="000000"/>
      </a:dk1>
      <a:lt1>
        <a:srgbClr val="FFFFFF"/>
      </a:lt1>
      <a:dk2>
        <a:srgbClr val="6A2433"/>
      </a:dk2>
      <a:lt2>
        <a:srgbClr val="D7AEE4"/>
      </a:lt2>
      <a:accent1>
        <a:srgbClr val="C41665"/>
      </a:accent1>
      <a:accent2>
        <a:srgbClr val="1F6691"/>
      </a:accent2>
      <a:accent3>
        <a:srgbClr val="FFD72F"/>
      </a:accent3>
      <a:accent4>
        <a:srgbClr val="5BB5F3"/>
      </a:accent4>
      <a:accent5>
        <a:srgbClr val="9D9839"/>
      </a:accent5>
      <a:accent6>
        <a:srgbClr val="B45082"/>
      </a:accent6>
      <a:hlink>
        <a:srgbClr val="F3F074"/>
      </a:hlink>
      <a:folHlink>
        <a:srgbClr val="F3F074"/>
      </a:folHlink>
    </a:clrScheme>
    <a:fontScheme name="Century Schoolbook - Calibri">
      <a:majorFont>
        <a:latin typeface="Century Schoolbook"/>
        <a:ea typeface=""/>
        <a:cs typeface=""/>
      </a:majorFont>
      <a:minorFont>
        <a:latin typeface="Calibri"/>
        <a:ea typeface=""/>
        <a:cs typeface=""/>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defRPr>
        </a:defPPr>
      </a:lstStyle>
      <a:style>
        <a:lnRef idx="1">
          <a:schemeClr val="accent2"/>
        </a:lnRef>
        <a:fillRef idx="3">
          <a:schemeClr val="accent2"/>
        </a:fillRef>
        <a:effectRef idx="2">
          <a:schemeClr val="accent2"/>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21069</TotalTime>
  <Words>4709</Words>
  <Application>Microsoft Office PowerPoint</Application>
  <PresentationFormat>Widescreen</PresentationFormat>
  <Paragraphs>324</Paragraphs>
  <Slides>20</Slides>
  <Notes>18</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20</vt:i4>
      </vt:variant>
    </vt:vector>
  </HeadingPairs>
  <TitlesOfParts>
    <vt:vector size="29" baseType="lpstr">
      <vt:lpstr>Architects Daughter</vt:lpstr>
      <vt:lpstr>Arial</vt:lpstr>
      <vt:lpstr>Calibri</vt:lpstr>
      <vt:lpstr>Calibri Light</vt:lpstr>
      <vt:lpstr>Century Schoolbook</vt:lpstr>
      <vt:lpstr>Wingdings</vt:lpstr>
      <vt:lpstr>PDC2008 4_3 Breakout Template_Final V3</vt:lpstr>
      <vt:lpstr>1_PDC 2008 BREAKOUT template 4-3_GRAY_FINAL</vt:lpstr>
      <vt:lpstr>Office Theme</vt:lpstr>
      <vt:lpstr>Cloud computing and Cloudsim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pds</dc:creator>
  <cp:lastModifiedBy>user</cp:lastModifiedBy>
  <cp:revision>219</cp:revision>
  <dcterms:created xsi:type="dcterms:W3CDTF">2008-12-05T03:20:22Z</dcterms:created>
  <dcterms:modified xsi:type="dcterms:W3CDTF">2026-09-11T06:01:57Z</dcterms:modified>
</cp:coreProperties>
</file>