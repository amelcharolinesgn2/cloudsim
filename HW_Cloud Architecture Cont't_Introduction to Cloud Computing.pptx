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303" r:id="rId2"/>
    <p:sldId id="304" r:id="rId3"/>
    <p:sldId id="316" r:id="rId4"/>
    <p:sldId id="299" r:id="rId5"/>
    <p:sldId id="317" r:id="rId6"/>
    <p:sldId id="305" r:id="rId7"/>
    <p:sldId id="318" r:id="rId8"/>
    <p:sldId id="306" r:id="rId9"/>
    <p:sldId id="307" r:id="rId10"/>
    <p:sldId id="308" r:id="rId11"/>
    <p:sldId id="309" r:id="rId12"/>
    <p:sldId id="310" r:id="rId13"/>
    <p:sldId id="311" r:id="rId14"/>
    <p:sldId id="31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71895" autoAdjust="0"/>
  </p:normalViewPr>
  <p:slideViewPr>
    <p:cSldViewPr snapToGrid="0">
      <p:cViewPr varScale="1">
        <p:scale>
          <a:sx n="82" d="100"/>
          <a:sy n="82" d="100"/>
        </p:scale>
        <p:origin x="159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686E6-E4E3-49A3-80C9-B2A9FA4362F5}" type="datetimeFigureOut">
              <a:rPr lang="en-US" smtClean="0"/>
              <a:pPr/>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969D55-0860-4C5D-9C14-D194A02661BA}" type="slidenum">
              <a:rPr lang="en-US" smtClean="0"/>
              <a:pPr/>
              <a:t>‹#›</a:t>
            </a:fld>
            <a:endParaRPr lang="en-US"/>
          </a:p>
        </p:txBody>
      </p:sp>
    </p:spTree>
    <p:extLst>
      <p:ext uri="{BB962C8B-B14F-4D97-AF65-F5344CB8AC3E}">
        <p14:creationId xmlns:p14="http://schemas.microsoft.com/office/powerpoint/2010/main" val="1743342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github.com/Arikatakur" TargetMode="External"/><Relationship Id="rId3" Type="http://schemas.openxmlformats.org/officeDocument/2006/relationships/hyperlink" Target="https://github.com/yetanalytics/datasim" TargetMode="External"/><Relationship Id="rId7" Type="http://schemas.openxmlformats.org/officeDocument/2006/relationships/hyperlink" Target="https://github.com/ShubhankarKulkarni/MIL-STD-1553-Simulator/blob/master/Remote_Terminal/RT_Simulator.py"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github.com/ShubhankarKulkarni/MIL-STD-1553-Simulator/blob/master/Bus_Controller/BC_Simulator.py" TargetMode="External"/><Relationship Id="rId11" Type="http://schemas.openxmlformats.org/officeDocument/2006/relationships/hyperlink" Target="https://www.wireshark.org/" TargetMode="External"/><Relationship Id="rId5" Type="http://schemas.openxmlformats.org/officeDocument/2006/relationships/hyperlink" Target="https://www.altadt.com/download/mil-std-1553-tutorial-and-reference/" TargetMode="External"/><Relationship Id="rId10" Type="http://schemas.openxmlformats.org/officeDocument/2006/relationships/hyperlink" Target="https://iperf.fr/" TargetMode="External"/><Relationship Id="rId4" Type="http://schemas.openxmlformats.org/officeDocument/2006/relationships/hyperlink" Target="https://github.com/Slygriyrsk/quantum-communication-simulator" TargetMode="External"/><Relationship Id="rId9" Type="http://schemas.openxmlformats.org/officeDocument/2006/relationships/hyperlink" Target="https://github.com/Arikatakur/Network-Transmission-Simulato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data communication simulator</a:t>
            </a:r>
          </a:p>
          <a:p>
            <a:r>
              <a:rPr lang="en-US" sz="1200" kern="1200" dirty="0" smtClean="0">
                <a:solidFill>
                  <a:schemeClr val="tx1"/>
                </a:solidFill>
                <a:effectLst/>
                <a:latin typeface="+mn-lt"/>
                <a:ea typeface="+mn-ea"/>
                <a:cs typeface="+mn-cs"/>
              </a:rPr>
              <a:t> </a:t>
            </a:r>
          </a:p>
          <a:p>
            <a:r>
              <a:rPr lang="en-US" sz="1200" u="sng" kern="1200" dirty="0" smtClean="0">
                <a:solidFill>
                  <a:schemeClr val="tx1"/>
                </a:solidFill>
                <a:effectLst/>
                <a:latin typeface="+mn-lt"/>
                <a:ea typeface="+mn-ea"/>
                <a:cs typeface="+mn-cs"/>
                <a:hlinkClick r:id="rId3"/>
              </a:rPr>
              <a:t>https://github.com/yetanalytics/datasim</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Quantum Communication Simulator</a:t>
            </a:r>
          </a:p>
          <a:p>
            <a:r>
              <a:rPr lang="en-US" sz="1200" u="sng" kern="1200" dirty="0" smtClean="0">
                <a:solidFill>
                  <a:schemeClr val="tx1"/>
                </a:solidFill>
                <a:effectLst/>
                <a:latin typeface="+mn-lt"/>
                <a:ea typeface="+mn-ea"/>
                <a:cs typeface="+mn-cs"/>
                <a:hlinkClick r:id="rId4"/>
              </a:rPr>
              <a:t>https://github.com/Slygriyrsk/quantum-communication-simulator</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MIL-STD-1553-Simulator</a:t>
            </a:r>
          </a:p>
          <a:p>
            <a:r>
              <a:rPr lang="en-US" sz="1200" kern="1200" dirty="0" smtClean="0">
                <a:solidFill>
                  <a:schemeClr val="tx1"/>
                </a:solidFill>
                <a:effectLst/>
                <a:latin typeface="+mn-lt"/>
                <a:ea typeface="+mn-ea"/>
                <a:cs typeface="+mn-cs"/>
              </a:rPr>
              <a:t>MIL-STD-1553 is a serial communication protocol that is used in </a:t>
            </a:r>
            <a:r>
              <a:rPr lang="en-US" sz="1200" kern="1200" dirty="0" err="1" smtClean="0">
                <a:solidFill>
                  <a:schemeClr val="tx1"/>
                </a:solidFill>
                <a:effectLst/>
                <a:latin typeface="+mn-lt"/>
                <a:ea typeface="+mn-ea"/>
                <a:cs typeface="+mn-cs"/>
              </a:rPr>
              <a:t>spacecrafts</a:t>
            </a:r>
            <a:r>
              <a:rPr lang="en-US" sz="1200" kern="1200" dirty="0" smtClean="0">
                <a:solidFill>
                  <a:schemeClr val="tx1"/>
                </a:solidFill>
                <a:effectLst/>
                <a:latin typeface="+mn-lt"/>
                <a:ea typeface="+mn-ea"/>
                <a:cs typeface="+mn-cs"/>
              </a:rPr>
              <a:t> for internal communication. A spacecraft consists of various components like main computer, star tracker, fly wheel, temperature sensor, cameras (also called as Remote Terminals) etc. The main computer needs to communicate with all the other peripherals to get the data and send it to ground station for further processing. This internal communication is done by a serial bus called MIL-STD-1553. This repository contains a simulation for this protocol. It can be used to create any space applications by importing the simulator into your code.</a:t>
            </a:r>
          </a:p>
          <a:p>
            <a:r>
              <a:rPr lang="en-US" sz="1200" kern="1200" dirty="0" smtClean="0">
                <a:solidFill>
                  <a:schemeClr val="tx1"/>
                </a:solidFill>
                <a:effectLst/>
                <a:latin typeface="+mn-lt"/>
                <a:ea typeface="+mn-ea"/>
                <a:cs typeface="+mn-cs"/>
              </a:rPr>
              <a:t>MIL-STD-1553 has Bus Controller that orchestrates the transmission and reception of data on the serial bus. It always initiates the communication and commands Remote Terminal for sending or receiving data. Only one node or Remote Terminal can send data on the bus at a given moment when ordered by the Bus Controller. The details of the protocol can be found in </a:t>
            </a:r>
            <a:r>
              <a:rPr lang="en-US" sz="1200" u="sng" kern="1200" dirty="0" smtClean="0">
                <a:solidFill>
                  <a:schemeClr val="tx1"/>
                </a:solidFill>
                <a:effectLst/>
                <a:latin typeface="+mn-lt"/>
                <a:ea typeface="+mn-ea"/>
                <a:cs typeface="+mn-cs"/>
                <a:hlinkClick r:id="rId5"/>
              </a:rPr>
              <a:t>MIL-STD-1553 Tutorial and Reference</a:t>
            </a:r>
            <a:r>
              <a:rPr lang="en-US" sz="1200" kern="1200" dirty="0" smtClean="0">
                <a:solidFill>
                  <a:schemeClr val="tx1"/>
                </a:solidFill>
                <a:effectLst/>
                <a:latin typeface="+mn-lt"/>
                <a:ea typeface="+mn-ea"/>
                <a:cs typeface="+mn-cs"/>
              </a:rPr>
              <a:t> document by Alta </a:t>
            </a:r>
            <a:r>
              <a:rPr lang="en-US" sz="1200" kern="1200" dirty="0" err="1" smtClean="0">
                <a:solidFill>
                  <a:schemeClr val="tx1"/>
                </a:solidFill>
                <a:effectLst/>
                <a:latin typeface="+mn-lt"/>
                <a:ea typeface="+mn-ea"/>
                <a:cs typeface="+mn-cs"/>
              </a:rPr>
              <a:t>dt.</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About This Repository:</a:t>
            </a:r>
          </a:p>
          <a:p>
            <a:r>
              <a:rPr lang="en-US" sz="1200" kern="1200" dirty="0" smtClean="0">
                <a:solidFill>
                  <a:schemeClr val="tx1"/>
                </a:solidFill>
                <a:effectLst/>
                <a:latin typeface="+mn-lt"/>
                <a:ea typeface="+mn-ea"/>
                <a:cs typeface="+mn-cs"/>
              </a:rPr>
              <a:t>This repository segregated based on various components that are described in the MIL-STD-1553 standard. Two of the most important components are Bus Controller and Remote Terminals. For a small network, one serial bus can handle up to 31 remote terminals and one bus controller. This repository is divided into two parts. Bus Controller Simulator and Remote Terminal Simulator. Both the components have separate set of functionalities.</a:t>
            </a:r>
          </a:p>
          <a:p>
            <a:pPr lvl="0"/>
            <a:r>
              <a:rPr lang="en-US" sz="1200" u="sng" kern="1200" dirty="0" smtClean="0">
                <a:solidFill>
                  <a:schemeClr val="tx1"/>
                </a:solidFill>
                <a:effectLst/>
                <a:latin typeface="+mn-lt"/>
                <a:ea typeface="+mn-ea"/>
                <a:cs typeface="+mn-cs"/>
                <a:hlinkClick r:id="rId6"/>
              </a:rPr>
              <a:t>Bus Controller Simulator</a:t>
            </a:r>
            <a:r>
              <a:rPr lang="en-US" sz="1200" kern="1200" dirty="0" smtClean="0">
                <a:solidFill>
                  <a:schemeClr val="tx1"/>
                </a:solidFill>
                <a:effectLst/>
                <a:latin typeface="+mn-lt"/>
                <a:ea typeface="+mn-ea"/>
                <a:cs typeface="+mn-cs"/>
              </a:rPr>
              <a:t> : This simulator is responsible to understand the requirements from the Flight Software or Spacecraft computer and send commands and data to Remote Terminal.</a:t>
            </a:r>
          </a:p>
          <a:p>
            <a:pPr lvl="0"/>
            <a:r>
              <a:rPr lang="en-US" sz="1200" u="sng" kern="1200" dirty="0" smtClean="0">
                <a:solidFill>
                  <a:schemeClr val="tx1"/>
                </a:solidFill>
                <a:effectLst/>
                <a:latin typeface="+mn-lt"/>
                <a:ea typeface="+mn-ea"/>
                <a:cs typeface="+mn-cs"/>
                <a:hlinkClick r:id="rId7"/>
              </a:rPr>
              <a:t>Remote Terminal Simulator</a:t>
            </a:r>
            <a:r>
              <a:rPr lang="en-US" sz="1200" kern="1200" dirty="0" smtClean="0">
                <a:solidFill>
                  <a:schemeClr val="tx1"/>
                </a:solidFill>
                <a:effectLst/>
                <a:latin typeface="+mn-lt"/>
                <a:ea typeface="+mn-ea"/>
                <a:cs typeface="+mn-cs"/>
              </a:rPr>
              <a:t> : This simulator is responsible for understanding the commands or data </a:t>
            </a:r>
            <a:r>
              <a:rPr lang="en-US" sz="1200" kern="1200" dirty="0" err="1" smtClean="0">
                <a:solidFill>
                  <a:schemeClr val="tx1"/>
                </a:solidFill>
                <a:effectLst/>
                <a:latin typeface="+mn-lt"/>
                <a:ea typeface="+mn-ea"/>
                <a:cs typeface="+mn-cs"/>
              </a:rPr>
              <a:t>comming</a:t>
            </a:r>
            <a:r>
              <a:rPr lang="en-US" sz="1200" kern="1200" dirty="0" smtClean="0">
                <a:solidFill>
                  <a:schemeClr val="tx1"/>
                </a:solidFill>
                <a:effectLst/>
                <a:latin typeface="+mn-lt"/>
                <a:ea typeface="+mn-ea"/>
                <a:cs typeface="+mn-cs"/>
              </a:rPr>
              <a:t> from the Bus Controller and send status and data based on the requirements sent by the Bus Controller.</a:t>
            </a:r>
          </a:p>
          <a:p>
            <a:r>
              <a:rPr lang="en-US" sz="1200" b="1" kern="1200" dirty="0" smtClean="0">
                <a:solidFill>
                  <a:schemeClr val="tx1"/>
                </a:solidFill>
                <a:effectLst/>
                <a:latin typeface="+mn-lt"/>
                <a:ea typeface="+mn-ea"/>
                <a:cs typeface="+mn-cs"/>
              </a:rPr>
              <a:t>How To Use This Simulator</a:t>
            </a:r>
          </a:p>
          <a:p>
            <a:r>
              <a:rPr lang="en-US" sz="1200" kern="1200" dirty="0" smtClean="0">
                <a:solidFill>
                  <a:schemeClr val="tx1"/>
                </a:solidFill>
                <a:effectLst/>
                <a:latin typeface="+mn-lt"/>
                <a:ea typeface="+mn-ea"/>
                <a:cs typeface="+mn-cs"/>
              </a:rPr>
              <a:t>https://github.com/ShubhankarKulkarni/MIL-STD-1553-Simulator</a:t>
            </a:r>
          </a:p>
          <a:p>
            <a:r>
              <a:rPr lang="en-US" sz="1200" kern="1200" dirty="0" smtClean="0">
                <a:solidFill>
                  <a:schemeClr val="tx1"/>
                </a:solidFill>
                <a:effectLst/>
                <a:latin typeface="+mn-lt"/>
                <a:ea typeface="+mn-ea"/>
                <a:cs typeface="+mn-cs"/>
              </a:rPr>
              <a:t>This simulator uses </a:t>
            </a:r>
            <a:r>
              <a:rPr lang="en-US" sz="1200" kern="1200" dirty="0" err="1" smtClean="0">
                <a:solidFill>
                  <a:schemeClr val="tx1"/>
                </a:solidFill>
                <a:effectLst/>
                <a:latin typeface="+mn-lt"/>
                <a:ea typeface="+mn-ea"/>
                <a:cs typeface="+mn-cs"/>
              </a:rPr>
              <a:t>ethernet</a:t>
            </a:r>
            <a:r>
              <a:rPr lang="en-US" sz="1200" kern="1200" dirty="0" smtClean="0">
                <a:solidFill>
                  <a:schemeClr val="tx1"/>
                </a:solidFill>
                <a:effectLst/>
                <a:latin typeface="+mn-lt"/>
                <a:ea typeface="+mn-ea"/>
                <a:cs typeface="+mn-cs"/>
              </a:rPr>
              <a:t> communication instead of the actual physical communication that is mentioned in the </a:t>
            </a:r>
            <a:r>
              <a:rPr lang="en-US" sz="1200" kern="1200" dirty="0" err="1" smtClean="0">
                <a:solidFill>
                  <a:schemeClr val="tx1"/>
                </a:solidFill>
                <a:effectLst/>
                <a:latin typeface="+mn-lt"/>
                <a:ea typeface="+mn-ea"/>
                <a:cs typeface="+mn-cs"/>
              </a:rPr>
              <a:t>standars</a:t>
            </a:r>
            <a:r>
              <a:rPr lang="en-US" sz="1200" kern="1200" dirty="0" smtClean="0">
                <a:solidFill>
                  <a:schemeClr val="tx1"/>
                </a:solidFill>
                <a:effectLst/>
                <a:latin typeface="+mn-lt"/>
                <a:ea typeface="+mn-ea"/>
                <a:cs typeface="+mn-cs"/>
              </a:rPr>
              <a:t>. The standard is developed taking harsh and noisy conditions into account. The simulator majorly focuses on data layer of the standard. Based on this, you can either deploy both the simulators on the same machine and test it over the local loopback or you can deploy separate simulators on separate machines in a single subnet or same network.</a:t>
            </a:r>
          </a:p>
          <a:p>
            <a:r>
              <a:rPr lang="en-US" sz="1200" kern="1200" dirty="0" smtClean="0">
                <a:solidFill>
                  <a:schemeClr val="tx1"/>
                </a:solidFill>
                <a:effectLst/>
                <a:latin typeface="+mn-lt"/>
                <a:ea typeface="+mn-ea"/>
                <a:cs typeface="+mn-cs"/>
              </a:rPr>
              <a:t>You can run the following commands to run the simulators</a:t>
            </a:r>
          </a:p>
          <a:p>
            <a:pPr lvl="0"/>
            <a:r>
              <a:rPr lang="en-US" sz="1200" kern="1200" dirty="0" smtClean="0">
                <a:solidFill>
                  <a:schemeClr val="tx1"/>
                </a:solidFill>
                <a:effectLst/>
                <a:latin typeface="+mn-lt"/>
                <a:ea typeface="+mn-ea"/>
                <a:cs typeface="+mn-cs"/>
              </a:rPr>
              <a:t>python BC_Simulator.py</a:t>
            </a:r>
          </a:p>
          <a:p>
            <a:pPr lvl="0"/>
            <a:r>
              <a:rPr lang="en-US" sz="1200" kern="1200" dirty="0" smtClean="0">
                <a:solidFill>
                  <a:schemeClr val="tx1"/>
                </a:solidFill>
                <a:effectLst/>
                <a:latin typeface="+mn-lt"/>
                <a:ea typeface="+mn-ea"/>
                <a:cs typeface="+mn-cs"/>
              </a:rPr>
              <a:t>python RT_Simulator.py</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Or you can uncomment a section of code in Simulator.py that creates threads for Bus Controller Simulator and Remote Terminal Simulator and then run the following command</a:t>
            </a:r>
          </a:p>
          <a:p>
            <a:pPr lvl="0"/>
            <a:r>
              <a:rPr lang="en-US" sz="1200" kern="1200" dirty="0" smtClean="0">
                <a:solidFill>
                  <a:schemeClr val="tx1"/>
                </a:solidFill>
                <a:effectLst/>
                <a:latin typeface="+mn-lt"/>
                <a:ea typeface="+mn-ea"/>
                <a:cs typeface="+mn-cs"/>
              </a:rPr>
              <a:t>python Simulator.py</a:t>
            </a:r>
          </a:p>
          <a:p>
            <a:r>
              <a:rPr lang="en-US" sz="1200" kern="1200" dirty="0" smtClean="0">
                <a:solidFill>
                  <a:schemeClr val="tx1"/>
                </a:solidFill>
                <a:effectLst/>
                <a:latin typeface="+mn-lt"/>
                <a:ea typeface="+mn-ea"/>
                <a:cs typeface="+mn-cs"/>
              </a:rPr>
              <a:t>Simulator.py only provides an example of how you can use BC and RT simulators. You can replace Simulator.py by any space application that needs to transfer any data using MIL-STD-1553. Apart from that, this whole repository is developed as a module. So, you can simply clone the repository into your application and can import it.</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u="none" strike="noStrike" kern="1200" dirty="0" err="1" smtClean="0">
                <a:solidFill>
                  <a:schemeClr val="tx1"/>
                </a:solidFill>
                <a:effectLst/>
                <a:latin typeface="+mn-lt"/>
                <a:ea typeface="+mn-ea"/>
                <a:cs typeface="+mn-cs"/>
                <a:hlinkClick r:id="rId8"/>
              </a:rPr>
              <a:t>Arikatakur</a:t>
            </a:r>
            <a:r>
              <a:rPr lang="en-US" sz="1200" kern="1200" dirty="0" smtClean="0">
                <a:solidFill>
                  <a:schemeClr val="tx1"/>
                </a:solidFill>
                <a:effectLst/>
                <a:latin typeface="+mn-lt"/>
                <a:ea typeface="+mn-ea"/>
                <a:cs typeface="+mn-cs"/>
              </a:rPr>
              <a:t>/</a:t>
            </a:r>
            <a:r>
              <a:rPr lang="en-US" sz="1200" b="1" u="none" strike="noStrike" kern="1200" dirty="0" smtClean="0">
                <a:solidFill>
                  <a:schemeClr val="tx1"/>
                </a:solidFill>
                <a:effectLst/>
                <a:latin typeface="+mn-lt"/>
                <a:ea typeface="+mn-ea"/>
                <a:cs typeface="+mn-cs"/>
                <a:hlinkClick r:id="rId9"/>
              </a:rPr>
              <a:t>Network-Transmission-Simulator</a:t>
            </a:r>
            <a:endParaRPr lang="en-US" sz="14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https://github.com/Arikatakur/Network-Transmission-Simulator</a:t>
            </a:r>
            <a:endParaRPr lang="en-US" sz="1400" kern="1200" dirty="0" smtClean="0">
              <a:solidFill>
                <a:schemeClr val="tx1"/>
              </a:solidFill>
              <a:effectLst/>
              <a:latin typeface="+mn-lt"/>
              <a:ea typeface="+mn-ea"/>
              <a:cs typeface="+mn-cs"/>
            </a:endParaRPr>
          </a:p>
          <a:p>
            <a:r>
              <a:rPr lang="en-US" sz="1200" kern="1200" dirty="0" err="1" smtClean="0">
                <a:solidFill>
                  <a:schemeClr val="tx1"/>
                </a:solidFill>
                <a:effectLst/>
                <a:latin typeface="+mn-lt"/>
                <a:ea typeface="+mn-ea"/>
                <a:cs typeface="+mn-cs"/>
              </a:rPr>
              <a:t>imulates</a:t>
            </a:r>
            <a:r>
              <a:rPr lang="en-US" sz="1200" kern="1200" dirty="0" smtClean="0">
                <a:solidFill>
                  <a:schemeClr val="tx1"/>
                </a:solidFill>
                <a:effectLst/>
                <a:latin typeface="+mn-lt"/>
                <a:ea typeface="+mn-ea"/>
                <a:cs typeface="+mn-cs"/>
              </a:rPr>
              <a:t> network data transmission using the Stop-and-Wait protocol with acknowledgment packets. It includes:</a:t>
            </a:r>
          </a:p>
          <a:p>
            <a:pPr lvl="0"/>
            <a:r>
              <a:rPr lang="en-US" sz="1200" b="1" kern="1200" dirty="0" smtClean="0">
                <a:solidFill>
                  <a:schemeClr val="tx1"/>
                </a:solidFill>
                <a:effectLst/>
                <a:latin typeface="+mn-lt"/>
                <a:ea typeface="+mn-ea"/>
                <a:cs typeface="+mn-cs"/>
              </a:rPr>
              <a:t>Theoretical Calculator</a:t>
            </a:r>
            <a:r>
              <a:rPr lang="en-US" sz="1200" kern="1200" dirty="0" smtClean="0">
                <a:solidFill>
                  <a:schemeClr val="tx1"/>
                </a:solidFill>
                <a:effectLst/>
                <a:latin typeface="+mn-lt"/>
                <a:ea typeface="+mn-ea"/>
                <a:cs typeface="+mn-cs"/>
              </a:rPr>
              <a:t>: Computes the time required to send a file under ideal conditions.</a:t>
            </a:r>
          </a:p>
          <a:p>
            <a:pPr lvl="0"/>
            <a:r>
              <a:rPr lang="en-US" sz="1200" b="1" kern="1200" dirty="0" smtClean="0">
                <a:solidFill>
                  <a:schemeClr val="tx1"/>
                </a:solidFill>
                <a:effectLst/>
                <a:latin typeface="+mn-lt"/>
                <a:ea typeface="+mn-ea"/>
                <a:cs typeface="+mn-cs"/>
              </a:rPr>
              <a:t>UDP File Transfer Tools</a:t>
            </a:r>
            <a:r>
              <a:rPr lang="en-US" sz="1200" kern="1200" dirty="0" smtClean="0">
                <a:solidFill>
                  <a:schemeClr val="tx1"/>
                </a:solidFill>
                <a:effectLst/>
                <a:latin typeface="+mn-lt"/>
                <a:ea typeface="+mn-ea"/>
                <a:cs typeface="+mn-cs"/>
              </a:rPr>
              <a:t>: Sends files over a network using UDP and logs transmission details.</a:t>
            </a:r>
          </a:p>
          <a:p>
            <a:pPr lvl="0"/>
            <a:r>
              <a:rPr lang="en-US" sz="1200" b="1" kern="1200" dirty="0" smtClean="0">
                <a:solidFill>
                  <a:schemeClr val="tx1"/>
                </a:solidFill>
                <a:effectLst/>
                <a:latin typeface="+mn-lt"/>
                <a:ea typeface="+mn-ea"/>
                <a:cs typeface="+mn-cs"/>
              </a:rPr>
              <a:t>Experimentation Framework</a:t>
            </a:r>
            <a:r>
              <a:rPr lang="en-US" sz="1200" kern="1200" dirty="0" smtClean="0">
                <a:solidFill>
                  <a:schemeClr val="tx1"/>
                </a:solidFill>
                <a:effectLst/>
                <a:latin typeface="+mn-lt"/>
                <a:ea typeface="+mn-ea"/>
                <a:cs typeface="+mn-cs"/>
              </a:rPr>
              <a:t>: Measures and compares theoretical vs. actual transmission times.</a:t>
            </a:r>
          </a:p>
          <a:p>
            <a:r>
              <a:rPr lang="en-US" sz="1200" b="1" kern="1200" dirty="0" smtClean="0">
                <a:solidFill>
                  <a:schemeClr val="tx1"/>
                </a:solidFill>
                <a:effectLst/>
                <a:latin typeface="+mn-lt"/>
                <a:ea typeface="+mn-ea"/>
                <a:cs typeface="+mn-cs"/>
              </a:rPr>
              <a:t>Features</a:t>
            </a:r>
          </a:p>
          <a:p>
            <a:pPr lvl="0"/>
            <a:r>
              <a:rPr lang="en-US" sz="1200" kern="1200" dirty="0" smtClean="0">
                <a:solidFill>
                  <a:schemeClr val="tx1"/>
                </a:solidFill>
                <a:effectLst/>
                <a:latin typeface="+mn-lt"/>
                <a:ea typeface="+mn-ea"/>
                <a:cs typeface="+mn-cs"/>
              </a:rPr>
              <a:t>Command-line interface for both theoretical calculations and actual file transmission.</a:t>
            </a:r>
          </a:p>
          <a:p>
            <a:pPr lvl="0"/>
            <a:r>
              <a:rPr lang="en-US" sz="1200" kern="1200" dirty="0" smtClean="0">
                <a:solidFill>
                  <a:schemeClr val="tx1"/>
                </a:solidFill>
                <a:effectLst/>
                <a:latin typeface="+mn-lt"/>
                <a:ea typeface="+mn-ea"/>
                <a:cs typeface="+mn-cs"/>
              </a:rPr>
              <a:t>Logs packet transmission details, acknowledgments, and final results.</a:t>
            </a:r>
          </a:p>
          <a:p>
            <a:pPr lvl="0"/>
            <a:r>
              <a:rPr lang="en-US" sz="1200" kern="1200" dirty="0" smtClean="0">
                <a:solidFill>
                  <a:schemeClr val="tx1"/>
                </a:solidFill>
                <a:effectLst/>
                <a:latin typeface="+mn-lt"/>
                <a:ea typeface="+mn-ea"/>
                <a:cs typeface="+mn-cs"/>
              </a:rPr>
              <a:t>Javadoc documentation for all classes and methods.</a:t>
            </a:r>
          </a:p>
          <a:p>
            <a:pPr lvl="0"/>
            <a:r>
              <a:rPr lang="en-US" sz="1200" kern="1200" dirty="0" smtClean="0">
                <a:solidFill>
                  <a:schemeClr val="tx1"/>
                </a:solidFill>
                <a:effectLst/>
                <a:latin typeface="+mn-lt"/>
                <a:ea typeface="+mn-ea"/>
                <a:cs typeface="+mn-cs"/>
              </a:rPr>
              <a:t>Test cases for robust verification.</a:t>
            </a:r>
          </a:p>
          <a:p>
            <a:r>
              <a:rPr lang="en-US" sz="1200" b="1" kern="1200" dirty="0" smtClean="0">
                <a:solidFill>
                  <a:schemeClr val="tx1"/>
                </a:solidFill>
                <a:effectLst/>
                <a:latin typeface="+mn-lt"/>
                <a:ea typeface="+mn-ea"/>
                <a:cs typeface="+mn-cs"/>
              </a:rPr>
              <a:t>Requirements</a:t>
            </a:r>
          </a:p>
          <a:p>
            <a:pPr lvl="0"/>
            <a:r>
              <a:rPr lang="en-US" sz="1200" b="1" kern="1200" dirty="0" smtClean="0">
                <a:solidFill>
                  <a:schemeClr val="tx1"/>
                </a:solidFill>
                <a:effectLst/>
                <a:latin typeface="+mn-lt"/>
                <a:ea typeface="+mn-ea"/>
                <a:cs typeface="+mn-cs"/>
              </a:rPr>
              <a:t>Java Development Kit (JDK)</a:t>
            </a:r>
            <a:r>
              <a:rPr lang="en-US" sz="1200" kern="1200" dirty="0" smtClean="0">
                <a:solidFill>
                  <a:schemeClr val="tx1"/>
                </a:solidFill>
                <a:effectLst/>
                <a:latin typeface="+mn-lt"/>
                <a:ea typeface="+mn-ea"/>
                <a:cs typeface="+mn-cs"/>
              </a:rPr>
              <a:t> version 8 or higher.</a:t>
            </a:r>
          </a:p>
          <a:p>
            <a:pPr lvl="0"/>
            <a:r>
              <a:rPr lang="en-US" sz="1200" kern="1200" dirty="0" smtClean="0">
                <a:solidFill>
                  <a:schemeClr val="tx1"/>
                </a:solidFill>
                <a:effectLst/>
                <a:latin typeface="+mn-lt"/>
                <a:ea typeface="+mn-ea"/>
                <a:cs typeface="+mn-cs"/>
              </a:rPr>
              <a:t>Two computers on the same network for experimentation.</a:t>
            </a:r>
          </a:p>
          <a:p>
            <a:pPr lvl="0"/>
            <a:r>
              <a:rPr lang="en-US" sz="1200" kern="1200" dirty="0" smtClean="0">
                <a:solidFill>
                  <a:schemeClr val="tx1"/>
                </a:solidFill>
                <a:effectLst/>
                <a:latin typeface="+mn-lt"/>
                <a:ea typeface="+mn-ea"/>
                <a:cs typeface="+mn-cs"/>
              </a:rPr>
              <a:t>Tools:</a:t>
            </a:r>
          </a:p>
          <a:p>
            <a:pPr lvl="1"/>
            <a:r>
              <a:rPr lang="en-US" sz="1200" u="sng" kern="1200" dirty="0" err="1" smtClean="0">
                <a:solidFill>
                  <a:schemeClr val="tx1"/>
                </a:solidFill>
                <a:effectLst/>
                <a:latin typeface="+mn-lt"/>
                <a:ea typeface="+mn-ea"/>
                <a:cs typeface="+mn-cs"/>
                <a:hlinkClick r:id="rId10"/>
              </a:rPr>
              <a:t>iperf</a:t>
            </a:r>
            <a:r>
              <a:rPr lang="en-US" sz="1200" kern="1200" dirty="0" smtClean="0">
                <a:solidFill>
                  <a:schemeClr val="tx1"/>
                </a:solidFill>
                <a:effectLst/>
                <a:latin typeface="+mn-lt"/>
                <a:ea typeface="+mn-ea"/>
                <a:cs typeface="+mn-cs"/>
              </a:rPr>
              <a:t> for bandwidth measurement.</a:t>
            </a:r>
          </a:p>
          <a:p>
            <a:pPr lvl="1"/>
            <a:r>
              <a:rPr lang="en-US" sz="1200" u="sng" kern="1200" dirty="0" smtClean="0">
                <a:solidFill>
                  <a:schemeClr val="tx1"/>
                </a:solidFill>
                <a:effectLst/>
                <a:latin typeface="+mn-lt"/>
                <a:ea typeface="+mn-ea"/>
                <a:cs typeface="+mn-cs"/>
                <a:hlinkClick r:id="rId11"/>
              </a:rPr>
              <a:t>Wireshark</a:t>
            </a:r>
            <a:r>
              <a:rPr lang="en-US" sz="1200" kern="1200" dirty="0" smtClean="0">
                <a:solidFill>
                  <a:schemeClr val="tx1"/>
                </a:solidFill>
                <a:effectLst/>
                <a:latin typeface="+mn-lt"/>
                <a:ea typeface="+mn-ea"/>
                <a:cs typeface="+mn-cs"/>
              </a:rPr>
              <a:t> for packet analysis.</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Design of data communication networks using simulation techniques</a:t>
            </a:r>
          </a:p>
          <a:p>
            <a:r>
              <a:rPr lang="en-US" sz="1200"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A Simulator for FANETs Using 5G Vehicle-to-Everything Communications and Named-Data Networking</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https://arxiv.org/html/2510.13823v1</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2238817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to configure and install Compute: Includes EC2, ECS/EKS for container management</a:t>
            </a:r>
            <a:endParaRPr lang="en-US" dirty="0"/>
          </a:p>
        </p:txBody>
      </p:sp>
      <p:sp>
        <p:nvSpPr>
          <p:cNvPr id="4" name="Slide Number Placeholder 3"/>
          <p:cNvSpPr>
            <a:spLocks noGrp="1"/>
          </p:cNvSpPr>
          <p:nvPr>
            <p:ph type="sldNum" sz="quarter" idx="10"/>
          </p:nvPr>
        </p:nvSpPr>
        <p:spPr/>
        <p:txBody>
          <a:bodyPr/>
          <a:lstStyle/>
          <a:p>
            <a:fld id="{4D969D55-0860-4C5D-9C14-D194A02661BA}" type="slidenum">
              <a:rPr lang="en-US" smtClean="0"/>
              <a:pPr/>
              <a:t>6</a:t>
            </a:fld>
            <a:endParaRPr lang="en-US"/>
          </a:p>
        </p:txBody>
      </p:sp>
    </p:spTree>
    <p:extLst>
      <p:ext uri="{BB962C8B-B14F-4D97-AF65-F5344CB8AC3E}">
        <p14:creationId xmlns:p14="http://schemas.microsoft.com/office/powerpoint/2010/main" val="195995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how to configure and install Compute: Includes EC2, ECS/EKS for container management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how to configure and install </a:t>
            </a:r>
            <a:r>
              <a:rPr lang="en-US" b="1" dirty="0" smtClean="0"/>
              <a:t>Storage:</a:t>
            </a:r>
            <a:r>
              <a:rPr lang="en-US" dirty="0" smtClean="0"/>
              <a:t> Offers </a:t>
            </a:r>
            <a:r>
              <a:rPr lang="en-US" b="1" dirty="0" smtClean="0"/>
              <a:t>S3</a:t>
            </a:r>
            <a:r>
              <a:rPr lang="en-US" dirty="0" smtClean="0"/>
              <a:t> </a:t>
            </a:r>
          </a:p>
          <a:p>
            <a:endParaRPr lang="en-US" dirty="0"/>
          </a:p>
        </p:txBody>
      </p:sp>
      <p:sp>
        <p:nvSpPr>
          <p:cNvPr id="4" name="Slide Number Placeholder 3"/>
          <p:cNvSpPr>
            <a:spLocks noGrp="1"/>
          </p:cNvSpPr>
          <p:nvPr>
            <p:ph type="sldNum" sz="quarter" idx="10"/>
          </p:nvPr>
        </p:nvSpPr>
        <p:spPr/>
        <p:txBody>
          <a:bodyPr/>
          <a:lstStyle/>
          <a:p>
            <a:fld id="{4D969D55-0860-4C5D-9C14-D194A02661BA}" type="slidenum">
              <a:rPr lang="en-US" smtClean="0"/>
              <a:pPr/>
              <a:t>8</a:t>
            </a:fld>
            <a:endParaRPr lang="en-US"/>
          </a:p>
        </p:txBody>
      </p:sp>
    </p:spTree>
    <p:extLst>
      <p:ext uri="{BB962C8B-B14F-4D97-AF65-F5344CB8AC3E}">
        <p14:creationId xmlns:p14="http://schemas.microsoft.com/office/powerpoint/2010/main" val="2044391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to configure and install Cloud Storage on GCP</a:t>
            </a:r>
            <a:endParaRPr lang="en-US" dirty="0"/>
          </a:p>
        </p:txBody>
      </p:sp>
      <p:sp>
        <p:nvSpPr>
          <p:cNvPr id="4" name="Slide Number Placeholder 3"/>
          <p:cNvSpPr>
            <a:spLocks noGrp="1"/>
          </p:cNvSpPr>
          <p:nvPr>
            <p:ph type="sldNum" sz="quarter" idx="10"/>
          </p:nvPr>
        </p:nvSpPr>
        <p:spPr/>
        <p:txBody>
          <a:bodyPr/>
          <a:lstStyle/>
          <a:p>
            <a:fld id="{4D969D55-0860-4C5D-9C14-D194A02661BA}" type="slidenum">
              <a:rPr lang="en-US" smtClean="0"/>
              <a:pPr/>
              <a:t>10</a:t>
            </a:fld>
            <a:endParaRPr lang="en-US"/>
          </a:p>
        </p:txBody>
      </p:sp>
    </p:spTree>
    <p:extLst>
      <p:ext uri="{BB962C8B-B14F-4D97-AF65-F5344CB8AC3E}">
        <p14:creationId xmlns:p14="http://schemas.microsoft.com/office/powerpoint/2010/main" val="709396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570989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3606021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56250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410691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693935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833239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349159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147928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973712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269227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19AD06-451C-413E-AF31-86503C137FDF}" type="slidenum">
              <a:rPr lang="en-US" smtClean="0"/>
              <a:pPr/>
              <a:t>‹#›</a:t>
            </a:fld>
            <a:endParaRPr lang="en-US"/>
          </a:p>
        </p:txBody>
      </p:sp>
    </p:spTree>
    <p:extLst>
      <p:ext uri="{BB962C8B-B14F-4D97-AF65-F5344CB8AC3E}">
        <p14:creationId xmlns:p14="http://schemas.microsoft.com/office/powerpoint/2010/main" val="944081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9AD06-451C-413E-AF31-86503C137FDF}" type="slidenum">
              <a:rPr lang="en-US" smtClean="0"/>
              <a:pPr/>
              <a:t>‹#›</a:t>
            </a:fld>
            <a:endParaRPr lang="en-US"/>
          </a:p>
        </p:txBody>
      </p:sp>
    </p:spTree>
    <p:extLst>
      <p:ext uri="{BB962C8B-B14F-4D97-AF65-F5344CB8AC3E}">
        <p14:creationId xmlns:p14="http://schemas.microsoft.com/office/powerpoint/2010/main" val="2198052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HsOvZCnrPVk&amp;t=46"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3614677" y="3017639"/>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r>
              <a:rPr lang="en-US" b="1" dirty="0" smtClean="0">
                <a:solidFill>
                  <a:srgbClr val="0070C0"/>
                </a:solidFill>
                <a:latin typeface="Cambria" panose="02040503050406030204"/>
                <a:cs typeface="Cambria" panose="02040503050406030204"/>
              </a:rPr>
              <a:t>Cloud Architecture</a:t>
            </a:r>
            <a:endParaRPr lang="en-US" dirty="0">
              <a:solidFill>
                <a:srgbClr val="0070C0"/>
              </a:solidFill>
              <a:latin typeface="Cambria" panose="02040503050406030204"/>
              <a:cs typeface="Cambria" panose="02040503050406030204"/>
            </a:endParaRPr>
          </a:p>
        </p:txBody>
      </p:sp>
      <p:sp>
        <p:nvSpPr>
          <p:cNvPr id="35" name="Title 1"/>
          <p:cNvSpPr txBox="1">
            <a:spLocks/>
          </p:cNvSpPr>
          <p:nvPr/>
        </p:nvSpPr>
        <p:spPr>
          <a:xfrm>
            <a:off x="3625188" y="2208342"/>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endParaRPr lang="en-US" dirty="0">
              <a:solidFill>
                <a:srgbClr val="0070C0"/>
              </a:solidFill>
              <a:latin typeface="Cambria" panose="02040503050406030204"/>
              <a:cs typeface="Cambria" panose="02040503050406030204"/>
            </a:endParaRPr>
          </a:p>
        </p:txBody>
      </p:sp>
      <p:sp>
        <p:nvSpPr>
          <p:cNvPr id="36" name="Title 1"/>
          <p:cNvSpPr txBox="1">
            <a:spLocks/>
          </p:cNvSpPr>
          <p:nvPr/>
        </p:nvSpPr>
        <p:spPr>
          <a:xfrm>
            <a:off x="3614677" y="1441087"/>
            <a:ext cx="9347200" cy="771712"/>
          </a:xfrm>
          <a:prstGeom prst="rect">
            <a:avLst/>
          </a:prstGeom>
        </p:spPr>
        <p:txBody>
          <a:bodyPr vert="horz" lIns="81280" tIns="40640" rIns="81280" bIns="4064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gn="just">
              <a:lnSpc>
                <a:spcPct val="100000"/>
              </a:lnSpc>
            </a:pPr>
            <a:endParaRPr lang="en-US" dirty="0">
              <a:solidFill>
                <a:srgbClr val="0070C0"/>
              </a:solidFill>
              <a:latin typeface="Cambria" panose="02040503050406030204"/>
              <a:cs typeface="Cambria" panose="02040503050406030204"/>
            </a:endParaRPr>
          </a:p>
        </p:txBody>
      </p:sp>
      <p:sp>
        <p:nvSpPr>
          <p:cNvPr id="39" name="Rectangle 38"/>
          <p:cNvSpPr/>
          <p:nvPr/>
        </p:nvSpPr>
        <p:spPr>
          <a:xfrm>
            <a:off x="9522882" y="6020722"/>
            <a:ext cx="2249334" cy="215444"/>
          </a:xfrm>
          <a:prstGeom prst="rect">
            <a:avLst/>
          </a:prstGeom>
        </p:spPr>
        <p:txBody>
          <a:bodyPr wrap="none">
            <a:spAutoFit/>
          </a:bodyPr>
          <a:lstStyle/>
          <a:p>
            <a:r>
              <a:rPr lang="en-US" sz="800" dirty="0"/>
              <a:t>https://</a:t>
            </a:r>
            <a:r>
              <a:rPr lang="en-US" sz="800" dirty="0" smtClean="0"/>
              <a:t>github.com/amelcharolinesgn2/CloudSim</a:t>
            </a:r>
            <a:endParaRPr lang="en-US" sz="800" dirty="0"/>
          </a:p>
        </p:txBody>
      </p:sp>
      <p:sp>
        <p:nvSpPr>
          <p:cNvPr id="40" name="Rectangle 39"/>
          <p:cNvSpPr/>
          <p:nvPr/>
        </p:nvSpPr>
        <p:spPr>
          <a:xfrm>
            <a:off x="9543124" y="5209609"/>
            <a:ext cx="2487830" cy="215444"/>
          </a:xfrm>
          <a:prstGeom prst="rect">
            <a:avLst/>
          </a:prstGeom>
        </p:spPr>
        <p:txBody>
          <a:bodyPr wrap="square">
            <a:spAutoFit/>
          </a:bodyPr>
          <a:lstStyle/>
          <a:p>
            <a:r>
              <a:rPr lang="en-US" sz="800" dirty="0"/>
              <a:t>https://www.youtube.com/@AmelOline/videos</a:t>
            </a:r>
          </a:p>
        </p:txBody>
      </p:sp>
      <p:sp>
        <p:nvSpPr>
          <p:cNvPr id="41" name="Rectangle 40"/>
          <p:cNvSpPr/>
          <p:nvPr/>
        </p:nvSpPr>
        <p:spPr>
          <a:xfrm>
            <a:off x="10332319" y="5071110"/>
            <a:ext cx="1545230" cy="215444"/>
          </a:xfrm>
          <a:prstGeom prst="rect">
            <a:avLst/>
          </a:prstGeom>
        </p:spPr>
        <p:txBody>
          <a:bodyPr wrap="square">
            <a:spAutoFit/>
          </a:bodyPr>
          <a:lstStyle/>
          <a:p>
            <a:r>
              <a:rPr lang="en-US" sz="800" dirty="0"/>
              <a:t>https://github.com/siagianp</a:t>
            </a:r>
          </a:p>
        </p:txBody>
      </p:sp>
      <p:sp>
        <p:nvSpPr>
          <p:cNvPr id="42" name="Rectangle 41"/>
          <p:cNvSpPr/>
          <p:nvPr/>
        </p:nvSpPr>
        <p:spPr>
          <a:xfrm>
            <a:off x="8617484" y="5348109"/>
            <a:ext cx="3490509" cy="215444"/>
          </a:xfrm>
          <a:prstGeom prst="rect">
            <a:avLst/>
          </a:prstGeom>
        </p:spPr>
        <p:txBody>
          <a:bodyPr wrap="square">
            <a:spAutoFit/>
          </a:bodyPr>
          <a:lstStyle/>
          <a:p>
            <a:r>
              <a:rPr lang="en-US" sz="800" dirty="0"/>
              <a:t>https://github.com/amelcharolinesgn2/IoT_simulator-mqtt-NodeRed</a:t>
            </a:r>
          </a:p>
        </p:txBody>
      </p:sp>
      <p:sp>
        <p:nvSpPr>
          <p:cNvPr id="43" name="Rectangle 42"/>
          <p:cNvSpPr/>
          <p:nvPr/>
        </p:nvSpPr>
        <p:spPr>
          <a:xfrm>
            <a:off x="9025524" y="5486608"/>
            <a:ext cx="2746692" cy="338554"/>
          </a:xfrm>
          <a:prstGeom prst="rect">
            <a:avLst/>
          </a:prstGeom>
        </p:spPr>
        <p:txBody>
          <a:bodyPr wrap="square">
            <a:spAutoFit/>
          </a:bodyPr>
          <a:lstStyle/>
          <a:p>
            <a:r>
              <a:rPr lang="en-US" sz="800" dirty="0"/>
              <a:t>https://github.com/amelcharolinesgn2/Cloud-Infrastructures</a:t>
            </a:r>
          </a:p>
        </p:txBody>
      </p:sp>
      <p:sp>
        <p:nvSpPr>
          <p:cNvPr id="44" name="Rectangle 43"/>
          <p:cNvSpPr/>
          <p:nvPr/>
        </p:nvSpPr>
        <p:spPr>
          <a:xfrm>
            <a:off x="8521016" y="5602024"/>
            <a:ext cx="3286814" cy="338554"/>
          </a:xfrm>
          <a:prstGeom prst="rect">
            <a:avLst/>
          </a:prstGeom>
        </p:spPr>
        <p:txBody>
          <a:bodyPr wrap="square">
            <a:spAutoFit/>
          </a:bodyPr>
          <a:lstStyle/>
          <a:p>
            <a:r>
              <a:rPr lang="en-US" sz="800" dirty="0"/>
              <a:t>https://github.com/amelcharolinesgn2/ClouD-Infrastructure-SISKA-2025</a:t>
            </a:r>
          </a:p>
        </p:txBody>
      </p:sp>
      <p:sp>
        <p:nvSpPr>
          <p:cNvPr id="45" name="Rectangle 44"/>
          <p:cNvSpPr/>
          <p:nvPr/>
        </p:nvSpPr>
        <p:spPr>
          <a:xfrm>
            <a:off x="8275534" y="5723350"/>
            <a:ext cx="3537184" cy="214178"/>
          </a:xfrm>
          <a:prstGeom prst="rect">
            <a:avLst/>
          </a:prstGeom>
        </p:spPr>
        <p:txBody>
          <a:bodyPr wrap="square">
            <a:spAutoFit/>
          </a:bodyPr>
          <a:lstStyle/>
          <a:p>
            <a:r>
              <a:rPr lang="en-US" sz="800" dirty="0"/>
              <a:t>https://github.com/amelcharolinesgn2/Gyroscope-Sensor-Data-Accelerometer</a:t>
            </a:r>
          </a:p>
        </p:txBody>
      </p:sp>
      <p:sp>
        <p:nvSpPr>
          <p:cNvPr id="46" name="Rectangle 45"/>
          <p:cNvSpPr/>
          <p:nvPr/>
        </p:nvSpPr>
        <p:spPr>
          <a:xfrm>
            <a:off x="9538073" y="5845909"/>
            <a:ext cx="2598495" cy="215444"/>
          </a:xfrm>
          <a:prstGeom prst="rect">
            <a:avLst/>
          </a:prstGeom>
        </p:spPr>
        <p:txBody>
          <a:bodyPr wrap="square">
            <a:spAutoFit/>
          </a:bodyPr>
          <a:lstStyle/>
          <a:p>
            <a:r>
              <a:rPr lang="en-US" sz="800" dirty="0"/>
              <a:t>https://</a:t>
            </a:r>
            <a:r>
              <a:rPr lang="en-US" sz="800" dirty="0" smtClean="0"/>
              <a:t>github.com/amelcharolinesgn2/cloudSim</a:t>
            </a:r>
            <a:endParaRPr lang="en-US" sz="800" dirty="0"/>
          </a:p>
        </p:txBody>
      </p:sp>
    </p:spTree>
    <p:extLst>
      <p:ext uri="{BB962C8B-B14F-4D97-AF65-F5344CB8AC3E}">
        <p14:creationId xmlns:p14="http://schemas.microsoft.com/office/powerpoint/2010/main" val="36615987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a:t>OpenStack</a:t>
            </a:r>
            <a:endParaRPr lang="en-US" sz="36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2</a:t>
            </a:fld>
            <a:endParaRPr lang="en-US"/>
          </a:p>
        </p:txBody>
      </p:sp>
      <p:pic>
        <p:nvPicPr>
          <p:cNvPr id="3" name="Picture 2"/>
          <p:cNvPicPr>
            <a:picLocks noChangeAspect="1"/>
          </p:cNvPicPr>
          <p:nvPr/>
        </p:nvPicPr>
        <p:blipFill>
          <a:blip r:embed="rId2"/>
          <a:stretch>
            <a:fillRect/>
          </a:stretch>
        </p:blipFill>
        <p:spPr>
          <a:xfrm>
            <a:off x="838200" y="1418852"/>
            <a:ext cx="7543800" cy="5120060"/>
          </a:xfrm>
          <a:prstGeom prst="rect">
            <a:avLst/>
          </a:prstGeom>
        </p:spPr>
      </p:pic>
      <p:sp>
        <p:nvSpPr>
          <p:cNvPr id="6" name="Rectangle 1"/>
          <p:cNvSpPr>
            <a:spLocks noChangeArrowheads="1"/>
          </p:cNvSpPr>
          <p:nvPr/>
        </p:nvSpPr>
        <p:spPr bwMode="auto">
          <a:xfrm>
            <a:off x="9311640" y="5358352"/>
            <a:ext cx="26517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Nova</a:t>
            </a:r>
            <a:r>
              <a:rPr kumimoji="0" lang="en-US" altLang="en-US" sz="1200" b="0" i="0" u="none" strike="noStrike" cap="none" normalizeH="0" baseline="0" dirty="0" smtClean="0">
                <a:ln>
                  <a:noFill/>
                </a:ln>
                <a:solidFill>
                  <a:schemeClr val="tx1"/>
                </a:solidFill>
                <a:effectLst/>
                <a:latin typeface="Google Sans"/>
              </a:rPr>
              <a:t> (Compute / Instance)</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Neutron</a:t>
            </a:r>
            <a:r>
              <a:rPr kumimoji="0" lang="en-US" altLang="en-US" sz="1200" b="0" i="0" u="none" strike="noStrike" cap="none" normalizeH="0" baseline="0" dirty="0" smtClean="0">
                <a:ln>
                  <a:noFill/>
                </a:ln>
                <a:solidFill>
                  <a:schemeClr val="tx1"/>
                </a:solidFill>
                <a:effectLst/>
                <a:latin typeface="Google Sans"/>
              </a:rPr>
              <a:t> (Networking / </a:t>
            </a:r>
            <a:r>
              <a:rPr kumimoji="0" lang="en-US" altLang="en-US" sz="1200" b="0" i="0" u="none" strike="noStrike" cap="none" normalizeH="0" baseline="0" dirty="0" err="1" smtClean="0">
                <a:ln>
                  <a:noFill/>
                </a:ln>
                <a:solidFill>
                  <a:schemeClr val="tx1"/>
                </a:solidFill>
                <a:effectLst/>
                <a:latin typeface="Google Sans"/>
              </a:rPr>
              <a:t>Jaringan</a:t>
            </a:r>
            <a:r>
              <a:rPr kumimoji="0" lang="en-US" altLang="en-US" sz="1200" b="0" i="0" u="none" strike="noStrike" cap="none" normalizeH="0" baseline="0" dirty="0" smtClean="0">
                <a:ln>
                  <a:noFill/>
                </a:ln>
                <a:solidFill>
                  <a:schemeClr val="tx1"/>
                </a:solidFill>
                <a:effectLst/>
                <a:latin typeface="Google Sans"/>
              </a:rPr>
              <a: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Keystone</a:t>
            </a:r>
            <a:r>
              <a:rPr kumimoji="0" lang="en-US" altLang="en-US" sz="1200" b="0" i="0" u="none" strike="noStrike" cap="none" normalizeH="0" baseline="0" dirty="0" smtClean="0">
                <a:ln>
                  <a:noFill/>
                </a:ln>
                <a:solidFill>
                  <a:schemeClr val="tx1"/>
                </a:solidFill>
                <a:effectLst/>
                <a:latin typeface="Google Sans"/>
              </a:rPr>
              <a:t> (Identity / User &amp; Project)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Cinder</a:t>
            </a:r>
            <a:r>
              <a:rPr kumimoji="0" lang="en-US" altLang="en-US" sz="1200" b="0" i="0" u="none" strike="noStrike" cap="none" normalizeH="0" baseline="0" dirty="0" smtClean="0">
                <a:ln>
                  <a:noFill/>
                </a:ln>
                <a:solidFill>
                  <a:schemeClr val="tx1"/>
                </a:solidFill>
                <a:effectLst/>
                <a:latin typeface="Google Sans"/>
              </a:rPr>
              <a:t> (Block Storage / Volume)</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Glance</a:t>
            </a:r>
            <a:r>
              <a:rPr kumimoji="0" lang="en-US" altLang="en-US" sz="1200" b="0" i="0" u="none" strike="noStrike" cap="none" normalizeH="0" baseline="0" dirty="0" smtClean="0">
                <a:ln>
                  <a:noFill/>
                </a:ln>
                <a:solidFill>
                  <a:schemeClr val="tx1"/>
                </a:solidFill>
                <a:effectLst/>
                <a:latin typeface="Google Sans"/>
              </a:rPr>
              <a:t> (Image / OS)</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7644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19AD06-451C-413E-AF31-86503C137FDF}" type="slidenum">
              <a:rPr lang="en-US" smtClean="0"/>
              <a:pPr/>
              <a:t>3</a:t>
            </a:fld>
            <a:endParaRPr lang="en-US"/>
          </a:p>
        </p:txBody>
      </p:sp>
      <p:pic>
        <p:nvPicPr>
          <p:cNvPr id="5" name="Picture 4"/>
          <p:cNvPicPr>
            <a:picLocks noChangeAspect="1"/>
          </p:cNvPicPr>
          <p:nvPr/>
        </p:nvPicPr>
        <p:blipFill>
          <a:blip r:embed="rId2"/>
          <a:stretch>
            <a:fillRect/>
          </a:stretch>
        </p:blipFill>
        <p:spPr>
          <a:xfrm>
            <a:off x="2636520" y="341948"/>
            <a:ext cx="7673339" cy="5755004"/>
          </a:xfrm>
          <a:prstGeom prst="rect">
            <a:avLst/>
          </a:prstGeom>
        </p:spPr>
      </p:pic>
    </p:spTree>
    <p:extLst>
      <p:ext uri="{BB962C8B-B14F-4D97-AF65-F5344CB8AC3E}">
        <p14:creationId xmlns:p14="http://schemas.microsoft.com/office/powerpoint/2010/main" val="2520891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19AD06-451C-413E-AF31-86503C137FDF}" type="slidenum">
              <a:rPr lang="en-US" smtClean="0"/>
              <a:pPr/>
              <a:t>4</a:t>
            </a:fld>
            <a:endParaRPr lang="en-US"/>
          </a:p>
        </p:txBody>
      </p:sp>
      <p:pic>
        <p:nvPicPr>
          <p:cNvPr id="9" name="Picture 8"/>
          <p:cNvPicPr>
            <a:picLocks noChangeAspect="1"/>
          </p:cNvPicPr>
          <p:nvPr/>
        </p:nvPicPr>
        <p:blipFill>
          <a:blip r:embed="rId2"/>
          <a:stretch>
            <a:fillRect/>
          </a:stretch>
        </p:blipFill>
        <p:spPr>
          <a:xfrm>
            <a:off x="228599" y="359092"/>
            <a:ext cx="5212079" cy="2725182"/>
          </a:xfrm>
          <a:prstGeom prst="rect">
            <a:avLst/>
          </a:prstGeom>
        </p:spPr>
      </p:pic>
      <p:pic>
        <p:nvPicPr>
          <p:cNvPr id="10" name="Picture 9"/>
          <p:cNvPicPr>
            <a:picLocks noChangeAspect="1"/>
          </p:cNvPicPr>
          <p:nvPr/>
        </p:nvPicPr>
        <p:blipFill>
          <a:blip r:embed="rId3"/>
          <a:stretch>
            <a:fillRect/>
          </a:stretch>
        </p:blipFill>
        <p:spPr>
          <a:xfrm>
            <a:off x="447674" y="3407450"/>
            <a:ext cx="4993005" cy="2790825"/>
          </a:xfrm>
          <a:prstGeom prst="rect">
            <a:avLst/>
          </a:prstGeom>
        </p:spPr>
      </p:pic>
      <p:pic>
        <p:nvPicPr>
          <p:cNvPr id="12" name="Picture 11"/>
          <p:cNvPicPr>
            <a:picLocks noChangeAspect="1"/>
          </p:cNvPicPr>
          <p:nvPr/>
        </p:nvPicPr>
        <p:blipFill>
          <a:blip r:embed="rId4"/>
          <a:stretch>
            <a:fillRect/>
          </a:stretch>
        </p:blipFill>
        <p:spPr>
          <a:xfrm>
            <a:off x="6377790" y="1584005"/>
            <a:ext cx="5189370" cy="36468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19AD06-451C-413E-AF31-86503C137FDF}" type="slidenum">
              <a:rPr lang="en-US" smtClean="0"/>
              <a:pPr/>
              <a:t>5</a:t>
            </a:fld>
            <a:endParaRPr lang="en-US"/>
          </a:p>
        </p:txBody>
      </p:sp>
      <p:sp>
        <p:nvSpPr>
          <p:cNvPr id="5" name="Rectangle 4"/>
          <p:cNvSpPr/>
          <p:nvPr/>
        </p:nvSpPr>
        <p:spPr>
          <a:xfrm>
            <a:off x="213360" y="301675"/>
            <a:ext cx="6233160" cy="923330"/>
          </a:xfrm>
          <a:prstGeom prst="rect">
            <a:avLst/>
          </a:prstGeom>
        </p:spPr>
        <p:txBody>
          <a:bodyPr wrap="square">
            <a:spAutoFit/>
          </a:bodyPr>
          <a:lstStyle/>
          <a:p>
            <a:r>
              <a:rPr lang="en-US" dirty="0"/>
              <a:t>OpenStack uses a modular design where different services work together through APIs</a:t>
            </a:r>
            <a:r>
              <a:rPr lang="en-US" dirty="0" smtClean="0"/>
              <a:t>:</a:t>
            </a:r>
          </a:p>
          <a:p>
            <a:endParaRPr lang="en-US" dirty="0"/>
          </a:p>
        </p:txBody>
      </p:sp>
      <p:sp>
        <p:nvSpPr>
          <p:cNvPr id="6" name="Rectangle 1"/>
          <p:cNvSpPr>
            <a:spLocks noChangeArrowheads="1"/>
          </p:cNvSpPr>
          <p:nvPr/>
        </p:nvSpPr>
        <p:spPr bwMode="auto">
          <a:xfrm>
            <a:off x="403860" y="1012151"/>
            <a:ext cx="585216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Nova (Compute):</a:t>
            </a:r>
            <a:r>
              <a:rPr kumimoji="0" lang="en-US" altLang="en-US" sz="1200" b="0" i="0" u="none" strike="noStrike" cap="none" normalizeH="0" baseline="0" dirty="0" smtClean="0">
                <a:ln>
                  <a:noFill/>
                </a:ln>
                <a:solidFill>
                  <a:schemeClr val="tx1"/>
                </a:solidFill>
                <a:effectLst/>
                <a:latin typeface="Google Sans"/>
              </a:rPr>
              <a:t> Manages and provisions virtual machine instances.</a:t>
            </a:r>
            <a:endParaRPr kumimoji="0" lang="en-US" altLang="en-US" sz="800" b="0" i="0" u="none" strike="noStrike" cap="none" normalizeH="0" baseline="0" dirty="0" smtClean="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Neutron (Networking):</a:t>
            </a:r>
            <a:r>
              <a:rPr kumimoji="0" lang="en-US" altLang="en-US" sz="1200" b="0" i="0" u="none" strike="noStrike" cap="none" normalizeH="0" baseline="0" dirty="0" smtClean="0">
                <a:ln>
                  <a:noFill/>
                </a:ln>
                <a:solidFill>
                  <a:schemeClr val="tx1"/>
                </a:solidFill>
                <a:effectLst/>
                <a:latin typeface="Google Sans"/>
              </a:rPr>
              <a:t> Provides pluggable, scalable networking and IP management.</a:t>
            </a:r>
            <a:endParaRPr kumimoji="0" lang="en-US" altLang="en-US" sz="800" b="0" i="0" u="none" strike="noStrike" cap="none" normalizeH="0" baseline="0" dirty="0" smtClean="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Cinder (Block Storage):</a:t>
            </a:r>
            <a:r>
              <a:rPr kumimoji="0" lang="en-US" altLang="en-US" sz="1200" b="0" i="0" u="none" strike="noStrike" cap="none" normalizeH="0" baseline="0" dirty="0" smtClean="0">
                <a:ln>
                  <a:noFill/>
                </a:ln>
                <a:solidFill>
                  <a:schemeClr val="tx1"/>
                </a:solidFill>
                <a:effectLst/>
                <a:latin typeface="Google Sans"/>
              </a:rPr>
              <a:t> Delivers persistent block storage devices for virtual servers.</a:t>
            </a:r>
            <a:endParaRPr kumimoji="0" lang="en-US" altLang="en-US" sz="800" b="0" i="0" u="none" strike="noStrike" cap="none" normalizeH="0" baseline="0" dirty="0" smtClean="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Swift (Object Storage):</a:t>
            </a:r>
            <a:r>
              <a:rPr kumimoji="0" lang="en-US" altLang="en-US" sz="1200" b="0" i="0" u="none" strike="noStrike" cap="none" normalizeH="0" baseline="0" dirty="0" smtClean="0">
                <a:ln>
                  <a:noFill/>
                </a:ln>
                <a:solidFill>
                  <a:schemeClr val="tx1"/>
                </a:solidFill>
                <a:effectLst/>
                <a:latin typeface="Google Sans"/>
              </a:rPr>
              <a:t> Handles unstructured data and object storage for backups and media.</a:t>
            </a:r>
            <a:endParaRPr kumimoji="0" lang="en-US" altLang="en-US" sz="800" b="0" i="0" u="none" strike="noStrike" cap="none" normalizeH="0" baseline="0" dirty="0" smtClean="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Glance (Image Service):</a:t>
            </a:r>
            <a:r>
              <a:rPr kumimoji="0" lang="en-US" altLang="en-US" sz="1200" b="0" i="0" u="none" strike="noStrike" cap="none" normalizeH="0" baseline="0" dirty="0" smtClean="0">
                <a:ln>
                  <a:noFill/>
                </a:ln>
                <a:solidFill>
                  <a:schemeClr val="tx1"/>
                </a:solidFill>
                <a:effectLst/>
                <a:latin typeface="Google Sans"/>
              </a:rPr>
              <a:t> Stores and catalogs disk and server images.</a:t>
            </a:r>
            <a:endParaRPr kumimoji="0" lang="en-US" altLang="en-US" sz="800" b="0" i="0" u="none" strike="noStrike" cap="none" normalizeH="0" baseline="0" dirty="0" smtClean="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200" b="1" i="0" u="none" strike="noStrike" cap="none" normalizeH="0" baseline="0" dirty="0" smtClean="0">
                <a:ln>
                  <a:noFill/>
                </a:ln>
                <a:solidFill>
                  <a:schemeClr val="tx1"/>
                </a:solidFill>
                <a:effectLst/>
                <a:latin typeface="Google Sans"/>
              </a:rPr>
              <a:t>Keystone (Identity Service):</a:t>
            </a:r>
            <a:r>
              <a:rPr kumimoji="0" lang="en-US" altLang="en-US" sz="1200" b="0" i="0" u="none" strike="noStrike" cap="none" normalizeH="0" baseline="0" dirty="0" smtClean="0">
                <a:ln>
                  <a:noFill/>
                </a:ln>
                <a:solidFill>
                  <a:schemeClr val="tx1"/>
                </a:solidFill>
                <a:effectLst/>
                <a:latin typeface="Google Sans"/>
              </a:rPr>
              <a:t> Manages user authentication, tokens, and access policies. [</a:t>
            </a:r>
            <a:r>
              <a:rPr kumimoji="0" lang="en-US" altLang="en-US" sz="1200" b="0" i="0" u="none" strike="noStrike" cap="none" normalizeH="0" baseline="0" dirty="0" smtClean="0">
                <a:ln>
                  <a:noFill/>
                </a:ln>
                <a:solidFill>
                  <a:schemeClr val="tx1"/>
                </a:solidFill>
                <a:effectLst/>
                <a:latin typeface="Google Sans"/>
                <a:hlinkClick r:id="rId2"/>
              </a:rPr>
              <a:t>1</a:t>
            </a:r>
            <a:r>
              <a:rPr kumimoji="0" lang="en-US" altLang="en-US" sz="1200" b="0" i="0" u="none" strike="noStrike" cap="none" normalizeH="0" baseline="0" dirty="0" smtClean="0">
                <a:ln>
                  <a:noFill/>
                </a:ln>
                <a:solidFill>
                  <a:schemeClr val="tx1"/>
                </a:solidFill>
                <a:effectLst/>
                <a:latin typeface="Google Sans"/>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403860" y="3330193"/>
            <a:ext cx="6042660" cy="152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Google Sans"/>
              </a:rPr>
              <a:t>💻 Compute Service (Nova)</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Google Sans"/>
              </a:rPr>
              <a:t>The </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nova</a:t>
            </a:r>
            <a:r>
              <a:rPr kumimoji="0" lang="en-US" altLang="en-US" sz="1200" b="0" i="0" u="none" strike="noStrike" cap="none" normalizeH="0" baseline="0" dirty="0" smtClean="0">
                <a:ln>
                  <a:noFill/>
                </a:ln>
                <a:solidFill>
                  <a:schemeClr val="tx1"/>
                </a:solidFill>
                <a:effectLst/>
                <a:latin typeface="Google Sans"/>
              </a:rPr>
              <a:t> database tracks instances, hypervisors, and compute resources.</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instances</a:t>
            </a:r>
            <a:r>
              <a:rPr kumimoji="0" lang="en-US" altLang="en-US" sz="1200" b="0" i="0" u="none" strike="noStrike" cap="none" normalizeH="0" baseline="0" dirty="0" smtClean="0">
                <a:ln>
                  <a:noFill/>
                </a:ln>
                <a:solidFill>
                  <a:schemeClr val="tx1"/>
                </a:solidFill>
                <a:effectLst/>
                <a:latin typeface="Google Sans"/>
              </a:rPr>
              <a:t>: Stores the virtual machine details (UUID, host, power state, architecture).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instance_types</a:t>
            </a:r>
            <a:r>
              <a:rPr kumimoji="0" lang="en-US" altLang="en-US" sz="1200" b="0" i="0" u="none" strike="noStrike" cap="none" normalizeH="0" baseline="0" dirty="0" smtClean="0">
                <a:ln>
                  <a:noFill/>
                </a:ln>
                <a:solidFill>
                  <a:schemeClr val="tx1"/>
                </a:solidFill>
                <a:effectLst/>
                <a:latin typeface="Google Sans"/>
              </a:rPr>
              <a:t>: Contains information about available flavors (RAM, VCPUs, disk space).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compute_nodes</a:t>
            </a:r>
            <a:r>
              <a:rPr kumimoji="0" lang="en-US" altLang="en-US" sz="1200" b="0" i="0" u="none" strike="noStrike" cap="none" normalizeH="0" baseline="0" dirty="0" smtClean="0">
                <a:ln>
                  <a:noFill/>
                </a:ln>
                <a:solidFill>
                  <a:schemeClr val="tx1"/>
                </a:solidFill>
                <a:effectLst/>
                <a:latin typeface="Google Sans"/>
              </a:rPr>
              <a:t>: Details the physical hypervisors running the instances.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block_device_mapping</a:t>
            </a:r>
            <a:r>
              <a:rPr kumimoji="0" lang="en-US" altLang="en-US" sz="1200" b="0" i="0" u="none" strike="noStrike" cap="none" normalizeH="0" baseline="0" dirty="0" smtClean="0">
                <a:ln>
                  <a:noFill/>
                </a:ln>
                <a:solidFill>
                  <a:schemeClr val="tx1"/>
                </a:solidFill>
                <a:effectLst/>
                <a:latin typeface="Google Sans"/>
              </a:rPr>
              <a:t>: Maps volumes and images attached to specific instances.</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200" dirty="0">
              <a:latin typeface="Google Sans"/>
            </a:endParaRPr>
          </a:p>
        </p:txBody>
      </p:sp>
      <p:sp>
        <p:nvSpPr>
          <p:cNvPr id="9" name="Rectangle 2"/>
          <p:cNvSpPr>
            <a:spLocks noChangeArrowheads="1"/>
          </p:cNvSpPr>
          <p:nvPr/>
        </p:nvSpPr>
        <p:spPr bwMode="auto">
          <a:xfrm>
            <a:off x="403860" y="5121340"/>
            <a:ext cx="5181600"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Google Sans"/>
              </a:rPr>
              <a:t>🌐 Networking Service (Neutron)</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Google Sans"/>
              </a:rPr>
              <a:t>The </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neutron</a:t>
            </a:r>
            <a:r>
              <a:rPr kumimoji="0" lang="en-US" altLang="en-US" sz="1200" b="0" i="0" u="none" strike="noStrike" cap="none" normalizeH="0" baseline="0" dirty="0" smtClean="0">
                <a:ln>
                  <a:noFill/>
                </a:ln>
                <a:solidFill>
                  <a:schemeClr val="tx1"/>
                </a:solidFill>
                <a:effectLst/>
                <a:latin typeface="Google Sans"/>
              </a:rPr>
              <a:t> database manages virtual network topologies.</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networks</a:t>
            </a:r>
            <a:r>
              <a:rPr kumimoji="0" lang="en-US" altLang="en-US" sz="1200" b="0" i="0" u="none" strike="noStrike" cap="none" normalizeH="0" baseline="0" dirty="0" smtClean="0">
                <a:ln>
                  <a:noFill/>
                </a:ln>
                <a:solidFill>
                  <a:schemeClr val="tx1"/>
                </a:solidFill>
                <a:effectLst/>
                <a:latin typeface="Google Sans"/>
              </a:rPr>
              <a:t>: Lists the virtual networks created in the cloud.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ports</a:t>
            </a:r>
            <a:r>
              <a:rPr kumimoji="0" lang="en-US" altLang="en-US" sz="1200" b="0" i="0" u="none" strike="noStrike" cap="none" normalizeH="0" baseline="0" dirty="0" smtClean="0">
                <a:ln>
                  <a:noFill/>
                </a:ln>
                <a:solidFill>
                  <a:schemeClr val="tx1"/>
                </a:solidFill>
                <a:effectLst/>
                <a:latin typeface="Google Sans"/>
              </a:rPr>
              <a:t>: Tracks virtual switch ports where instances connect.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subnets</a:t>
            </a:r>
            <a:r>
              <a:rPr kumimoji="0" lang="en-US" altLang="en-US" sz="1200" b="0" i="0" u="none" strike="noStrike" cap="none" normalizeH="0" baseline="0" dirty="0" smtClean="0">
                <a:ln>
                  <a:noFill/>
                </a:ln>
                <a:solidFill>
                  <a:schemeClr val="tx1"/>
                </a:solidFill>
                <a:effectLst/>
                <a:latin typeface="Google Sans"/>
              </a:rPr>
              <a:t>: Stores IP address blocks assigned to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securitygroups</a:t>
            </a:r>
            <a:r>
              <a:rPr kumimoji="0" lang="en-US" altLang="en-US" sz="1200" b="0" i="0" u="none" strike="noStrike" cap="none" normalizeH="0" baseline="0" dirty="0" smtClean="0">
                <a:ln>
                  <a:noFill/>
                </a:ln>
                <a:solidFill>
                  <a:schemeClr val="tx1"/>
                </a:solidFill>
                <a:effectLst/>
                <a:latin typeface="Google Sans"/>
              </a:rPr>
              <a:t>: Defines the firewall rules assigned to ports or projects.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3"/>
          <p:cNvSpPr>
            <a:spLocks noChangeArrowheads="1"/>
          </p:cNvSpPr>
          <p:nvPr/>
        </p:nvSpPr>
        <p:spPr bwMode="auto">
          <a:xfrm>
            <a:off x="6637020" y="388903"/>
            <a:ext cx="4922520"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chemeClr val="tx1"/>
                </a:solidFill>
                <a:effectLst/>
                <a:latin typeface="Google Sans"/>
              </a:rPr>
              <a:t>💾 Block Storage (Cinder)</a:t>
            </a:r>
            <a:endParaRPr kumimoji="0" lang="en-US" alt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chemeClr val="tx1"/>
                </a:solidFill>
                <a:effectLst/>
                <a:latin typeface="Google Sans"/>
              </a:rPr>
              <a:t>The </a:t>
            </a: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cinder</a:t>
            </a:r>
            <a:r>
              <a:rPr kumimoji="0" lang="en-US" altLang="en-US" sz="1200" b="0" i="0" u="none" strike="noStrike" cap="none" normalizeH="0" baseline="0" smtClean="0">
                <a:ln>
                  <a:noFill/>
                </a:ln>
                <a:solidFill>
                  <a:schemeClr val="tx1"/>
                </a:solidFill>
                <a:effectLst/>
                <a:latin typeface="Google Sans"/>
              </a:rPr>
              <a:t> database handles persistent block storage volumes.</a:t>
            </a:r>
            <a:endParaRPr kumimoji="0" lang="en-US" alt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volumes</a:t>
            </a:r>
            <a:r>
              <a:rPr kumimoji="0" lang="en-US" altLang="en-US" sz="1200" b="0" i="0" u="none" strike="noStrike" cap="none" normalizeH="0" baseline="0" smtClean="0">
                <a:ln>
                  <a:noFill/>
                </a:ln>
                <a:solidFill>
                  <a:schemeClr val="tx1"/>
                </a:solidFill>
                <a:effectLst/>
                <a:latin typeface="Google Sans"/>
              </a:rPr>
              <a:t>: Contains volume sizes, statuses, and attachment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volume_attachment</a:t>
            </a:r>
            <a:r>
              <a:rPr kumimoji="0" lang="en-US" altLang="en-US" sz="1200" b="0" i="0" u="none" strike="noStrike" cap="none" normalizeH="0" baseline="0" smtClean="0">
                <a:ln>
                  <a:noFill/>
                </a:ln>
                <a:solidFill>
                  <a:schemeClr val="tx1"/>
                </a:solidFill>
                <a:effectLst/>
                <a:latin typeface="Google Sans"/>
              </a:rPr>
              <a:t>: Maps volumes to the respective Nova instances.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snapshots</a:t>
            </a:r>
            <a:r>
              <a:rPr kumimoji="0" lang="en-US" altLang="en-US" sz="1200" b="0" i="0" u="none" strike="noStrike" cap="none" normalizeH="0" baseline="0" smtClean="0">
                <a:ln>
                  <a:noFill/>
                </a:ln>
                <a:solidFill>
                  <a:schemeClr val="tx1"/>
                </a:solidFill>
                <a:effectLst/>
                <a:latin typeface="Google Sans"/>
              </a:rPr>
              <a:t>: Stores point-in-time copies of volumes.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1" name="Rectangle 4"/>
          <p:cNvSpPr>
            <a:spLocks noChangeArrowheads="1"/>
          </p:cNvSpPr>
          <p:nvPr/>
        </p:nvSpPr>
        <p:spPr bwMode="auto">
          <a:xfrm>
            <a:off x="6637020" y="1635398"/>
            <a:ext cx="4922520"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chemeClr val="tx1"/>
                </a:solidFill>
                <a:effectLst/>
                <a:latin typeface="Google Sans"/>
              </a:rPr>
              <a:t>🖼️ Image Service (Glance)</a:t>
            </a:r>
            <a:endParaRPr kumimoji="0" lang="en-US" alt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chemeClr val="tx1"/>
                </a:solidFill>
                <a:effectLst/>
                <a:latin typeface="Google Sans"/>
              </a:rPr>
              <a:t>The </a:t>
            </a: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glance</a:t>
            </a:r>
            <a:r>
              <a:rPr kumimoji="0" lang="en-US" altLang="en-US" sz="1200" b="0" i="0" u="none" strike="noStrike" cap="none" normalizeH="0" baseline="0" smtClean="0">
                <a:ln>
                  <a:noFill/>
                </a:ln>
                <a:solidFill>
                  <a:schemeClr val="tx1"/>
                </a:solidFill>
                <a:effectLst/>
                <a:latin typeface="Google Sans"/>
              </a:rPr>
              <a:t> database manages virtual machine images.</a:t>
            </a:r>
            <a:endParaRPr kumimoji="0" lang="en-US" alt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images</a:t>
            </a:r>
            <a:r>
              <a:rPr kumimoji="0" lang="en-US" altLang="en-US" sz="1200" b="0" i="0" u="none" strike="noStrike" cap="none" normalizeH="0" baseline="0" smtClean="0">
                <a:ln>
                  <a:noFill/>
                </a:ln>
                <a:solidFill>
                  <a:schemeClr val="tx1"/>
                </a:solidFill>
                <a:effectLst/>
                <a:latin typeface="Google Sans"/>
              </a:rPr>
              <a:t>: Stores image metadata (name, size, disk format, container format).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image_properties</a:t>
            </a:r>
            <a:r>
              <a:rPr kumimoji="0" lang="en-US" altLang="en-US" sz="1200" b="0" i="0" u="none" strike="noStrike" cap="none" normalizeH="0" baseline="0" smtClean="0">
                <a:ln>
                  <a:noFill/>
                </a:ln>
                <a:solidFill>
                  <a:schemeClr val="tx1"/>
                </a:solidFill>
                <a:effectLst/>
                <a:latin typeface="Google Sans"/>
              </a:rPr>
              <a:t>: Custom key-value pairs assigned to images for advanced scheduling.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2" name="Rectangle 5"/>
          <p:cNvSpPr>
            <a:spLocks noChangeArrowheads="1"/>
          </p:cNvSpPr>
          <p:nvPr/>
        </p:nvSpPr>
        <p:spPr bwMode="auto">
          <a:xfrm>
            <a:off x="6637020" y="3330193"/>
            <a:ext cx="4922520"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smtClean="0">
                <a:ln>
                  <a:noFill/>
                </a:ln>
                <a:solidFill>
                  <a:schemeClr val="tx1"/>
                </a:solidFill>
                <a:effectLst/>
                <a:latin typeface="Google Sans"/>
              </a:rPr>
              <a:t>🔑 Identity Service (Keystone)</a:t>
            </a:r>
            <a:endParaRPr kumimoji="0" lang="en-US" alt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chemeClr val="tx1"/>
                </a:solidFill>
                <a:effectLst/>
                <a:latin typeface="Google Sans"/>
              </a:rPr>
              <a:t>The </a:t>
            </a: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keystone</a:t>
            </a:r>
            <a:r>
              <a:rPr kumimoji="0" lang="en-US" altLang="en-US" sz="1200" b="0" i="0" u="none" strike="noStrike" cap="none" normalizeH="0" baseline="0" smtClean="0">
                <a:ln>
                  <a:noFill/>
                </a:ln>
                <a:solidFill>
                  <a:schemeClr val="tx1"/>
                </a:solidFill>
                <a:effectLst/>
                <a:latin typeface="Google Sans"/>
              </a:rPr>
              <a:t> database manages authentication and authorization.</a:t>
            </a:r>
            <a:endParaRPr kumimoji="0" lang="en-US" alt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user</a:t>
            </a:r>
            <a:r>
              <a:rPr kumimoji="0" lang="en-US" altLang="en-US" sz="1200" b="0" i="0" u="none" strike="noStrike" cap="none" normalizeH="0" baseline="0" smtClean="0">
                <a:ln>
                  <a:noFill/>
                </a:ln>
                <a:solidFill>
                  <a:schemeClr val="tx1"/>
                </a:solidFill>
                <a:effectLst/>
                <a:latin typeface="Google Sans"/>
              </a:rPr>
              <a:t>: Stores cloud user accounts and credentials.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project</a:t>
            </a:r>
            <a:r>
              <a:rPr kumimoji="0" lang="en-US" altLang="en-US" sz="1200" b="0" i="0" u="none" strike="noStrike" cap="none" normalizeH="0" baseline="0" smtClean="0">
                <a:ln>
                  <a:noFill/>
                </a:ln>
                <a:solidFill>
                  <a:schemeClr val="tx1"/>
                </a:solidFill>
                <a:effectLst/>
                <a:latin typeface="Google Sans"/>
              </a:rPr>
              <a:t> (or </a:t>
            </a: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tenant</a:t>
            </a:r>
            <a:r>
              <a:rPr kumimoji="0" lang="en-US" altLang="en-US" sz="1200" b="0" i="0" u="none" strike="noStrike" cap="none" normalizeH="0" baseline="0" smtClean="0">
                <a:ln>
                  <a:noFill/>
                </a:ln>
                <a:solidFill>
                  <a:schemeClr val="tx1"/>
                </a:solidFill>
                <a:effectLst/>
                <a:latin typeface="Google Sans"/>
              </a:rPr>
              <a:t>): Lists isolated resource containers/tenants.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smtClean="0">
                <a:ln>
                  <a:noFill/>
                </a:ln>
                <a:solidFill>
                  <a:schemeClr val="tx1"/>
                </a:solidFill>
                <a:effectLst/>
                <a:latin typeface="Courier New" panose="02070309020205020404" pitchFamily="49" charset="0"/>
                <a:cs typeface="Courier New" panose="02070309020205020404" pitchFamily="49" charset="0"/>
              </a:rPr>
              <a:t>role</a:t>
            </a:r>
            <a:r>
              <a:rPr kumimoji="0" lang="en-US" altLang="en-US" sz="1200" b="0" i="0" u="none" strike="noStrike" cap="none" normalizeH="0" baseline="0" smtClean="0">
                <a:ln>
                  <a:noFill/>
                </a:ln>
                <a:solidFill>
                  <a:schemeClr val="tx1"/>
                </a:solidFill>
                <a:effectLst/>
                <a:latin typeface="Google Sans"/>
              </a:rPr>
              <a:t>: Defines access permissions assigned to users within projects.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5231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smtClean="0"/>
              <a:t>AWS</a:t>
            </a:r>
            <a:endParaRPr lang="en-US" sz="36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6</a:t>
            </a:fld>
            <a:endParaRPr lang="en-US"/>
          </a:p>
        </p:txBody>
      </p:sp>
      <p:pic>
        <p:nvPicPr>
          <p:cNvPr id="3" name="Picture 2"/>
          <p:cNvPicPr>
            <a:picLocks noChangeAspect="1"/>
          </p:cNvPicPr>
          <p:nvPr/>
        </p:nvPicPr>
        <p:blipFill>
          <a:blip r:embed="rId3"/>
          <a:stretch>
            <a:fillRect/>
          </a:stretch>
        </p:blipFill>
        <p:spPr>
          <a:xfrm>
            <a:off x="838200" y="1324304"/>
            <a:ext cx="6858000" cy="5143500"/>
          </a:xfrm>
          <a:prstGeom prst="rect">
            <a:avLst/>
          </a:prstGeom>
        </p:spPr>
      </p:pic>
      <p:sp>
        <p:nvSpPr>
          <p:cNvPr id="5" name="Rectangle 4"/>
          <p:cNvSpPr/>
          <p:nvPr/>
        </p:nvSpPr>
        <p:spPr>
          <a:xfrm>
            <a:off x="7879080" y="1612315"/>
            <a:ext cx="4008120" cy="4801314"/>
          </a:xfrm>
          <a:prstGeom prst="rect">
            <a:avLst/>
          </a:prstGeom>
        </p:spPr>
        <p:txBody>
          <a:bodyPr wrap="square">
            <a:spAutoFit/>
          </a:bodyPr>
          <a:lstStyle/>
          <a:p>
            <a:r>
              <a:rPr lang="en-US" b="1" dirty="0"/>
              <a:t>Core AWS Services Categories</a:t>
            </a:r>
          </a:p>
          <a:p>
            <a:pPr marL="285750" indent="-285750" algn="just">
              <a:buFont typeface="Wingdings" panose="05000000000000000000" pitchFamily="2" charset="2"/>
              <a:buChar char="§"/>
            </a:pPr>
            <a:r>
              <a:rPr lang="en-US" b="1" dirty="0"/>
              <a:t>Compute:</a:t>
            </a:r>
            <a:r>
              <a:rPr lang="en-US" dirty="0"/>
              <a:t> Includes </a:t>
            </a:r>
            <a:r>
              <a:rPr lang="en-US" b="1" dirty="0"/>
              <a:t>EC2</a:t>
            </a:r>
            <a:r>
              <a:rPr lang="en-US" dirty="0"/>
              <a:t> (virtual servers), </a:t>
            </a:r>
            <a:r>
              <a:rPr lang="en-US" b="1" dirty="0"/>
              <a:t>Lambda</a:t>
            </a:r>
            <a:r>
              <a:rPr lang="en-US" dirty="0"/>
              <a:t> (</a:t>
            </a:r>
            <a:r>
              <a:rPr lang="en-US" dirty="0" err="1"/>
              <a:t>serverless</a:t>
            </a:r>
            <a:r>
              <a:rPr lang="en-US" dirty="0"/>
              <a:t> code execution), and </a:t>
            </a:r>
            <a:r>
              <a:rPr lang="en-US" b="1" dirty="0"/>
              <a:t>ECS/EKS</a:t>
            </a:r>
            <a:r>
              <a:rPr lang="en-US" dirty="0"/>
              <a:t> for container management.</a:t>
            </a:r>
          </a:p>
          <a:p>
            <a:pPr marL="285750" indent="-285750" algn="just">
              <a:buFont typeface="Wingdings" panose="05000000000000000000" pitchFamily="2" charset="2"/>
              <a:buChar char="§"/>
            </a:pPr>
            <a:r>
              <a:rPr lang="en-US" b="1" dirty="0"/>
              <a:t>Storage:</a:t>
            </a:r>
            <a:r>
              <a:rPr lang="en-US" dirty="0"/>
              <a:t> Offers </a:t>
            </a:r>
            <a:r>
              <a:rPr lang="en-US" b="1" dirty="0"/>
              <a:t>S3</a:t>
            </a:r>
            <a:r>
              <a:rPr lang="en-US" dirty="0"/>
              <a:t> (scalable object storage), </a:t>
            </a:r>
            <a:r>
              <a:rPr lang="en-US" b="1" dirty="0"/>
              <a:t>EBS</a:t>
            </a:r>
            <a:r>
              <a:rPr lang="en-US" dirty="0"/>
              <a:t> (block storage), and </a:t>
            </a:r>
            <a:r>
              <a:rPr lang="en-US" b="1" dirty="0"/>
              <a:t>EFS</a:t>
            </a:r>
            <a:r>
              <a:rPr lang="en-US" dirty="0"/>
              <a:t> (file storage).</a:t>
            </a:r>
          </a:p>
          <a:p>
            <a:pPr marL="285750" indent="-285750" algn="just">
              <a:buFont typeface="Wingdings" panose="05000000000000000000" pitchFamily="2" charset="2"/>
              <a:buChar char="§"/>
            </a:pPr>
            <a:r>
              <a:rPr lang="en-US" b="1" dirty="0"/>
              <a:t>Databases:</a:t>
            </a:r>
            <a:r>
              <a:rPr lang="en-US" dirty="0"/>
              <a:t> Features </a:t>
            </a:r>
            <a:r>
              <a:rPr lang="en-US" b="1" dirty="0"/>
              <a:t>RDS</a:t>
            </a:r>
            <a:r>
              <a:rPr lang="en-US" dirty="0"/>
              <a:t> (relational databases), </a:t>
            </a:r>
            <a:r>
              <a:rPr lang="en-US" b="1" dirty="0" err="1"/>
              <a:t>DynamoDB</a:t>
            </a:r>
            <a:r>
              <a:rPr lang="en-US" dirty="0"/>
              <a:t> (NoSQL), and </a:t>
            </a:r>
            <a:r>
              <a:rPr lang="en-US" b="1" dirty="0"/>
              <a:t>Redshift</a:t>
            </a:r>
            <a:r>
              <a:rPr lang="en-US" dirty="0"/>
              <a:t> (data warehousing).</a:t>
            </a:r>
          </a:p>
          <a:p>
            <a:pPr marL="285750" indent="-285750" algn="just">
              <a:buFont typeface="Wingdings" panose="05000000000000000000" pitchFamily="2" charset="2"/>
              <a:buChar char="§"/>
            </a:pPr>
            <a:r>
              <a:rPr lang="en-US" b="1" dirty="0"/>
              <a:t>Networking &amp; Content Delivery:</a:t>
            </a:r>
            <a:r>
              <a:rPr lang="en-US" dirty="0"/>
              <a:t> Handled by </a:t>
            </a:r>
            <a:r>
              <a:rPr lang="en-US" b="1" dirty="0"/>
              <a:t>VPC</a:t>
            </a:r>
            <a:r>
              <a:rPr lang="en-US" dirty="0"/>
              <a:t> (isolated networks), </a:t>
            </a:r>
            <a:r>
              <a:rPr lang="en-US" b="1" dirty="0" err="1"/>
              <a:t>CloudFront</a:t>
            </a:r>
            <a:r>
              <a:rPr lang="en-US" dirty="0"/>
              <a:t> (CDN), and </a:t>
            </a:r>
            <a:r>
              <a:rPr lang="en-US" b="1" dirty="0"/>
              <a:t>Route 53</a:t>
            </a:r>
            <a:r>
              <a:rPr lang="en-US" dirty="0"/>
              <a:t> (DNS).</a:t>
            </a:r>
          </a:p>
          <a:p>
            <a:pPr marL="285750" indent="-285750" algn="just">
              <a:buFont typeface="Wingdings" panose="05000000000000000000" pitchFamily="2" charset="2"/>
              <a:buChar char="§"/>
            </a:pPr>
            <a:r>
              <a:rPr lang="en-US" b="1" dirty="0"/>
              <a:t>Security &amp; Identity:</a:t>
            </a:r>
            <a:r>
              <a:rPr lang="en-US" dirty="0"/>
              <a:t> Managed via </a:t>
            </a:r>
            <a:r>
              <a:rPr lang="en-US" b="1" dirty="0"/>
              <a:t>IAM</a:t>
            </a:r>
            <a:r>
              <a:rPr lang="en-US" dirty="0"/>
              <a:t> (access control), </a:t>
            </a:r>
            <a:r>
              <a:rPr lang="en-US" b="1" dirty="0"/>
              <a:t>WAF</a:t>
            </a:r>
            <a:r>
              <a:rPr lang="en-US" dirty="0"/>
              <a:t>, and </a:t>
            </a:r>
            <a:r>
              <a:rPr lang="en-US" b="1" dirty="0"/>
              <a:t>Shield</a:t>
            </a:r>
            <a:r>
              <a:rPr lang="en-US" dirty="0"/>
              <a:t>.</a:t>
            </a:r>
          </a:p>
        </p:txBody>
      </p:sp>
    </p:spTree>
    <p:extLst>
      <p:ext uri="{BB962C8B-B14F-4D97-AF65-F5344CB8AC3E}">
        <p14:creationId xmlns:p14="http://schemas.microsoft.com/office/powerpoint/2010/main" val="581901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19AD06-451C-413E-AF31-86503C137FDF}" type="slidenum">
              <a:rPr lang="en-US" smtClean="0"/>
              <a:pPr/>
              <a:t>7</a:t>
            </a:fld>
            <a:endParaRPr lang="en-US"/>
          </a:p>
        </p:txBody>
      </p:sp>
      <p:sp>
        <p:nvSpPr>
          <p:cNvPr id="5" name="Rectangle 4"/>
          <p:cNvSpPr/>
          <p:nvPr/>
        </p:nvSpPr>
        <p:spPr>
          <a:xfrm>
            <a:off x="239017" y="348734"/>
            <a:ext cx="2783326" cy="369332"/>
          </a:xfrm>
          <a:prstGeom prst="rect">
            <a:avLst/>
          </a:prstGeom>
        </p:spPr>
        <p:txBody>
          <a:bodyPr wrap="none">
            <a:spAutoFit/>
          </a:bodyPr>
          <a:lstStyle/>
          <a:p>
            <a:r>
              <a:rPr lang="en-US" dirty="0"/>
              <a:t>AWS Management Console </a:t>
            </a:r>
          </a:p>
        </p:txBody>
      </p:sp>
      <p:sp>
        <p:nvSpPr>
          <p:cNvPr id="6" name="Rectangle 5"/>
          <p:cNvSpPr/>
          <p:nvPr/>
        </p:nvSpPr>
        <p:spPr>
          <a:xfrm>
            <a:off x="441960" y="718066"/>
            <a:ext cx="4221480" cy="2031325"/>
          </a:xfrm>
          <a:prstGeom prst="rect">
            <a:avLst/>
          </a:prstGeom>
        </p:spPr>
        <p:txBody>
          <a:bodyPr wrap="square">
            <a:spAutoFit/>
          </a:bodyPr>
          <a:lstStyle/>
          <a:p>
            <a:pPr marL="342900" indent="-342900" algn="just">
              <a:buFont typeface="+mj-lt"/>
              <a:buAutoNum type="arabicPeriod"/>
            </a:pPr>
            <a:r>
              <a:rPr lang="en-US" sz="1200" dirty="0"/>
              <a:t>Log in to your AWS Management Console</a:t>
            </a:r>
            <a:r>
              <a:rPr lang="en-US" sz="1200" dirty="0" smtClean="0"/>
              <a:t>.</a:t>
            </a:r>
          </a:p>
          <a:p>
            <a:pPr marL="342900" indent="-342900" algn="just">
              <a:buFont typeface="+mj-lt"/>
              <a:buAutoNum type="arabicPeriod"/>
            </a:pPr>
            <a:r>
              <a:rPr lang="en-US" sz="1200" dirty="0" smtClean="0"/>
              <a:t>Search </a:t>
            </a:r>
            <a:r>
              <a:rPr lang="en-US" sz="1200" dirty="0"/>
              <a:t>for and select S3 in the services search bar</a:t>
            </a:r>
            <a:r>
              <a:rPr lang="en-US" sz="1200" dirty="0" smtClean="0"/>
              <a:t>.</a:t>
            </a:r>
          </a:p>
          <a:p>
            <a:pPr marL="342900" indent="-342900" algn="just">
              <a:buFont typeface="+mj-lt"/>
              <a:buAutoNum type="arabicPeriod"/>
            </a:pPr>
            <a:r>
              <a:rPr lang="en-US" sz="1200" dirty="0" smtClean="0"/>
              <a:t>Click </a:t>
            </a:r>
            <a:r>
              <a:rPr lang="en-US" sz="1200" dirty="0"/>
              <a:t>the Create bucket button</a:t>
            </a:r>
            <a:r>
              <a:rPr lang="en-US" sz="1200" dirty="0" smtClean="0"/>
              <a:t>.</a:t>
            </a:r>
          </a:p>
          <a:p>
            <a:pPr marL="342900" indent="-342900" algn="just">
              <a:buFont typeface="+mj-lt"/>
              <a:buAutoNum type="arabicPeriod"/>
            </a:pPr>
            <a:r>
              <a:rPr lang="en-US" sz="1200" dirty="0" smtClean="0"/>
              <a:t>Enter </a:t>
            </a:r>
            <a:r>
              <a:rPr lang="en-US" sz="1200" dirty="0"/>
              <a:t>a Bucket name (must be globally unique across all AWS accounts) and select your preferred AWS Region</a:t>
            </a:r>
            <a:r>
              <a:rPr lang="en-US" sz="1200" dirty="0" smtClean="0"/>
              <a:t>.</a:t>
            </a:r>
          </a:p>
          <a:p>
            <a:pPr marL="342900" indent="-342900" algn="just">
              <a:buFont typeface="+mj-lt"/>
              <a:buAutoNum type="arabicPeriod"/>
            </a:pPr>
            <a:r>
              <a:rPr lang="en-US" sz="1200" dirty="0" smtClean="0"/>
              <a:t>Configure </a:t>
            </a:r>
            <a:r>
              <a:rPr lang="en-US" sz="1200" dirty="0"/>
              <a:t>your settings (e.g., keep "Block all public access" turned on for security</a:t>
            </a:r>
            <a:r>
              <a:rPr lang="en-US" sz="1200" dirty="0" smtClean="0"/>
              <a:t>).</a:t>
            </a:r>
          </a:p>
          <a:p>
            <a:pPr marL="342900" indent="-342900" algn="just">
              <a:buFont typeface="+mj-lt"/>
              <a:buAutoNum type="arabicPeriod"/>
            </a:pPr>
            <a:r>
              <a:rPr lang="en-US" sz="1200" dirty="0" smtClean="0"/>
              <a:t>Click </a:t>
            </a:r>
            <a:r>
              <a:rPr lang="en-US" sz="1200" dirty="0"/>
              <a:t>Create bucket at the bottom of the page. You can now drag and drop files to upload objects directly through your browser</a:t>
            </a:r>
            <a:r>
              <a:rPr lang="en-US" dirty="0"/>
              <a:t>.</a:t>
            </a:r>
          </a:p>
        </p:txBody>
      </p:sp>
      <p:sp>
        <p:nvSpPr>
          <p:cNvPr id="7" name="Rectangle 6"/>
          <p:cNvSpPr/>
          <p:nvPr/>
        </p:nvSpPr>
        <p:spPr>
          <a:xfrm>
            <a:off x="239017" y="2934057"/>
            <a:ext cx="4424423" cy="646331"/>
          </a:xfrm>
          <a:prstGeom prst="rect">
            <a:avLst/>
          </a:prstGeom>
        </p:spPr>
        <p:txBody>
          <a:bodyPr wrap="square">
            <a:spAutoFit/>
          </a:bodyPr>
          <a:lstStyle/>
          <a:p>
            <a:r>
              <a:rPr lang="en-US" dirty="0"/>
              <a:t>Installing and Configuring the AWS CLI (For Automation/Terminal)</a:t>
            </a:r>
          </a:p>
        </p:txBody>
      </p:sp>
      <p:sp>
        <p:nvSpPr>
          <p:cNvPr id="9" name="Rectangle 8"/>
          <p:cNvSpPr/>
          <p:nvPr/>
        </p:nvSpPr>
        <p:spPr>
          <a:xfrm>
            <a:off x="441960" y="3580388"/>
            <a:ext cx="4450080" cy="1754326"/>
          </a:xfrm>
          <a:prstGeom prst="rect">
            <a:avLst/>
          </a:prstGeom>
        </p:spPr>
        <p:txBody>
          <a:bodyPr wrap="square">
            <a:spAutoFit/>
          </a:bodyPr>
          <a:lstStyle/>
          <a:p>
            <a:pPr algn="just"/>
            <a:r>
              <a:rPr lang="en-US" sz="1200" dirty="0"/>
              <a:t>Install the AWS CLI</a:t>
            </a:r>
            <a:r>
              <a:rPr lang="en-US" sz="1200" dirty="0" smtClean="0"/>
              <a:t>:</a:t>
            </a:r>
          </a:p>
          <a:p>
            <a:pPr algn="just"/>
            <a:r>
              <a:rPr lang="en-US" sz="1200" dirty="0" smtClean="0"/>
              <a:t>Windows</a:t>
            </a:r>
            <a:r>
              <a:rPr lang="en-US" sz="1200" dirty="0"/>
              <a:t>: Download and run the official AWS CLI MSI installer</a:t>
            </a:r>
            <a:r>
              <a:rPr lang="en-US" sz="1200" dirty="0" smtClean="0"/>
              <a:t>.</a:t>
            </a:r>
          </a:p>
          <a:p>
            <a:pPr algn="just"/>
            <a:r>
              <a:rPr lang="en-US" sz="1200" dirty="0" err="1" smtClean="0"/>
              <a:t>macOS</a:t>
            </a:r>
            <a:r>
              <a:rPr lang="en-US" sz="1200" dirty="0"/>
              <a:t>: Run curl "https://amazonaws.com" -o "AWSCLIV2.pkg" and install it</a:t>
            </a:r>
            <a:r>
              <a:rPr lang="en-US" sz="1200" dirty="0" smtClean="0"/>
              <a:t>.</a:t>
            </a:r>
          </a:p>
          <a:p>
            <a:pPr algn="just"/>
            <a:r>
              <a:rPr lang="en-US" sz="1200" dirty="0" smtClean="0"/>
              <a:t>Linux</a:t>
            </a:r>
            <a:r>
              <a:rPr lang="en-US" sz="1200" dirty="0"/>
              <a:t>: Run </a:t>
            </a:r>
            <a:r>
              <a:rPr lang="en-US" sz="1200" dirty="0" err="1"/>
              <a:t>sudo</a:t>
            </a:r>
            <a:r>
              <a:rPr lang="en-US" sz="1200" dirty="0"/>
              <a:t> apt install </a:t>
            </a:r>
            <a:r>
              <a:rPr lang="en-US" sz="1200" dirty="0" err="1"/>
              <a:t>awscli</a:t>
            </a:r>
            <a:r>
              <a:rPr lang="en-US" sz="1200" dirty="0"/>
              <a:t> (for Ubuntu/</a:t>
            </a:r>
            <a:r>
              <a:rPr lang="en-US" sz="1200" dirty="0" err="1"/>
              <a:t>Debian</a:t>
            </a:r>
            <a:r>
              <a:rPr lang="en-US" sz="1200" dirty="0"/>
              <a:t>) or use the official bundled installer</a:t>
            </a:r>
            <a:r>
              <a:rPr lang="en-US" sz="1200" dirty="0" smtClean="0"/>
              <a:t>.</a:t>
            </a:r>
          </a:p>
          <a:p>
            <a:pPr algn="just"/>
            <a:r>
              <a:rPr lang="en-US" sz="1200" dirty="0" smtClean="0"/>
              <a:t>Configure </a:t>
            </a:r>
            <a:r>
              <a:rPr lang="en-US" sz="1200" dirty="0"/>
              <a:t>your Credentials</a:t>
            </a:r>
            <a:r>
              <a:rPr lang="en-US" sz="1200" dirty="0" smtClean="0"/>
              <a:t>:</a:t>
            </a:r>
          </a:p>
          <a:p>
            <a:pPr algn="just"/>
            <a:r>
              <a:rPr lang="en-US" sz="1200" dirty="0" smtClean="0"/>
              <a:t>Open </a:t>
            </a:r>
            <a:r>
              <a:rPr lang="en-US" sz="1200" dirty="0"/>
              <a:t>your terminal or command prompt and type</a:t>
            </a:r>
            <a:r>
              <a:rPr lang="en-US" sz="1200" dirty="0" smtClean="0"/>
              <a:t>:</a:t>
            </a:r>
          </a:p>
          <a:p>
            <a:pPr algn="just"/>
            <a:r>
              <a:rPr lang="en-US" sz="1200" dirty="0" err="1" smtClean="0"/>
              <a:t>bashaws</a:t>
            </a:r>
            <a:r>
              <a:rPr lang="en-US" sz="1200" dirty="0" smtClean="0"/>
              <a:t> </a:t>
            </a:r>
            <a:r>
              <a:rPr lang="en-US" sz="1200" dirty="0"/>
              <a:t>configure</a:t>
            </a:r>
          </a:p>
        </p:txBody>
      </p:sp>
    </p:spTree>
    <p:extLst>
      <p:ext uri="{BB962C8B-B14F-4D97-AF65-F5344CB8AC3E}">
        <p14:creationId xmlns:p14="http://schemas.microsoft.com/office/powerpoint/2010/main" val="3301836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19AD06-451C-413E-AF31-86503C137FDF}" type="slidenum">
              <a:rPr lang="en-US" smtClean="0"/>
              <a:pPr/>
              <a:t>8</a:t>
            </a:fld>
            <a:endParaRPr lang="en-US"/>
          </a:p>
        </p:txBody>
      </p:sp>
      <p:sp>
        <p:nvSpPr>
          <p:cNvPr id="10" name="Rectangle 9"/>
          <p:cNvSpPr/>
          <p:nvPr/>
        </p:nvSpPr>
        <p:spPr>
          <a:xfrm>
            <a:off x="5410200" y="1127873"/>
            <a:ext cx="6096000" cy="3970318"/>
          </a:xfrm>
          <a:prstGeom prst="rect">
            <a:avLst/>
          </a:prstGeom>
        </p:spPr>
        <p:txBody>
          <a:bodyPr>
            <a:spAutoFit/>
          </a:bodyPr>
          <a:lstStyle/>
          <a:p>
            <a:pPr algn="just"/>
            <a:r>
              <a:rPr lang="en-US" b="1" dirty="0"/>
              <a:t>AWS CLI (</a:t>
            </a:r>
            <a:r>
              <a:rPr lang="en-US" b="1" dirty="0" err="1"/>
              <a:t>Untuk</a:t>
            </a:r>
            <a:r>
              <a:rPr lang="en-US" b="1" dirty="0"/>
              <a:t> </a:t>
            </a:r>
            <a:r>
              <a:rPr lang="en-US" b="1" dirty="0" err="1"/>
              <a:t>Manajemen</a:t>
            </a:r>
            <a:r>
              <a:rPr lang="en-US" b="1" dirty="0"/>
              <a:t> </a:t>
            </a:r>
            <a:r>
              <a:rPr lang="en-US" b="1" dirty="0" err="1"/>
              <a:t>Umum</a:t>
            </a:r>
            <a:r>
              <a:rPr lang="en-US" b="1" dirty="0"/>
              <a:t> EC2 &amp; ECS)</a:t>
            </a:r>
          </a:p>
          <a:p>
            <a:pPr algn="just"/>
            <a:endParaRPr lang="fr-FR" b="1" dirty="0" smtClean="0"/>
          </a:p>
          <a:p>
            <a:pPr algn="just"/>
            <a:r>
              <a:rPr lang="fr-FR" b="1" dirty="0" smtClean="0"/>
              <a:t>Infrastructure </a:t>
            </a:r>
            <a:r>
              <a:rPr lang="fr-FR" b="1" dirty="0"/>
              <a:t>as Code (</a:t>
            </a:r>
            <a:r>
              <a:rPr lang="fr-FR" b="1" dirty="0" err="1"/>
              <a:t>IaC</a:t>
            </a:r>
            <a:r>
              <a:rPr lang="fr-FR" b="1" dirty="0" smtClean="0"/>
              <a:t>):</a:t>
            </a:r>
          </a:p>
          <a:p>
            <a:pPr marL="285750" indent="-285750" algn="just">
              <a:buFont typeface="Wingdings" panose="05000000000000000000" pitchFamily="2" charset="2"/>
              <a:buChar char="v"/>
            </a:pPr>
            <a:r>
              <a:rPr lang="nn-NO" dirty="0" smtClean="0"/>
              <a:t>Manajemen </a:t>
            </a:r>
            <a:r>
              <a:rPr lang="nn-NO" dirty="0"/>
              <a:t>komputasi serta kontainer di </a:t>
            </a:r>
            <a:r>
              <a:rPr lang="nn-NO" dirty="0" smtClean="0"/>
              <a:t>AWS </a:t>
            </a:r>
            <a:r>
              <a:rPr lang="nn-NO" dirty="0"/>
              <a:t>(EC2, ECS, dan EKS</a:t>
            </a:r>
            <a:r>
              <a:rPr lang="nn-NO" dirty="0" smtClean="0"/>
              <a:t>)</a:t>
            </a:r>
          </a:p>
          <a:p>
            <a:pPr marL="285750" indent="-285750" algn="just">
              <a:buFont typeface="Wingdings" panose="05000000000000000000" pitchFamily="2" charset="2"/>
              <a:buChar char="v"/>
            </a:pPr>
            <a:r>
              <a:rPr lang="en-US" dirty="0" err="1"/>
              <a:t>Konfigurasi</a:t>
            </a:r>
            <a:r>
              <a:rPr lang="en-US" dirty="0"/>
              <a:t> </a:t>
            </a:r>
            <a:r>
              <a:rPr lang="en-US" dirty="0" err="1"/>
              <a:t>Awal</a:t>
            </a:r>
            <a:r>
              <a:rPr lang="en-US" dirty="0"/>
              <a:t>: </a:t>
            </a:r>
            <a:r>
              <a:rPr lang="en-US" dirty="0" err="1"/>
              <a:t>Jalankan</a:t>
            </a:r>
            <a:r>
              <a:rPr lang="en-US" dirty="0"/>
              <a:t> </a:t>
            </a:r>
            <a:r>
              <a:rPr lang="en-US" dirty="0" err="1"/>
              <a:t>perintah</a:t>
            </a:r>
            <a:r>
              <a:rPr lang="en-US" dirty="0"/>
              <a:t> </a:t>
            </a:r>
            <a:r>
              <a:rPr lang="en-US" dirty="0" err="1"/>
              <a:t>aws</a:t>
            </a:r>
            <a:r>
              <a:rPr lang="en-US" dirty="0"/>
              <a:t> configure di terminal </a:t>
            </a:r>
            <a:r>
              <a:rPr lang="en-US" dirty="0" err="1"/>
              <a:t>Anda</a:t>
            </a:r>
            <a:r>
              <a:rPr lang="en-US" dirty="0"/>
              <a:t> </a:t>
            </a:r>
            <a:r>
              <a:rPr lang="en-US" dirty="0" err="1"/>
              <a:t>dan</a:t>
            </a:r>
            <a:r>
              <a:rPr lang="en-US" dirty="0"/>
              <a:t> </a:t>
            </a:r>
            <a:r>
              <a:rPr lang="en-US" dirty="0" err="1"/>
              <a:t>masukkan</a:t>
            </a:r>
            <a:r>
              <a:rPr lang="en-US" dirty="0"/>
              <a:t> AWS Access Key ID, Secret Access Key, </a:t>
            </a:r>
            <a:r>
              <a:rPr lang="en-US" dirty="0" err="1"/>
              <a:t>serta</a:t>
            </a:r>
            <a:r>
              <a:rPr lang="en-US" dirty="0"/>
              <a:t> Default </a:t>
            </a:r>
            <a:r>
              <a:rPr lang="en-US" dirty="0" smtClean="0"/>
              <a:t>Region</a:t>
            </a:r>
          </a:p>
          <a:p>
            <a:pPr marL="285750" indent="-285750" algn="just">
              <a:buFont typeface="Wingdings" panose="05000000000000000000" pitchFamily="2" charset="2"/>
              <a:buChar char="v"/>
            </a:pPr>
            <a:r>
              <a:rPr lang="en-US" dirty="0" err="1"/>
              <a:t>eksctl</a:t>
            </a:r>
            <a:r>
              <a:rPr lang="en-US" dirty="0"/>
              <a:t> &amp; </a:t>
            </a:r>
            <a:r>
              <a:rPr lang="en-US" dirty="0" err="1"/>
              <a:t>kubectl</a:t>
            </a:r>
            <a:r>
              <a:rPr lang="en-US" dirty="0"/>
              <a:t> (</a:t>
            </a:r>
            <a:r>
              <a:rPr lang="en-US" dirty="0" err="1"/>
              <a:t>Khusus</a:t>
            </a:r>
            <a:r>
              <a:rPr lang="en-US" dirty="0"/>
              <a:t> </a:t>
            </a:r>
            <a:r>
              <a:rPr lang="en-US" dirty="0" err="1"/>
              <a:t>untuk</a:t>
            </a:r>
            <a:r>
              <a:rPr lang="en-US" dirty="0"/>
              <a:t> </a:t>
            </a:r>
            <a:r>
              <a:rPr lang="en-US" dirty="0" err="1"/>
              <a:t>Manajemen</a:t>
            </a:r>
            <a:r>
              <a:rPr lang="en-US" dirty="0"/>
              <a:t> EKS / Kubernetes</a:t>
            </a:r>
            <a:r>
              <a:rPr lang="en-US" dirty="0" smtClean="0"/>
              <a:t>)</a:t>
            </a:r>
          </a:p>
          <a:p>
            <a:pPr algn="just"/>
            <a:r>
              <a:rPr lang="en-US" b="1" dirty="0"/>
              <a:t> </a:t>
            </a:r>
            <a:r>
              <a:rPr lang="en-US" b="1" dirty="0" smtClean="0"/>
              <a:t>        </a:t>
            </a:r>
            <a:r>
              <a:rPr lang="en-US" b="1" dirty="0" err="1" smtClean="0"/>
              <a:t>eksctl</a:t>
            </a:r>
            <a:r>
              <a:rPr lang="en-US" b="1" dirty="0"/>
              <a:t>: </a:t>
            </a:r>
            <a:r>
              <a:rPr lang="en-US" dirty="0" smtClean="0"/>
              <a:t>CLI </a:t>
            </a:r>
            <a:r>
              <a:rPr lang="en-US" dirty="0" err="1"/>
              <a:t>resmi</a:t>
            </a:r>
            <a:r>
              <a:rPr lang="en-US" dirty="0"/>
              <a:t> </a:t>
            </a:r>
            <a:r>
              <a:rPr lang="en-US" dirty="0" err="1"/>
              <a:t>dari</a:t>
            </a:r>
            <a:r>
              <a:rPr lang="en-US" dirty="0"/>
              <a:t> AWS </a:t>
            </a:r>
            <a:r>
              <a:rPr lang="en-US" dirty="0" err="1"/>
              <a:t>untuk</a:t>
            </a:r>
            <a:r>
              <a:rPr lang="en-US" dirty="0"/>
              <a:t> </a:t>
            </a:r>
            <a:r>
              <a:rPr lang="en-US" dirty="0" err="1"/>
              <a:t>membuat</a:t>
            </a:r>
            <a:r>
              <a:rPr lang="en-US" dirty="0"/>
              <a:t> </a:t>
            </a:r>
            <a:r>
              <a:rPr lang="en-US" dirty="0" err="1"/>
              <a:t>dan</a:t>
            </a:r>
            <a:r>
              <a:rPr lang="en-US" dirty="0"/>
              <a:t> </a:t>
            </a:r>
            <a:r>
              <a:rPr lang="en-US" dirty="0" err="1"/>
              <a:t>mengelola</a:t>
            </a:r>
            <a:r>
              <a:rPr lang="en-US" dirty="0"/>
              <a:t> </a:t>
            </a:r>
            <a:r>
              <a:rPr lang="en-US" dirty="0" smtClean="0"/>
              <a:t> 	</a:t>
            </a:r>
            <a:r>
              <a:rPr lang="en-US" dirty="0" err="1" smtClean="0"/>
              <a:t>klaster</a:t>
            </a:r>
            <a:r>
              <a:rPr lang="en-US" dirty="0" smtClean="0"/>
              <a:t> </a:t>
            </a:r>
            <a:r>
              <a:rPr lang="en-US" dirty="0"/>
              <a:t>EKS </a:t>
            </a:r>
            <a:r>
              <a:rPr lang="en-US" dirty="0" err="1"/>
              <a:t>secara</a:t>
            </a:r>
            <a:r>
              <a:rPr lang="en-US" dirty="0"/>
              <a:t> </a:t>
            </a:r>
            <a:r>
              <a:rPr lang="en-US" dirty="0" err="1"/>
              <a:t>instan</a:t>
            </a:r>
            <a:r>
              <a:rPr lang="en-US" dirty="0" smtClean="0"/>
              <a:t>.</a:t>
            </a:r>
          </a:p>
          <a:p>
            <a:pPr algn="just"/>
            <a:r>
              <a:rPr lang="en-US" dirty="0"/>
              <a:t> </a:t>
            </a:r>
            <a:r>
              <a:rPr lang="en-US" dirty="0" smtClean="0"/>
              <a:t>         </a:t>
            </a:r>
            <a:r>
              <a:rPr lang="en-US" b="1" dirty="0" err="1" smtClean="0"/>
              <a:t>kubectl</a:t>
            </a:r>
            <a:r>
              <a:rPr lang="en-US" b="1" dirty="0"/>
              <a:t>:</a:t>
            </a:r>
            <a:r>
              <a:rPr lang="en-US" dirty="0"/>
              <a:t> </a:t>
            </a:r>
            <a:r>
              <a:rPr lang="en-US" dirty="0" err="1"/>
              <a:t>Alat</a:t>
            </a:r>
            <a:r>
              <a:rPr lang="en-US" dirty="0"/>
              <a:t> </a:t>
            </a:r>
            <a:r>
              <a:rPr lang="en-US" dirty="0" err="1"/>
              <a:t>standar</a:t>
            </a:r>
            <a:r>
              <a:rPr lang="en-US" dirty="0"/>
              <a:t> </a:t>
            </a:r>
            <a:r>
              <a:rPr lang="en-US" dirty="0" err="1"/>
              <a:t>untuk</a:t>
            </a:r>
            <a:r>
              <a:rPr lang="en-US" dirty="0"/>
              <a:t> </a:t>
            </a:r>
            <a:r>
              <a:rPr lang="en-US" dirty="0" err="1"/>
              <a:t>menjalankan</a:t>
            </a:r>
            <a:r>
              <a:rPr lang="en-US" dirty="0"/>
              <a:t> </a:t>
            </a:r>
            <a:r>
              <a:rPr lang="en-US" dirty="0" err="1"/>
              <a:t>perintah</a:t>
            </a:r>
            <a:r>
              <a:rPr lang="en-US" dirty="0"/>
              <a:t> </a:t>
            </a:r>
            <a:r>
              <a:rPr lang="en-US" dirty="0" err="1"/>
              <a:t>pada</a:t>
            </a:r>
            <a:r>
              <a:rPr lang="en-US" dirty="0"/>
              <a:t> </a:t>
            </a:r>
            <a:r>
              <a:rPr lang="en-US" dirty="0" smtClean="0"/>
              <a:t>	</a:t>
            </a:r>
            <a:r>
              <a:rPr lang="en-US" dirty="0" err="1" smtClean="0"/>
              <a:t>klaster</a:t>
            </a:r>
            <a:r>
              <a:rPr lang="en-US" dirty="0" smtClean="0"/>
              <a:t> </a:t>
            </a:r>
            <a:r>
              <a:rPr lang="en-US" dirty="0"/>
              <a:t>Kubernetes.</a:t>
            </a:r>
          </a:p>
        </p:txBody>
      </p:sp>
      <p:pic>
        <p:nvPicPr>
          <p:cNvPr id="12" name="Picture 11"/>
          <p:cNvPicPr>
            <a:picLocks noChangeAspect="1"/>
          </p:cNvPicPr>
          <p:nvPr/>
        </p:nvPicPr>
        <p:blipFill>
          <a:blip r:embed="rId3"/>
          <a:stretch>
            <a:fillRect/>
          </a:stretch>
        </p:blipFill>
        <p:spPr>
          <a:xfrm>
            <a:off x="167640" y="635048"/>
            <a:ext cx="5073967" cy="4955968"/>
          </a:xfrm>
          <a:prstGeom prst="rect">
            <a:avLst/>
          </a:prstGeom>
        </p:spPr>
      </p:pic>
    </p:spTree>
    <p:extLst>
      <p:ext uri="{BB962C8B-B14F-4D97-AF65-F5344CB8AC3E}">
        <p14:creationId xmlns:p14="http://schemas.microsoft.com/office/powerpoint/2010/main" val="165377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smtClean="0"/>
              <a:t>GCP</a:t>
            </a:r>
            <a:endParaRPr lang="en-US" sz="36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9</a:t>
            </a:fld>
            <a:endParaRPr lang="en-US"/>
          </a:p>
        </p:txBody>
      </p:sp>
      <p:pic>
        <p:nvPicPr>
          <p:cNvPr id="3" name="Picture 2"/>
          <p:cNvPicPr>
            <a:picLocks noChangeAspect="1"/>
          </p:cNvPicPr>
          <p:nvPr/>
        </p:nvPicPr>
        <p:blipFill>
          <a:blip r:embed="rId2"/>
          <a:stretch>
            <a:fillRect/>
          </a:stretch>
        </p:blipFill>
        <p:spPr>
          <a:xfrm>
            <a:off x="838200" y="1882289"/>
            <a:ext cx="7434262" cy="3916076"/>
          </a:xfrm>
          <a:prstGeom prst="rect">
            <a:avLst/>
          </a:prstGeom>
        </p:spPr>
      </p:pic>
      <p:sp>
        <p:nvSpPr>
          <p:cNvPr id="6" name="Rectangle 5"/>
          <p:cNvSpPr/>
          <p:nvPr/>
        </p:nvSpPr>
        <p:spPr>
          <a:xfrm>
            <a:off x="8328805" y="1512957"/>
            <a:ext cx="3024995" cy="369332"/>
          </a:xfrm>
          <a:prstGeom prst="rect">
            <a:avLst/>
          </a:prstGeom>
        </p:spPr>
        <p:txBody>
          <a:bodyPr wrap="none">
            <a:spAutoFit/>
          </a:bodyPr>
          <a:lstStyle/>
          <a:p>
            <a:r>
              <a:rPr lang="en-US" dirty="0"/>
              <a:t>Compute Engine Client Library</a:t>
            </a:r>
          </a:p>
        </p:txBody>
      </p:sp>
      <p:sp>
        <p:nvSpPr>
          <p:cNvPr id="7" name="Rectangle 6"/>
          <p:cNvSpPr/>
          <p:nvPr/>
        </p:nvSpPr>
        <p:spPr>
          <a:xfrm>
            <a:off x="8610600" y="1886276"/>
            <a:ext cx="2634888" cy="307777"/>
          </a:xfrm>
          <a:prstGeom prst="rect">
            <a:avLst/>
          </a:prstGeom>
        </p:spPr>
        <p:txBody>
          <a:bodyPr wrap="none">
            <a:spAutoFit/>
          </a:bodyPr>
          <a:lstStyle/>
          <a:p>
            <a:r>
              <a:rPr lang="en-US" sz="1400" dirty="0" smtClean="0"/>
              <a:t>!pip </a:t>
            </a:r>
            <a:r>
              <a:rPr lang="en-US" sz="1400" dirty="0"/>
              <a:t>install google-cloud-compute</a:t>
            </a:r>
          </a:p>
        </p:txBody>
      </p:sp>
      <p:sp>
        <p:nvSpPr>
          <p:cNvPr id="9" name="Rectangle 1"/>
          <p:cNvSpPr>
            <a:spLocks noChangeArrowheads="1"/>
          </p:cNvSpPr>
          <p:nvPr/>
        </p:nvSpPr>
        <p:spPr bwMode="auto">
          <a:xfrm>
            <a:off x="8683062" y="2277736"/>
            <a:ext cx="3063240" cy="146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chemeClr val="tx1"/>
                </a:solidFill>
                <a:effectLst/>
                <a:latin typeface="Google Sans"/>
              </a:rPr>
              <a:t>python</a:t>
            </a:r>
            <a:endParaRPr kumimoji="0" lang="en-US" altLang="en-US" sz="1200" b="0" i="0" u="none" strike="noStrike" cap="none" normalizeH="0" baseline="0" dirty="0" smtClean="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from </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google.cloud</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import compute_v1 </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def</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list_instances</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project_id</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zone): </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instance_client</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 compute_v1.InstancesClient() request = compute_v1.ListInstancesRequest(project=</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project_id</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zone=zone) for instance in </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instance_client.list</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(request=request): print(</a:t>
            </a:r>
            <a:r>
              <a:rPr kumimoji="0" lang="en-US" altLang="en-US" sz="10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f"Instance</a:t>
            </a:r>
            <a:r>
              <a:rPr kumimoji="0" lang="en-US" altLang="en-US" sz="10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Name: {instance.name}")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2224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smtClean="0"/>
              <a:t>GCP </a:t>
            </a:r>
            <a:r>
              <a:rPr lang="en-IN" sz="3600" dirty="0" err="1" smtClean="0"/>
              <a:t>IoT</a:t>
            </a:r>
            <a:r>
              <a:rPr lang="en-IN" sz="3600" dirty="0" smtClean="0"/>
              <a:t> Device</a:t>
            </a:r>
            <a:endParaRPr lang="en-US" sz="36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10</a:t>
            </a:fld>
            <a:endParaRPr lang="en-US"/>
          </a:p>
        </p:txBody>
      </p:sp>
      <p:pic>
        <p:nvPicPr>
          <p:cNvPr id="3" name="Picture 2"/>
          <p:cNvPicPr>
            <a:picLocks noChangeAspect="1"/>
          </p:cNvPicPr>
          <p:nvPr/>
        </p:nvPicPr>
        <p:blipFill>
          <a:blip r:embed="rId3"/>
          <a:stretch>
            <a:fillRect/>
          </a:stretch>
        </p:blipFill>
        <p:spPr>
          <a:xfrm>
            <a:off x="671696" y="1508760"/>
            <a:ext cx="7228338" cy="4011374"/>
          </a:xfrm>
          <a:prstGeom prst="rect">
            <a:avLst/>
          </a:prstGeom>
        </p:spPr>
      </p:pic>
    </p:spTree>
    <p:extLst>
      <p:ext uri="{BB962C8B-B14F-4D97-AF65-F5344CB8AC3E}">
        <p14:creationId xmlns:p14="http://schemas.microsoft.com/office/powerpoint/2010/main" val="2426602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19AD06-451C-413E-AF31-86503C137FDF}" type="slidenum">
              <a:rPr lang="en-US" smtClean="0"/>
              <a:pPr/>
              <a:t>11</a:t>
            </a:fld>
            <a:endParaRPr lang="en-US"/>
          </a:p>
        </p:txBody>
      </p:sp>
      <p:pic>
        <p:nvPicPr>
          <p:cNvPr id="5" name="Picture 4"/>
          <p:cNvPicPr>
            <a:picLocks noChangeAspect="1"/>
          </p:cNvPicPr>
          <p:nvPr/>
        </p:nvPicPr>
        <p:blipFill>
          <a:blip r:embed="rId2"/>
          <a:stretch>
            <a:fillRect/>
          </a:stretch>
        </p:blipFill>
        <p:spPr>
          <a:xfrm>
            <a:off x="289560" y="1214150"/>
            <a:ext cx="5806440" cy="3153061"/>
          </a:xfrm>
          <a:prstGeom prst="rect">
            <a:avLst/>
          </a:prstGeom>
        </p:spPr>
      </p:pic>
      <p:pic>
        <p:nvPicPr>
          <p:cNvPr id="6" name="Picture 5"/>
          <p:cNvPicPr>
            <a:picLocks noChangeAspect="1"/>
          </p:cNvPicPr>
          <p:nvPr/>
        </p:nvPicPr>
        <p:blipFill>
          <a:blip r:embed="rId3"/>
          <a:stretch>
            <a:fillRect/>
          </a:stretch>
        </p:blipFill>
        <p:spPr>
          <a:xfrm>
            <a:off x="6237316" y="1082040"/>
            <a:ext cx="5680364" cy="3124200"/>
          </a:xfrm>
          <a:prstGeom prst="rect">
            <a:avLst/>
          </a:prstGeom>
        </p:spPr>
      </p:pic>
    </p:spTree>
    <p:extLst>
      <p:ext uri="{BB962C8B-B14F-4D97-AF65-F5344CB8AC3E}">
        <p14:creationId xmlns:p14="http://schemas.microsoft.com/office/powerpoint/2010/main" val="798787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smtClean="0"/>
              <a:t>Others </a:t>
            </a:r>
            <a:endParaRPr lang="en-US" sz="36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12</a:t>
            </a:fld>
            <a:endParaRPr lang="en-US"/>
          </a:p>
        </p:txBody>
      </p:sp>
      <p:sp>
        <p:nvSpPr>
          <p:cNvPr id="3" name="Rectangle 2"/>
          <p:cNvSpPr/>
          <p:nvPr/>
        </p:nvSpPr>
        <p:spPr>
          <a:xfrm>
            <a:off x="1076341" y="1689854"/>
            <a:ext cx="2520626" cy="369332"/>
          </a:xfrm>
          <a:prstGeom prst="rect">
            <a:avLst/>
          </a:prstGeom>
        </p:spPr>
        <p:txBody>
          <a:bodyPr wrap="none">
            <a:spAutoFit/>
          </a:bodyPr>
          <a:lstStyle/>
          <a:p>
            <a:r>
              <a:rPr lang="en-US" dirty="0" smtClean="0"/>
              <a:t>Azure, Alibaba, </a:t>
            </a:r>
            <a:r>
              <a:rPr lang="en-US" dirty="0" err="1" smtClean="0"/>
              <a:t>Amazone</a:t>
            </a:r>
            <a:endParaRPr lang="en-US" dirty="0"/>
          </a:p>
        </p:txBody>
      </p:sp>
      <p:pic>
        <p:nvPicPr>
          <p:cNvPr id="5" name="Main graphic"/>
          <p:cNvPicPr/>
          <p:nvPr/>
        </p:nvPicPr>
        <p:blipFill>
          <a:blip r:embed="rId2"/>
          <a:stretch/>
        </p:blipFill>
        <p:spPr>
          <a:xfrm>
            <a:off x="1981200" y="2089150"/>
            <a:ext cx="7086600" cy="4267200"/>
          </a:xfrm>
          <a:prstGeom prst="rect">
            <a:avLst/>
          </a:prstGeom>
          <a:ln>
            <a:noFill/>
          </a:ln>
        </p:spPr>
      </p:pic>
      <p:sp>
        <p:nvSpPr>
          <p:cNvPr id="6" name="Rectangle 5"/>
          <p:cNvSpPr/>
          <p:nvPr/>
        </p:nvSpPr>
        <p:spPr>
          <a:xfrm>
            <a:off x="3864462" y="6386314"/>
            <a:ext cx="3320076" cy="369332"/>
          </a:xfrm>
          <a:prstGeom prst="rect">
            <a:avLst/>
          </a:prstGeom>
        </p:spPr>
        <p:txBody>
          <a:bodyPr wrap="none">
            <a:spAutoFit/>
          </a:bodyPr>
          <a:lstStyle/>
          <a:p>
            <a:r>
              <a:rPr lang="en-US" dirty="0" smtClean="0"/>
              <a:t>Fig.1.  The </a:t>
            </a:r>
            <a:r>
              <a:rPr lang="en-US" dirty="0"/>
              <a:t>evolution of </a:t>
            </a:r>
            <a:r>
              <a:rPr lang="en-US" dirty="0" err="1"/>
              <a:t>CloudSim</a:t>
            </a:r>
            <a:r>
              <a:rPr lang="en-US" dirty="0"/>
              <a:t>.</a:t>
            </a:r>
          </a:p>
        </p:txBody>
      </p:sp>
    </p:spTree>
    <p:extLst>
      <p:ext uri="{BB962C8B-B14F-4D97-AF65-F5344CB8AC3E}">
        <p14:creationId xmlns:p14="http://schemas.microsoft.com/office/powerpoint/2010/main" val="3368556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6971"/>
            <a:ext cx="10515600" cy="959178"/>
          </a:xfrm>
        </p:spPr>
        <p:style>
          <a:lnRef idx="0">
            <a:scrgbClr r="0" g="0" b="0"/>
          </a:lnRef>
          <a:fillRef idx="1003">
            <a:schemeClr val="lt2"/>
          </a:fillRef>
          <a:effectRef idx="0">
            <a:scrgbClr r="0" g="0" b="0"/>
          </a:effectRef>
          <a:fontRef idx="major"/>
        </p:style>
        <p:txBody>
          <a:bodyPr>
            <a:normAutofit/>
          </a:bodyPr>
          <a:lstStyle/>
          <a:p>
            <a:r>
              <a:rPr lang="en-IN" sz="3600" dirty="0" smtClean="0"/>
              <a:t>Submit Week 3</a:t>
            </a:r>
            <a:endParaRPr lang="en-US" sz="36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13</a:t>
            </a:fld>
            <a:endParaRPr lang="en-US"/>
          </a:p>
        </p:txBody>
      </p:sp>
      <p:sp>
        <p:nvSpPr>
          <p:cNvPr id="3" name="Rectangle 2"/>
          <p:cNvSpPr/>
          <p:nvPr/>
        </p:nvSpPr>
        <p:spPr>
          <a:xfrm>
            <a:off x="838200" y="1750814"/>
            <a:ext cx="10574370" cy="2862322"/>
          </a:xfrm>
          <a:prstGeom prst="rect">
            <a:avLst/>
          </a:prstGeom>
        </p:spPr>
        <p:txBody>
          <a:bodyPr wrap="none">
            <a:spAutoFit/>
          </a:bodyPr>
          <a:lstStyle/>
          <a:p>
            <a:pPr marL="342900" indent="-342900">
              <a:buAutoNum type="arabicPeriod"/>
            </a:pPr>
            <a:r>
              <a:rPr lang="en-US" dirty="0" err="1" smtClean="0">
                <a:latin typeface="Times New Roman" charset="0"/>
                <a:ea typeface="Times New Roman" charset="0"/>
                <a:cs typeface="Times New Roman" charset="0"/>
              </a:rPr>
              <a:t>Uraikan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Keuntungan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dan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kerugian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dilakukan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Migrasi</a:t>
            </a:r>
            <a:r>
              <a:rPr lang="en-US" dirty="0" smtClean="0">
                <a:latin typeface="Times New Roman" charset="0"/>
                <a:ea typeface="Times New Roman" charset="0"/>
                <a:cs typeface="Times New Roman" charset="0"/>
              </a:rPr>
              <a:t> Server </a:t>
            </a:r>
            <a:r>
              <a:rPr lang="en-US" dirty="0" err="1" smtClean="0">
                <a:latin typeface="Times New Roman" charset="0"/>
                <a:ea typeface="Times New Roman" charset="0"/>
                <a:cs typeface="Times New Roman" charset="0"/>
              </a:rPr>
              <a:t>dan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buat</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arsitektur</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sebelum</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dan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sesudah</a:t>
            </a:r>
            <a:r>
              <a:rPr lang="en-US" dirty="0" smtClean="0">
                <a:latin typeface="Times New Roman" charset="0"/>
                <a:ea typeface="Times New Roman" charset="0"/>
                <a:cs typeface="Times New Roman" charset="0"/>
              </a:rPr>
              <a:t>?</a:t>
            </a:r>
          </a:p>
          <a:p>
            <a:pPr marL="342900" indent="-342900">
              <a:buAutoNum type="arabicPeriod"/>
            </a:pPr>
            <a:r>
              <a:rPr lang="en-US" dirty="0" err="1" smtClean="0">
                <a:latin typeface="Times New Roman" charset="0"/>
                <a:ea typeface="Times New Roman" charset="0"/>
                <a:cs typeface="Times New Roman" charset="0"/>
              </a:rPr>
              <a:t>Uraikan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arsitektur</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dan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fungsional</a:t>
            </a:r>
            <a:r>
              <a:rPr lang="en-US" dirty="0" smtClean="0">
                <a:latin typeface="Times New Roman" charset="0"/>
                <a:ea typeface="Times New Roman" charset="0"/>
                <a:cs typeface="Times New Roman" charset="0"/>
              </a:rPr>
              <a:t> : </a:t>
            </a:r>
            <a:r>
              <a:rPr lang="en-US" dirty="0" err="1" smtClean="0">
                <a:latin typeface="Times New Roman" charset="0"/>
                <a:ea typeface="Times New Roman" charset="0"/>
                <a:cs typeface="Times New Roman" charset="0"/>
              </a:rPr>
              <a:t>Microservice</a:t>
            </a:r>
            <a:r>
              <a:rPr lang="en-US" dirty="0" smtClean="0">
                <a:latin typeface="Times New Roman" charset="0"/>
                <a:ea typeface="Times New Roman" charset="0"/>
                <a:cs typeface="Times New Roman" charset="0"/>
              </a:rPr>
              <a:t> </a:t>
            </a:r>
            <a:r>
              <a:rPr lang="en-US" dirty="0">
                <a:latin typeface="Times New Roman" charset="0"/>
                <a:ea typeface="Times New Roman" charset="0"/>
                <a:cs typeface="Times New Roman" charset="0"/>
              </a:rPr>
              <a:t>&amp; Monolithic Application </a:t>
            </a:r>
            <a:r>
              <a:rPr lang="en-US" dirty="0" smtClean="0">
                <a:latin typeface="Times New Roman" charset="0"/>
                <a:ea typeface="Times New Roman" charset="0"/>
                <a:cs typeface="Times New Roman" charset="0"/>
              </a:rPr>
              <a:t>?</a:t>
            </a:r>
          </a:p>
          <a:p>
            <a:pPr marL="342900" indent="-342900">
              <a:buAutoNum type="arabicPeriod"/>
            </a:pPr>
            <a:r>
              <a:rPr lang="en-US" dirty="0" err="1" smtClean="0">
                <a:latin typeface="Times New Roman" charset="0"/>
                <a:ea typeface="Times New Roman" charset="0"/>
                <a:cs typeface="Times New Roman" charset="0"/>
              </a:rPr>
              <a:t>Uraikan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konsep</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arsitektur</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Virtualisasi</a:t>
            </a:r>
            <a:r>
              <a:rPr lang="en-US" dirty="0" smtClean="0">
                <a:latin typeface="Times New Roman" charset="0"/>
                <a:ea typeface="Times New Roman" charset="0"/>
                <a:cs typeface="Times New Roman" charset="0"/>
              </a:rPr>
              <a:t> ? </a:t>
            </a:r>
          </a:p>
          <a:p>
            <a:pPr marL="342900" indent="-342900">
              <a:buAutoNum type="arabicPeriod"/>
            </a:pPr>
            <a:r>
              <a:rPr lang="en-US" dirty="0" err="1" smtClean="0">
                <a:latin typeface="Times New Roman" charset="0"/>
                <a:ea typeface="Times New Roman" charset="0"/>
                <a:cs typeface="Times New Roman" charset="0"/>
              </a:rPr>
              <a:t>Kenapa</a:t>
            </a:r>
            <a:r>
              <a:rPr lang="en-US" dirty="0" smtClean="0">
                <a:latin typeface="Times New Roman" charset="0"/>
                <a:ea typeface="Times New Roman" charset="0"/>
                <a:cs typeface="Times New Roman" charset="0"/>
              </a:rPr>
              <a:t> Cloud Computing ? (</a:t>
            </a:r>
            <a:r>
              <a:rPr lang="en-US" dirty="0" err="1" smtClean="0">
                <a:latin typeface="Times New Roman" charset="0"/>
                <a:ea typeface="Times New Roman" charset="0"/>
                <a:cs typeface="Times New Roman" charset="0"/>
              </a:rPr>
              <a:t>Konsep</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Arsitektur</a:t>
            </a:r>
            <a:r>
              <a:rPr lang="en-US" dirty="0" smtClean="0">
                <a:latin typeface="Times New Roman" charset="0"/>
                <a:ea typeface="Times New Roman" charset="0"/>
                <a:cs typeface="Times New Roman" charset="0"/>
              </a:rPr>
              <a:t>, Library, Setup)</a:t>
            </a:r>
          </a:p>
          <a:p>
            <a:pPr marL="342900" indent="-342900">
              <a:buAutoNum type="arabicPeriod"/>
            </a:pPr>
            <a:r>
              <a:rPr lang="en-US" dirty="0" err="1" smtClean="0">
                <a:latin typeface="Times New Roman" charset="0"/>
                <a:ea typeface="Times New Roman" charset="0"/>
                <a:cs typeface="Times New Roman" charset="0"/>
              </a:rPr>
              <a:t>Uraikan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Perbedaan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arsitektur</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dan</a:t>
            </a:r>
            <a:r>
              <a:rPr lang="en-US" dirty="0" smtClean="0">
                <a:latin typeface="Times New Roman" charset="0"/>
                <a:ea typeface="Times New Roman" charset="0"/>
                <a:cs typeface="Times New Roman" charset="0"/>
              </a:rPr>
              <a:t> library yang di </a:t>
            </a:r>
            <a:r>
              <a:rPr lang="en-US" dirty="0" err="1" smtClean="0">
                <a:latin typeface="Times New Roman" charset="0"/>
                <a:ea typeface="Times New Roman" charset="0"/>
                <a:cs typeface="Times New Roman" charset="0"/>
              </a:rPr>
              <a:t>pergunakan</a:t>
            </a:r>
            <a:r>
              <a:rPr lang="en-US" dirty="0" smtClean="0">
                <a:latin typeface="Times New Roman" charset="0"/>
                <a:ea typeface="Times New Roman" charset="0"/>
                <a:cs typeface="Times New Roman" charset="0"/>
              </a:rPr>
              <a:t> ?</a:t>
            </a:r>
          </a:p>
          <a:p>
            <a:pPr marL="342900" indent="-342900">
              <a:buAutoNum type="arabicPeriod"/>
            </a:pPr>
            <a:r>
              <a:rPr lang="en-US" dirty="0" err="1" smtClean="0">
                <a:latin typeface="Times New Roman" charset="0"/>
                <a:ea typeface="Times New Roman" charset="0"/>
                <a:cs typeface="Times New Roman" charset="0"/>
              </a:rPr>
              <a:t>Uraikan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tugas</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secara</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fungsional</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dari</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masing-masing</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komponen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pada</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Gambar</a:t>
            </a:r>
            <a:r>
              <a:rPr lang="en-US" dirty="0">
                <a:latin typeface="Times New Roman" charset="0"/>
                <a:ea typeface="Times New Roman" charset="0"/>
                <a:cs typeface="Times New Roman" charset="0"/>
              </a:rPr>
              <a:t> 1. The evolution of </a:t>
            </a:r>
            <a:r>
              <a:rPr lang="en-US" dirty="0" err="1" smtClean="0">
                <a:latin typeface="Times New Roman" charset="0"/>
                <a:ea typeface="Times New Roman" charset="0"/>
                <a:cs typeface="Times New Roman" charset="0"/>
              </a:rPr>
              <a:t>CloudSim</a:t>
            </a:r>
            <a:r>
              <a:rPr lang="en-US" dirty="0" smtClean="0">
                <a:latin typeface="Times New Roman" charset="0"/>
                <a:ea typeface="Times New Roman" charset="0"/>
                <a:cs typeface="Times New Roman" charset="0"/>
              </a:rPr>
              <a:t>.</a:t>
            </a:r>
          </a:p>
          <a:p>
            <a:pPr marL="342900" indent="-342900">
              <a:buFontTx/>
              <a:buAutoNum type="arabicPeriod"/>
            </a:pPr>
            <a:r>
              <a:rPr lang="en-US" dirty="0" err="1">
                <a:latin typeface="Times New Roman" charset="0"/>
                <a:ea typeface="Times New Roman" charset="0"/>
                <a:cs typeface="Times New Roman" charset="0"/>
              </a:rPr>
              <a:t>Uraikan</a:t>
            </a:r>
            <a:r>
              <a:rPr lang="en-US" dirty="0">
                <a:latin typeface="Times New Roman" charset="0"/>
                <a:ea typeface="Times New Roman" charset="0"/>
                <a:cs typeface="Times New Roman" charset="0"/>
              </a:rPr>
              <a:t> </a:t>
            </a:r>
            <a:r>
              <a:rPr lang="en-US" dirty="0" err="1">
                <a:latin typeface="Times New Roman" charset="0"/>
                <a:ea typeface="Times New Roman" charset="0"/>
                <a:cs typeface="Times New Roman" charset="0"/>
              </a:rPr>
              <a:t>konsep</a:t>
            </a:r>
            <a:r>
              <a:rPr lang="en-US" dirty="0">
                <a:latin typeface="Times New Roman" charset="0"/>
                <a:ea typeface="Times New Roman" charset="0"/>
                <a:cs typeface="Times New Roman" charset="0"/>
              </a:rPr>
              <a:t>, </a:t>
            </a:r>
            <a:r>
              <a:rPr lang="en-US" dirty="0" err="1">
                <a:latin typeface="Times New Roman" charset="0"/>
                <a:ea typeface="Times New Roman" charset="0"/>
                <a:cs typeface="Times New Roman" charset="0"/>
              </a:rPr>
              <a:t>arsitektur</a:t>
            </a:r>
            <a:r>
              <a:rPr lang="en-US" dirty="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iQuantum</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dan</a:t>
            </a:r>
            <a:r>
              <a:rPr lang="en-US" smtClean="0">
                <a:latin typeface="Times New Roman" charset="0"/>
                <a:ea typeface="Times New Roman" charset="0"/>
                <a:cs typeface="Times New Roman" charset="0"/>
              </a:rPr>
              <a:t> Quantum </a:t>
            </a:r>
            <a:r>
              <a:rPr lang="en-US" dirty="0" smtClean="0">
                <a:latin typeface="Times New Roman" charset="0"/>
                <a:ea typeface="Times New Roman" charset="0"/>
                <a:cs typeface="Times New Roman" charset="0"/>
              </a:rPr>
              <a:t>as a service </a:t>
            </a:r>
            <a:r>
              <a:rPr lang="en-US" dirty="0">
                <a:latin typeface="Times New Roman" charset="0"/>
                <a:ea typeface="Times New Roman" charset="0"/>
                <a:cs typeface="Times New Roman" charset="0"/>
              </a:rPr>
              <a:t>? </a:t>
            </a:r>
          </a:p>
          <a:p>
            <a:pPr marL="342900" indent="-342900">
              <a:buAutoNum type="arabicPeriod"/>
            </a:pPr>
            <a:endParaRPr lang="en-US" dirty="0" smtClean="0">
              <a:latin typeface="Times New Roman" charset="0"/>
              <a:ea typeface="Times New Roman" charset="0"/>
              <a:cs typeface="Times New Roman" charset="0"/>
            </a:endParaRPr>
          </a:p>
          <a:p>
            <a:pPr marL="342900" indent="-342900">
              <a:buAutoNum type="arabicPeriod"/>
            </a:pPr>
            <a:endParaRPr lang="en-US" dirty="0" smtClean="0">
              <a:latin typeface="Times New Roman" charset="0"/>
              <a:ea typeface="Times New Roman" charset="0"/>
              <a:cs typeface="Times New Roman" charset="0"/>
            </a:endParaRPr>
          </a:p>
          <a:p>
            <a:pPr marL="342900" indent="-342900">
              <a:buAutoNum type="arabicPeriod"/>
            </a:pPr>
            <a:endParaRPr lang="en-US" dirty="0" smtClean="0">
              <a:latin typeface="Times New Roman" charset="0"/>
              <a:ea typeface="Times New Roman" charset="0"/>
              <a:cs typeface="Times New Roman" charset="0"/>
            </a:endParaRPr>
          </a:p>
        </p:txBody>
      </p:sp>
      <p:sp>
        <p:nvSpPr>
          <p:cNvPr id="5" name="Rectangle 4"/>
          <p:cNvSpPr/>
          <p:nvPr/>
        </p:nvSpPr>
        <p:spPr>
          <a:xfrm>
            <a:off x="1036320" y="5606534"/>
            <a:ext cx="4409990" cy="369332"/>
          </a:xfrm>
          <a:prstGeom prst="rect">
            <a:avLst/>
          </a:prstGeom>
        </p:spPr>
        <p:txBody>
          <a:bodyPr wrap="none">
            <a:spAutoFit/>
          </a:bodyPr>
          <a:lstStyle/>
          <a:p>
            <a:r>
              <a:rPr lang="en-US" dirty="0" smtClean="0"/>
              <a:t>HW </a:t>
            </a:r>
            <a:r>
              <a:rPr lang="en-US" dirty="0" err="1" smtClean="0"/>
              <a:t>setiap</a:t>
            </a:r>
            <a:r>
              <a:rPr lang="en-US" dirty="0" smtClean="0"/>
              <a:t> </a:t>
            </a:r>
            <a:r>
              <a:rPr lang="en-US" dirty="0" err="1" smtClean="0"/>
              <a:t>mahasiswa</a:t>
            </a:r>
            <a:r>
              <a:rPr lang="en-US" dirty="0" smtClean="0"/>
              <a:t> </a:t>
            </a:r>
            <a:r>
              <a:rPr lang="en-US" dirty="0" err="1" smtClean="0"/>
              <a:t>kirim</a:t>
            </a:r>
            <a:r>
              <a:rPr lang="en-US" dirty="0" smtClean="0"/>
              <a:t> </a:t>
            </a:r>
            <a:r>
              <a:rPr lang="en-US" dirty="0" err="1" smtClean="0"/>
              <a:t>ke</a:t>
            </a:r>
            <a:r>
              <a:rPr lang="en-US" dirty="0" smtClean="0"/>
              <a:t> </a:t>
            </a:r>
            <a:r>
              <a:rPr lang="en-US" dirty="0" err="1" smtClean="0"/>
              <a:t>GDrive</a:t>
            </a:r>
            <a:r>
              <a:rPr lang="en-US" dirty="0" smtClean="0"/>
              <a:t> </a:t>
            </a:r>
            <a:r>
              <a:rPr lang="en-US" dirty="0" err="1" smtClean="0"/>
              <a:t>sendiri</a:t>
            </a:r>
            <a:endParaRPr lang="en-US" dirty="0"/>
          </a:p>
        </p:txBody>
      </p:sp>
      <p:sp>
        <p:nvSpPr>
          <p:cNvPr id="6" name="Rectangle 5"/>
          <p:cNvSpPr/>
          <p:nvPr/>
        </p:nvSpPr>
        <p:spPr>
          <a:xfrm>
            <a:off x="1036320" y="5975866"/>
            <a:ext cx="5952335" cy="369332"/>
          </a:xfrm>
          <a:prstGeom prst="rect">
            <a:avLst/>
          </a:prstGeom>
        </p:spPr>
        <p:txBody>
          <a:bodyPr wrap="none">
            <a:spAutoFit/>
          </a:bodyPr>
          <a:lstStyle/>
          <a:p>
            <a:r>
              <a:rPr lang="en-US" dirty="0" err="1" smtClean="0"/>
              <a:t>Ketua</a:t>
            </a:r>
            <a:r>
              <a:rPr lang="en-US" dirty="0" smtClean="0"/>
              <a:t> </a:t>
            </a:r>
            <a:r>
              <a:rPr lang="en-US" dirty="0" err="1" smtClean="0"/>
              <a:t>Kelas</a:t>
            </a:r>
            <a:r>
              <a:rPr lang="en-US" dirty="0" smtClean="0"/>
              <a:t> </a:t>
            </a:r>
            <a:r>
              <a:rPr lang="en-US" dirty="0" err="1" smtClean="0"/>
              <a:t>Buat</a:t>
            </a:r>
            <a:r>
              <a:rPr lang="en-US" dirty="0" smtClean="0"/>
              <a:t> file </a:t>
            </a:r>
            <a:r>
              <a:rPr lang="en-US" dirty="0" err="1" smtClean="0"/>
              <a:t>exel</a:t>
            </a:r>
            <a:r>
              <a:rPr lang="en-US" dirty="0" smtClean="0"/>
              <a:t> : link </a:t>
            </a:r>
            <a:r>
              <a:rPr lang="en-US" dirty="0" err="1" smtClean="0"/>
              <a:t>gDrive</a:t>
            </a:r>
            <a:r>
              <a:rPr lang="en-US" dirty="0" smtClean="0"/>
              <a:t> </a:t>
            </a:r>
            <a:r>
              <a:rPr lang="en-US" dirty="0" err="1" smtClean="0"/>
              <a:t>untuk</a:t>
            </a:r>
            <a:r>
              <a:rPr lang="en-US" dirty="0" smtClean="0"/>
              <a:t> </a:t>
            </a:r>
            <a:r>
              <a:rPr lang="en-US" dirty="0" err="1" smtClean="0"/>
              <a:t>tugas</a:t>
            </a:r>
            <a:r>
              <a:rPr lang="en-US" dirty="0" smtClean="0"/>
              <a:t> </a:t>
            </a:r>
            <a:r>
              <a:rPr lang="en-US" dirty="0" err="1" smtClean="0"/>
              <a:t>dan</a:t>
            </a:r>
            <a:r>
              <a:rPr lang="en-US" dirty="0" smtClean="0"/>
              <a:t> project</a:t>
            </a:r>
            <a:endParaRPr lang="en-US" dirty="0"/>
          </a:p>
        </p:txBody>
      </p:sp>
      <p:sp>
        <p:nvSpPr>
          <p:cNvPr id="7" name="Rectangle 6"/>
          <p:cNvSpPr/>
          <p:nvPr/>
        </p:nvSpPr>
        <p:spPr>
          <a:xfrm>
            <a:off x="1036320" y="6345198"/>
            <a:ext cx="5391412" cy="369332"/>
          </a:xfrm>
          <a:prstGeom prst="rect">
            <a:avLst/>
          </a:prstGeom>
        </p:spPr>
        <p:txBody>
          <a:bodyPr wrap="none">
            <a:spAutoFit/>
          </a:bodyPr>
          <a:lstStyle/>
          <a:p>
            <a:r>
              <a:rPr lang="en-US" dirty="0" err="1" smtClean="0"/>
              <a:t>NamaFile</a:t>
            </a:r>
            <a:r>
              <a:rPr lang="en-US" dirty="0" smtClean="0"/>
              <a:t>: HW1-Nama_NIM– Introduction Cloud.docx</a:t>
            </a:r>
            <a:endParaRPr lang="en-US" dirty="0"/>
          </a:p>
        </p:txBody>
      </p:sp>
      <p:sp>
        <p:nvSpPr>
          <p:cNvPr id="9" name="Rectangle 8"/>
          <p:cNvSpPr/>
          <p:nvPr/>
        </p:nvSpPr>
        <p:spPr>
          <a:xfrm>
            <a:off x="625256" y="-11693"/>
            <a:ext cx="10728544" cy="369332"/>
          </a:xfrm>
          <a:prstGeom prst="rect">
            <a:avLst/>
          </a:prstGeom>
        </p:spPr>
        <p:txBody>
          <a:bodyPr wrap="square">
            <a:spAutoFit/>
          </a:bodyPr>
          <a:lstStyle/>
          <a:p>
            <a:r>
              <a:rPr lang="en-US" b="1" dirty="0" err="1">
                <a:solidFill>
                  <a:srgbClr val="002060"/>
                </a:solidFill>
              </a:rPr>
              <a:t>HW_Cloud</a:t>
            </a:r>
            <a:r>
              <a:rPr lang="en-US" b="1" dirty="0">
                <a:solidFill>
                  <a:srgbClr val="002060"/>
                </a:solidFill>
              </a:rPr>
              <a:t> Architecture </a:t>
            </a:r>
            <a:r>
              <a:rPr lang="en-US" b="1" dirty="0" err="1">
                <a:solidFill>
                  <a:srgbClr val="002060"/>
                </a:solidFill>
              </a:rPr>
              <a:t>Cont't_Introduction</a:t>
            </a:r>
            <a:r>
              <a:rPr lang="en-US" b="1" dirty="0">
                <a:solidFill>
                  <a:srgbClr val="002060"/>
                </a:solidFill>
              </a:rPr>
              <a:t> to Cloud </a:t>
            </a:r>
            <a:r>
              <a:rPr lang="en-US" b="1" dirty="0" smtClean="0">
                <a:solidFill>
                  <a:srgbClr val="002060"/>
                </a:solidFill>
              </a:rPr>
              <a:t>Computing.pptx</a:t>
            </a:r>
            <a:endParaRPr lang="en-US" b="1" dirty="0">
              <a:solidFill>
                <a:srgbClr val="002060"/>
              </a:solidFill>
            </a:endParaRPr>
          </a:p>
        </p:txBody>
      </p:sp>
      <p:sp>
        <p:nvSpPr>
          <p:cNvPr id="10" name="Rectangle 9"/>
          <p:cNvSpPr/>
          <p:nvPr/>
        </p:nvSpPr>
        <p:spPr>
          <a:xfrm>
            <a:off x="794502" y="245125"/>
            <a:ext cx="4889993" cy="369332"/>
          </a:xfrm>
          <a:prstGeom prst="rect">
            <a:avLst/>
          </a:prstGeom>
        </p:spPr>
        <p:txBody>
          <a:bodyPr wrap="none">
            <a:spAutoFit/>
          </a:bodyPr>
          <a:lstStyle/>
          <a:p>
            <a:r>
              <a:rPr lang="en-US" dirty="0"/>
              <a:t>https://</a:t>
            </a:r>
            <a:r>
              <a:rPr lang="en-US" dirty="0" smtClean="0"/>
              <a:t>github.com/amelcharolinesgn2/CloudSim/</a:t>
            </a:r>
            <a:endParaRPr lang="en-US" dirty="0"/>
          </a:p>
        </p:txBody>
      </p:sp>
    </p:spTree>
    <p:extLst>
      <p:ext uri="{BB962C8B-B14F-4D97-AF65-F5344CB8AC3E}">
        <p14:creationId xmlns:p14="http://schemas.microsoft.com/office/powerpoint/2010/main" val="3694025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9178"/>
          </a:xfrm>
        </p:spPr>
        <p:style>
          <a:lnRef idx="0">
            <a:scrgbClr r="0" g="0" b="0"/>
          </a:lnRef>
          <a:fillRef idx="1003">
            <a:schemeClr val="lt2"/>
          </a:fillRef>
          <a:effectRef idx="0">
            <a:scrgbClr r="0" g="0" b="0"/>
          </a:effectRef>
          <a:fontRef idx="major"/>
        </p:style>
        <p:txBody>
          <a:bodyPr>
            <a:normAutofit/>
          </a:bodyPr>
          <a:lstStyle/>
          <a:p>
            <a:r>
              <a:rPr lang="en-IN" sz="3600" dirty="0" smtClean="0"/>
              <a:t>Submit Week </a:t>
            </a:r>
            <a:r>
              <a:rPr lang="en-IN" sz="3600" dirty="0" smtClean="0"/>
              <a:t>4</a:t>
            </a:r>
            <a:endParaRPr lang="en-US" sz="3600" dirty="0"/>
          </a:p>
        </p:txBody>
      </p:sp>
      <p:sp>
        <p:nvSpPr>
          <p:cNvPr id="4" name="Slide Number Placeholder 3"/>
          <p:cNvSpPr>
            <a:spLocks noGrp="1"/>
          </p:cNvSpPr>
          <p:nvPr>
            <p:ph type="sldNum" sz="quarter" idx="12"/>
          </p:nvPr>
        </p:nvSpPr>
        <p:spPr/>
        <p:txBody>
          <a:bodyPr/>
          <a:lstStyle/>
          <a:p>
            <a:fld id="{2019AD06-451C-413E-AF31-86503C137FDF}" type="slidenum">
              <a:rPr lang="en-US" smtClean="0"/>
              <a:pPr/>
              <a:t>14</a:t>
            </a:fld>
            <a:endParaRPr lang="en-US"/>
          </a:p>
        </p:txBody>
      </p:sp>
      <p:sp>
        <p:nvSpPr>
          <p:cNvPr id="3" name="Rectangle 2"/>
          <p:cNvSpPr/>
          <p:nvPr/>
        </p:nvSpPr>
        <p:spPr>
          <a:xfrm>
            <a:off x="838200" y="1750814"/>
            <a:ext cx="9514143" cy="646331"/>
          </a:xfrm>
          <a:prstGeom prst="rect">
            <a:avLst/>
          </a:prstGeom>
        </p:spPr>
        <p:txBody>
          <a:bodyPr wrap="none">
            <a:spAutoFit/>
          </a:bodyPr>
          <a:lstStyle/>
          <a:p>
            <a:pPr marL="342900" indent="-342900">
              <a:buAutoNum type="arabicPeriod"/>
            </a:pPr>
            <a:r>
              <a:rPr lang="en-US" dirty="0" err="1" smtClean="0">
                <a:latin typeface="Times New Roman" charset="0"/>
                <a:ea typeface="Times New Roman" charset="0"/>
                <a:cs typeface="Times New Roman" charset="0"/>
              </a:rPr>
              <a:t>Uraikan</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konsep</a:t>
            </a:r>
            <a:r>
              <a:rPr lang="en-US" dirty="0" smtClean="0">
                <a:latin typeface="Times New Roman" charset="0"/>
                <a:ea typeface="Times New Roman" charset="0"/>
                <a:cs typeface="Times New Roman" charset="0"/>
              </a:rPr>
              <a:t>, </a:t>
            </a:r>
            <a:r>
              <a:rPr lang="en-US" dirty="0" err="1" smtClean="0">
                <a:latin typeface="Times New Roman" charset="0"/>
                <a:ea typeface="Times New Roman" charset="0"/>
                <a:cs typeface="Times New Roman" charset="0"/>
              </a:rPr>
              <a:t>arsitektur</a:t>
            </a:r>
            <a:r>
              <a:rPr lang="en-US" dirty="0" smtClean="0">
                <a:latin typeface="Times New Roman" charset="0"/>
                <a:ea typeface="Times New Roman" charset="0"/>
                <a:cs typeface="Times New Roman" charset="0"/>
              </a:rPr>
              <a:t> : </a:t>
            </a:r>
            <a:r>
              <a:rPr lang="en-US" dirty="0" smtClean="0">
                <a:latin typeface="Times New Roman" charset="0"/>
                <a:ea typeface="Times New Roman" charset="0"/>
                <a:cs typeface="Times New Roman" charset="0"/>
              </a:rPr>
              <a:t>02</a:t>
            </a:r>
            <a:r>
              <a:rPr lang="en-US" dirty="0">
                <a:latin typeface="Times New Roman" charset="0"/>
                <a:ea typeface="Times New Roman" charset="0"/>
                <a:cs typeface="Times New Roman" charset="0"/>
              </a:rPr>
              <a:t>_ </a:t>
            </a:r>
            <a:r>
              <a:rPr lang="en-US" dirty="0" err="1">
                <a:latin typeface="Times New Roman" charset="0"/>
                <a:ea typeface="Times New Roman" charset="0"/>
                <a:cs typeface="Times New Roman" charset="0"/>
              </a:rPr>
              <a:t>CloudSim</a:t>
            </a:r>
            <a:r>
              <a:rPr lang="en-US" dirty="0">
                <a:latin typeface="Times New Roman" charset="0"/>
                <a:ea typeface="Times New Roman" charset="0"/>
                <a:cs typeface="Times New Roman" charset="0"/>
              </a:rPr>
              <a:t>-Simulation Of Cloud Computing </a:t>
            </a:r>
            <a:r>
              <a:rPr lang="en-US" dirty="0" smtClean="0">
                <a:latin typeface="Times New Roman" charset="0"/>
                <a:ea typeface="Times New Roman" charset="0"/>
                <a:cs typeface="Times New Roman" charset="0"/>
              </a:rPr>
              <a:t>Infrastructures.docx</a:t>
            </a:r>
            <a:endParaRPr lang="en-US" dirty="0" smtClean="0">
              <a:latin typeface="Times New Roman" charset="0"/>
              <a:ea typeface="Times New Roman" charset="0"/>
              <a:cs typeface="Times New Roman" charset="0"/>
            </a:endParaRPr>
          </a:p>
          <a:p>
            <a:pPr marL="342900" indent="-342900">
              <a:buAutoNum type="arabicPeriod"/>
            </a:pPr>
            <a:endParaRPr lang="en-US" dirty="0" smtClean="0">
              <a:latin typeface="Times New Roman" charset="0"/>
              <a:ea typeface="Times New Roman" charset="0"/>
              <a:cs typeface="Times New Roman" charset="0"/>
            </a:endParaRPr>
          </a:p>
        </p:txBody>
      </p:sp>
      <p:sp>
        <p:nvSpPr>
          <p:cNvPr id="5" name="Rectangle 4"/>
          <p:cNvSpPr/>
          <p:nvPr/>
        </p:nvSpPr>
        <p:spPr>
          <a:xfrm>
            <a:off x="1036320" y="5606534"/>
            <a:ext cx="4409990" cy="369332"/>
          </a:xfrm>
          <a:prstGeom prst="rect">
            <a:avLst/>
          </a:prstGeom>
        </p:spPr>
        <p:txBody>
          <a:bodyPr wrap="none">
            <a:spAutoFit/>
          </a:bodyPr>
          <a:lstStyle/>
          <a:p>
            <a:r>
              <a:rPr lang="en-US" dirty="0" smtClean="0"/>
              <a:t>HW </a:t>
            </a:r>
            <a:r>
              <a:rPr lang="en-US" dirty="0" err="1" smtClean="0"/>
              <a:t>setiap</a:t>
            </a:r>
            <a:r>
              <a:rPr lang="en-US" dirty="0" smtClean="0"/>
              <a:t> </a:t>
            </a:r>
            <a:r>
              <a:rPr lang="en-US" dirty="0" err="1" smtClean="0"/>
              <a:t>mahasiswa</a:t>
            </a:r>
            <a:r>
              <a:rPr lang="en-US" dirty="0" smtClean="0"/>
              <a:t> </a:t>
            </a:r>
            <a:r>
              <a:rPr lang="en-US" dirty="0" err="1" smtClean="0"/>
              <a:t>kirim</a:t>
            </a:r>
            <a:r>
              <a:rPr lang="en-US" dirty="0" smtClean="0"/>
              <a:t> </a:t>
            </a:r>
            <a:r>
              <a:rPr lang="en-US" dirty="0" err="1" smtClean="0"/>
              <a:t>ke</a:t>
            </a:r>
            <a:r>
              <a:rPr lang="en-US" dirty="0" smtClean="0"/>
              <a:t> </a:t>
            </a:r>
            <a:r>
              <a:rPr lang="en-US" dirty="0" err="1" smtClean="0"/>
              <a:t>GDrive</a:t>
            </a:r>
            <a:r>
              <a:rPr lang="en-US" dirty="0" smtClean="0"/>
              <a:t> </a:t>
            </a:r>
            <a:r>
              <a:rPr lang="en-US" dirty="0" err="1" smtClean="0"/>
              <a:t>sendiri</a:t>
            </a:r>
            <a:endParaRPr lang="en-US" dirty="0"/>
          </a:p>
        </p:txBody>
      </p:sp>
      <p:sp>
        <p:nvSpPr>
          <p:cNvPr id="6" name="Rectangle 5"/>
          <p:cNvSpPr/>
          <p:nvPr/>
        </p:nvSpPr>
        <p:spPr>
          <a:xfrm>
            <a:off x="1036320" y="5975866"/>
            <a:ext cx="5952335" cy="369332"/>
          </a:xfrm>
          <a:prstGeom prst="rect">
            <a:avLst/>
          </a:prstGeom>
        </p:spPr>
        <p:txBody>
          <a:bodyPr wrap="none">
            <a:spAutoFit/>
          </a:bodyPr>
          <a:lstStyle/>
          <a:p>
            <a:r>
              <a:rPr lang="en-US" dirty="0" err="1" smtClean="0"/>
              <a:t>Ketua</a:t>
            </a:r>
            <a:r>
              <a:rPr lang="en-US" dirty="0" smtClean="0"/>
              <a:t> </a:t>
            </a:r>
            <a:r>
              <a:rPr lang="en-US" dirty="0" err="1" smtClean="0"/>
              <a:t>Kelas</a:t>
            </a:r>
            <a:r>
              <a:rPr lang="en-US" dirty="0" smtClean="0"/>
              <a:t> </a:t>
            </a:r>
            <a:r>
              <a:rPr lang="en-US" dirty="0" err="1" smtClean="0"/>
              <a:t>Buat</a:t>
            </a:r>
            <a:r>
              <a:rPr lang="en-US" dirty="0" smtClean="0"/>
              <a:t> file </a:t>
            </a:r>
            <a:r>
              <a:rPr lang="en-US" dirty="0" err="1" smtClean="0"/>
              <a:t>exel</a:t>
            </a:r>
            <a:r>
              <a:rPr lang="en-US" dirty="0" smtClean="0"/>
              <a:t> : link </a:t>
            </a:r>
            <a:r>
              <a:rPr lang="en-US" dirty="0" err="1" smtClean="0"/>
              <a:t>gDrive</a:t>
            </a:r>
            <a:r>
              <a:rPr lang="en-US" dirty="0" smtClean="0"/>
              <a:t> </a:t>
            </a:r>
            <a:r>
              <a:rPr lang="en-US" dirty="0" err="1" smtClean="0"/>
              <a:t>untuk</a:t>
            </a:r>
            <a:r>
              <a:rPr lang="en-US" dirty="0" smtClean="0"/>
              <a:t> </a:t>
            </a:r>
            <a:r>
              <a:rPr lang="en-US" dirty="0" err="1" smtClean="0"/>
              <a:t>tugas</a:t>
            </a:r>
            <a:r>
              <a:rPr lang="en-US" dirty="0" smtClean="0"/>
              <a:t> </a:t>
            </a:r>
            <a:r>
              <a:rPr lang="en-US" dirty="0" err="1" smtClean="0"/>
              <a:t>dan</a:t>
            </a:r>
            <a:r>
              <a:rPr lang="en-US" dirty="0" smtClean="0"/>
              <a:t> project</a:t>
            </a:r>
            <a:endParaRPr lang="en-US" dirty="0"/>
          </a:p>
        </p:txBody>
      </p:sp>
      <p:sp>
        <p:nvSpPr>
          <p:cNvPr id="7" name="Rectangle 6"/>
          <p:cNvSpPr/>
          <p:nvPr/>
        </p:nvSpPr>
        <p:spPr>
          <a:xfrm>
            <a:off x="1036320" y="6345198"/>
            <a:ext cx="4828245" cy="369332"/>
          </a:xfrm>
          <a:prstGeom prst="rect">
            <a:avLst/>
          </a:prstGeom>
        </p:spPr>
        <p:txBody>
          <a:bodyPr wrap="none">
            <a:spAutoFit/>
          </a:bodyPr>
          <a:lstStyle/>
          <a:p>
            <a:r>
              <a:rPr lang="en-US" dirty="0" err="1" smtClean="0"/>
              <a:t>NamaFile</a:t>
            </a:r>
            <a:r>
              <a:rPr lang="en-US" dirty="0" smtClean="0"/>
              <a:t>: </a:t>
            </a:r>
            <a:r>
              <a:rPr lang="en-US" dirty="0" smtClean="0"/>
              <a:t>HW2-Nama_NIM–CloudSimulator.docx</a:t>
            </a:r>
            <a:endParaRPr lang="en-US" dirty="0"/>
          </a:p>
        </p:txBody>
      </p:sp>
      <p:sp>
        <p:nvSpPr>
          <p:cNvPr id="8" name="Rectangle 7"/>
          <p:cNvSpPr/>
          <p:nvPr/>
        </p:nvSpPr>
        <p:spPr>
          <a:xfrm>
            <a:off x="1188720" y="2073979"/>
            <a:ext cx="3903056" cy="369332"/>
          </a:xfrm>
          <a:prstGeom prst="rect">
            <a:avLst/>
          </a:prstGeom>
        </p:spPr>
        <p:txBody>
          <a:bodyPr wrap="none">
            <a:spAutoFit/>
          </a:bodyPr>
          <a:lstStyle/>
          <a:p>
            <a:r>
              <a:rPr lang="en-US" dirty="0"/>
              <a:t>https://github.com/Cloudslab/cloudsim</a:t>
            </a:r>
          </a:p>
        </p:txBody>
      </p:sp>
      <p:sp>
        <p:nvSpPr>
          <p:cNvPr id="9" name="Rectangle 8"/>
          <p:cNvSpPr/>
          <p:nvPr/>
        </p:nvSpPr>
        <p:spPr>
          <a:xfrm>
            <a:off x="1188720" y="2489477"/>
            <a:ext cx="4724370" cy="369332"/>
          </a:xfrm>
          <a:prstGeom prst="rect">
            <a:avLst/>
          </a:prstGeom>
        </p:spPr>
        <p:txBody>
          <a:bodyPr wrap="none">
            <a:spAutoFit/>
          </a:bodyPr>
          <a:lstStyle/>
          <a:p>
            <a:r>
              <a:rPr lang="en-US" dirty="0" smtClean="0">
                <a:solidFill>
                  <a:srgbClr val="FFC000"/>
                </a:solidFill>
                <a:latin typeface="Times New Roman" charset="0"/>
                <a:ea typeface="Times New Roman" charset="0"/>
                <a:cs typeface="Times New Roman" charset="0"/>
              </a:rPr>
              <a:t>Notes: </a:t>
            </a:r>
            <a:r>
              <a:rPr lang="en-US" dirty="0" err="1" smtClean="0">
                <a:solidFill>
                  <a:srgbClr val="FFC000"/>
                </a:solidFill>
                <a:latin typeface="Times New Roman" charset="0"/>
                <a:ea typeface="Times New Roman" charset="0"/>
                <a:cs typeface="Times New Roman" charset="0"/>
              </a:rPr>
              <a:t>Boleh</a:t>
            </a:r>
            <a:r>
              <a:rPr lang="en-US" dirty="0" smtClean="0">
                <a:solidFill>
                  <a:srgbClr val="FFC000"/>
                </a:solidFill>
                <a:latin typeface="Times New Roman" charset="0"/>
                <a:ea typeface="Times New Roman" charset="0"/>
                <a:cs typeface="Times New Roman" charset="0"/>
              </a:rPr>
              <a:t> </a:t>
            </a:r>
            <a:r>
              <a:rPr lang="en-US" dirty="0" err="1" smtClean="0">
                <a:solidFill>
                  <a:srgbClr val="FFC000"/>
                </a:solidFill>
                <a:latin typeface="Times New Roman" charset="0"/>
                <a:ea typeface="Times New Roman" charset="0"/>
                <a:cs typeface="Times New Roman" charset="0"/>
              </a:rPr>
              <a:t>menggunakan</a:t>
            </a:r>
            <a:r>
              <a:rPr lang="en-US" dirty="0" smtClean="0">
                <a:solidFill>
                  <a:srgbClr val="FFC000"/>
                </a:solidFill>
                <a:latin typeface="Times New Roman" charset="0"/>
                <a:ea typeface="Times New Roman" charset="0"/>
                <a:cs typeface="Times New Roman" charset="0"/>
              </a:rPr>
              <a:t> tools </a:t>
            </a:r>
            <a:r>
              <a:rPr lang="en-US" dirty="0" err="1" smtClean="0">
                <a:solidFill>
                  <a:srgbClr val="FFC000"/>
                </a:solidFill>
                <a:latin typeface="Times New Roman" charset="0"/>
                <a:ea typeface="Times New Roman" charset="0"/>
                <a:cs typeface="Times New Roman" charset="0"/>
              </a:rPr>
              <a:t>dan</a:t>
            </a:r>
            <a:r>
              <a:rPr lang="en-US" dirty="0" smtClean="0">
                <a:solidFill>
                  <a:srgbClr val="FFC000"/>
                </a:solidFill>
                <a:latin typeface="Times New Roman" charset="0"/>
                <a:ea typeface="Times New Roman" charset="0"/>
                <a:cs typeface="Times New Roman" charset="0"/>
              </a:rPr>
              <a:t> library lain</a:t>
            </a:r>
            <a:endParaRPr lang="en-US" dirty="0" smtClean="0">
              <a:solidFill>
                <a:srgbClr val="FFC000"/>
              </a:solidFill>
              <a:latin typeface="Times New Roman" charset="0"/>
              <a:ea typeface="Times New Roman" charset="0"/>
              <a:cs typeface="Times New Roman" charset="0"/>
            </a:endParaRPr>
          </a:p>
        </p:txBody>
      </p:sp>
    </p:spTree>
    <p:extLst>
      <p:ext uri="{BB962C8B-B14F-4D97-AF65-F5344CB8AC3E}">
        <p14:creationId xmlns:p14="http://schemas.microsoft.com/office/powerpoint/2010/main" val="704359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TotalTime>
  <Words>1061</Words>
  <Application>Microsoft Office PowerPoint</Application>
  <PresentationFormat>Widescreen</PresentationFormat>
  <Paragraphs>182</Paragraphs>
  <Slides>14</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맑은 고딕</vt:lpstr>
      <vt:lpstr>Arial</vt:lpstr>
      <vt:lpstr>Calibri</vt:lpstr>
      <vt:lpstr>Calibri Light</vt:lpstr>
      <vt:lpstr>Cambria</vt:lpstr>
      <vt:lpstr>Courier New</vt:lpstr>
      <vt:lpstr>Google Sans</vt:lpstr>
      <vt:lpstr>Times New Roman</vt:lpstr>
      <vt:lpstr>Wingdings</vt:lpstr>
      <vt:lpstr>Office Theme</vt:lpstr>
      <vt:lpstr>PowerPoint Presentation</vt:lpstr>
      <vt:lpstr>OpenStack</vt:lpstr>
      <vt:lpstr>PowerPoint Presentation</vt:lpstr>
      <vt:lpstr>PowerPoint Presentation</vt:lpstr>
      <vt:lpstr>PowerPoint Presentation</vt:lpstr>
      <vt:lpstr>AWS</vt:lpstr>
      <vt:lpstr>PowerPoint Presentation</vt:lpstr>
      <vt:lpstr>PowerPoint Presentation</vt:lpstr>
      <vt:lpstr>GCP</vt:lpstr>
      <vt:lpstr>GCP IoT Device</vt:lpstr>
      <vt:lpstr>PowerPoint Presentation</vt:lpstr>
      <vt:lpstr>Others </vt:lpstr>
      <vt:lpstr>Submit Week 3</vt:lpstr>
      <vt:lpstr>Submit Week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user</cp:lastModifiedBy>
  <cp:revision>82</cp:revision>
  <dcterms:created xsi:type="dcterms:W3CDTF">2017-12-27T08:07:54Z</dcterms:created>
  <dcterms:modified xsi:type="dcterms:W3CDTF">2026-09-11T07:19:09Z</dcterms:modified>
</cp:coreProperties>
</file>